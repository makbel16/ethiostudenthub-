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7" r:id="rId1"/>
    <p:sldMasterId id="2147483709" r:id="rId2"/>
  </p:sldMasterIdLst>
  <p:notesMasterIdLst>
    <p:notesMasterId r:id="rId31"/>
  </p:notesMasterIdLst>
  <p:sldIdLst>
    <p:sldId id="402" r:id="rId3"/>
    <p:sldId id="473" r:id="rId4"/>
    <p:sldId id="432" r:id="rId5"/>
    <p:sldId id="406" r:id="rId6"/>
    <p:sldId id="474" r:id="rId7"/>
    <p:sldId id="430" r:id="rId8"/>
    <p:sldId id="436" r:id="rId9"/>
    <p:sldId id="434" r:id="rId10"/>
    <p:sldId id="438" r:id="rId11"/>
    <p:sldId id="439" r:id="rId12"/>
    <p:sldId id="440" r:id="rId13"/>
    <p:sldId id="408" r:id="rId14"/>
    <p:sldId id="409" r:id="rId15"/>
    <p:sldId id="443" r:id="rId16"/>
    <p:sldId id="411" r:id="rId17"/>
    <p:sldId id="418" r:id="rId18"/>
    <p:sldId id="419" r:id="rId19"/>
    <p:sldId id="444" r:id="rId20"/>
    <p:sldId id="445" r:id="rId21"/>
    <p:sldId id="447" r:id="rId22"/>
    <p:sldId id="450" r:id="rId23"/>
    <p:sldId id="461" r:id="rId24"/>
    <p:sldId id="454" r:id="rId25"/>
    <p:sldId id="456" r:id="rId26"/>
    <p:sldId id="458" r:id="rId27"/>
    <p:sldId id="459" r:id="rId28"/>
    <p:sldId id="462" r:id="rId29"/>
    <p:sldId id="47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0066"/>
    <a:srgbClr val="CC33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2" autoAdjust="0"/>
  </p:normalViewPr>
  <p:slideViewPr>
    <p:cSldViewPr snapToGrid="0">
      <p:cViewPr>
        <p:scale>
          <a:sx n="81" d="100"/>
          <a:sy n="81" d="100"/>
        </p:scale>
        <p:origin x="108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659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96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D8DB0-8023-4F11-A7A8-0D86149B4155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F559B-B99E-4EFE-81D5-CA3D178CE4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96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9pPr>
          </a:lstStyle>
          <a:p>
            <a:fld id="{C8B1C156-E0BB-49F7-BFA1-E621F69015D1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172" tIns="44586" rIns="89172" bIns="44586"/>
          <a:lstStyle/>
          <a:p>
            <a:pPr eaLnBrk="1" hangingPunct="1"/>
            <a:r>
              <a:rPr lang="en-US" dirty="0" smtClean="0"/>
              <a:t>For the Cell Biology Video Staining of Endoplasmic Reticulum, go to Animation and Video Files.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5365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F559B-B99E-4EFE-81D5-CA3D178CE4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4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9697C345-D743-4CBE-AEB5-538F3900C7D2}" type="slidenum">
              <a:rPr lang="en-GB" smtClean="0"/>
              <a:pPr/>
              <a:t>23</a:t>
            </a:fld>
            <a:endParaRPr lang="en-GB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387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0D4CECC-5870-4C9D-BC9A-E4E6D54714AD}" type="slidenum">
              <a:rPr lang="en-GB" smtClean="0"/>
              <a:pPr/>
              <a:t>24</a:t>
            </a:fld>
            <a:endParaRPr lang="en-GB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639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73A9F4E5-322E-4479-AA1A-64E71A50A169}" type="slidenum">
              <a:rPr lang="en-GB" smtClean="0"/>
              <a:pPr/>
              <a:t>25</a:t>
            </a:fld>
            <a:endParaRPr lang="en-GB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666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E641EA0-6A61-48AB-9109-66AFEBDE77B5}" type="slidenum">
              <a:rPr lang="en-GB" smtClean="0"/>
              <a:pPr/>
              <a:t>26</a:t>
            </a:fld>
            <a:endParaRPr lang="en-GB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433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b="0">
              <a:solidFill>
                <a:srgbClr val="40458C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srgbClr val="40458C"/>
                </a:solidFill>
              </a:rPr>
              <a:t>c </a:t>
            </a:r>
            <a:endParaRPr lang="en-US">
              <a:solidFill>
                <a:srgbClr val="40458C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3F945AA-FDE0-4735-ABA1-BC55F4D54D3D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3FC4742B-878D-46C2-AC9D-2D09DB95C457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2E97D78-1BA0-4035-9AA8-57B4770A1C25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0C343F18-703D-42EA-B5FB-8F29BD8BC37F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5A5958F-85B0-4194-8BBC-43503706081B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0DF07BB-C4CE-4372-8524-91D9B2EC00AB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508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3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8E6C7488-1826-4BB4-9531-DD47338E00D0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2E0CA2B8-7A6B-4409-BF0F-DBE4C6411684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6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E1BA5C2A-5E55-4704-AEF3-8267041D7104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2"/>
            <a:ext cx="24384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3"/>
            <a:ext cx="7416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>
              <a:defRPr/>
            </a:pPr>
            <a:fld id="{64DBD963-3075-4762-8C6A-FD0F2762C88D}" type="slidenum">
              <a:rPr lang="en-US" smtClean="0">
                <a:solidFill>
                  <a:srgbClr val="40458C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6F89F7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06964"/>
            <a:ext cx="508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5F01D4C5-32AC-47A4-B4D6-E006DD8664B5}" type="datetime1">
              <a:rPr lang="en-US" altLang="en-US"/>
              <a:pPr/>
              <a:t>2/27/2026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56000" y="6356351"/>
            <a:ext cx="4470400" cy="3651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66400" y="6356351"/>
            <a:ext cx="1016000" cy="365125"/>
          </a:xfrm>
        </p:spPr>
        <p:txBody>
          <a:bodyPr/>
          <a:lstStyle>
            <a:lvl1pPr>
              <a:defRPr/>
            </a:lvl1pPr>
          </a:lstStyle>
          <a:p>
            <a:fld id="{8184F17C-0A38-4CD2-8370-E7D0E1B1DD0C}" type="slidenum">
              <a:rPr lang="en-US" altLang="en-US"/>
              <a:pPr/>
              <a:t>‹#›</a:t>
            </a:fld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35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1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25090" y="21105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43843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350499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gif"/><Relationship Id="rId4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5.gif"/><Relationship Id="rId7" Type="http://schemas.openxmlformats.org/officeDocument/2006/relationships/image" Target="../media/image18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gif"/><Relationship Id="rId5" Type="http://schemas.openxmlformats.org/officeDocument/2006/relationships/image" Target="../media/image4.gif"/><Relationship Id="rId4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4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gif"/><Relationship Id="rId4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gif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5.jpeg"/><Relationship Id="rId4" Type="http://schemas.openxmlformats.org/officeDocument/2006/relationships/image" Target="../media/image44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4144" y="2063262"/>
            <a:ext cx="9997440" cy="4185138"/>
          </a:xfrm>
        </p:spPr>
        <p:txBody>
          <a:bodyPr/>
          <a:lstStyle/>
          <a:p>
            <a:pPr marL="0" lvl="0" indent="0" algn="ctr">
              <a:lnSpc>
                <a:spcPct val="150000"/>
              </a:lnSpc>
              <a:buClr>
                <a:srgbClr val="90C226"/>
              </a:buClr>
              <a:buNone/>
            </a:pPr>
            <a:r>
              <a:rPr lang="en-US" sz="5400" b="1" dirty="0">
                <a:solidFill>
                  <a:srgbClr val="00B050"/>
                </a:solidFill>
                <a:latin typeface="Algerian" pitchFamily="82" charset="0"/>
              </a:rPr>
              <a:t>Chapter </a:t>
            </a:r>
            <a:r>
              <a:rPr lang="en-US" sz="5400" b="1" dirty="0" smtClean="0">
                <a:solidFill>
                  <a:srgbClr val="00B050"/>
                </a:solidFill>
                <a:latin typeface="Algerian" pitchFamily="82" charset="0"/>
              </a:rPr>
              <a:t>2</a:t>
            </a:r>
            <a:endParaRPr lang="en-US" sz="5400" b="1" dirty="0">
              <a:solidFill>
                <a:srgbClr val="00B050"/>
              </a:solidFill>
              <a:latin typeface="Algerian" pitchFamily="82" charset="0"/>
            </a:endParaRPr>
          </a:p>
          <a:p>
            <a:pPr marL="0" lvl="0" indent="0" algn="ctr">
              <a:lnSpc>
                <a:spcPct val="150000"/>
              </a:lnSpc>
              <a:buClr>
                <a:srgbClr val="90C226"/>
              </a:buClr>
              <a:buNone/>
            </a:pPr>
            <a:r>
              <a:rPr lang="en-US" sz="4800" b="1" dirty="0">
                <a:solidFill>
                  <a:srgbClr val="00B0F0"/>
                </a:solidFill>
                <a:latin typeface="Times New Roman"/>
                <a:ea typeface="Calibri"/>
              </a:rPr>
              <a:t>The </a:t>
            </a:r>
            <a:r>
              <a:rPr lang="en-US" sz="4800" b="1" dirty="0" smtClean="0">
                <a:solidFill>
                  <a:srgbClr val="00B0F0"/>
                </a:solidFill>
                <a:latin typeface="Times New Roman"/>
                <a:ea typeface="Calibri"/>
              </a:rPr>
              <a:t>Cellular </a:t>
            </a:r>
            <a:r>
              <a:rPr lang="en-US" sz="4800" b="1" dirty="0">
                <a:solidFill>
                  <a:srgbClr val="00B0F0"/>
                </a:solidFill>
                <a:latin typeface="Times New Roman"/>
                <a:ea typeface="Calibri"/>
              </a:rPr>
              <a:t>B</a:t>
            </a:r>
            <a:r>
              <a:rPr lang="en-US" sz="4800" b="1" dirty="0" smtClean="0">
                <a:solidFill>
                  <a:srgbClr val="00B0F0"/>
                </a:solidFill>
                <a:latin typeface="Times New Roman"/>
                <a:ea typeface="Calibri"/>
              </a:rPr>
              <a:t>asis </a:t>
            </a:r>
            <a:r>
              <a:rPr lang="en-US" sz="4800" b="1" dirty="0">
                <a:solidFill>
                  <a:srgbClr val="00B0F0"/>
                </a:solidFill>
                <a:latin typeface="Times New Roman"/>
                <a:ea typeface="Calibri"/>
              </a:rPr>
              <a:t>of </a:t>
            </a:r>
            <a:r>
              <a:rPr lang="en-US" sz="4800" b="1" dirty="0" smtClean="0">
                <a:solidFill>
                  <a:srgbClr val="00B0F0"/>
                </a:solidFill>
                <a:latin typeface="Times New Roman"/>
                <a:ea typeface="Calibri"/>
              </a:rPr>
              <a:t>Life </a:t>
            </a:r>
          </a:p>
          <a:p>
            <a:pPr marL="82296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042027"/>
            <a:ext cx="6297613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8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400" b="1" dirty="0" smtClean="0">
                <a:solidFill>
                  <a:srgbClr val="FF0000"/>
                </a:solidFill>
              </a:rPr>
              <a:t>Outline </a:t>
            </a:r>
            <a:endParaRPr lang="en-GB" sz="4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260" y="1435261"/>
            <a:ext cx="10660283" cy="4813139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GB" sz="3600" b="1" dirty="0" smtClean="0">
                <a:latin typeface="Albertus MT Lt" pitchFamily="2" charset="0"/>
              </a:rPr>
              <a:t> Cell </a:t>
            </a:r>
            <a:r>
              <a:rPr lang="en-GB" sz="3600" b="1" dirty="0">
                <a:latin typeface="Albertus MT Lt" pitchFamily="2" charset="0"/>
              </a:rPr>
              <a:t>and </a:t>
            </a:r>
            <a:r>
              <a:rPr lang="en-GB" sz="3600" b="1" dirty="0" smtClean="0">
                <a:latin typeface="Albertus MT Lt" pitchFamily="2" charset="0"/>
              </a:rPr>
              <a:t>Cell </a:t>
            </a:r>
            <a:r>
              <a:rPr lang="en-GB" sz="3600" b="1" dirty="0">
                <a:latin typeface="Albertus MT Lt" pitchFamily="2" charset="0"/>
              </a:rPr>
              <a:t>T</a:t>
            </a:r>
            <a:r>
              <a:rPr lang="en-GB" sz="3600" b="1" dirty="0" smtClean="0">
                <a:latin typeface="Albertus MT Lt" pitchFamily="2" charset="0"/>
              </a:rPr>
              <a:t>heory </a:t>
            </a:r>
            <a:endParaRPr lang="en-GB" sz="3600" b="1" dirty="0">
              <a:latin typeface="Albertus MT Lt" pitchFamily="2" charset="0"/>
            </a:endParaRPr>
          </a:p>
          <a:p>
            <a:pPr>
              <a:buBlip>
                <a:blip r:embed="rId2"/>
              </a:buBlip>
            </a:pPr>
            <a:r>
              <a:rPr lang="en-GB" sz="3600" b="1" dirty="0">
                <a:latin typeface="Albertus MT Lt" pitchFamily="2" charset="0"/>
              </a:rPr>
              <a:t>Cell </a:t>
            </a:r>
            <a:r>
              <a:rPr lang="en-GB" sz="3600" b="1" dirty="0" smtClean="0">
                <a:latin typeface="Albertus MT Lt" pitchFamily="2" charset="0"/>
              </a:rPr>
              <a:t>Structures </a:t>
            </a:r>
            <a:r>
              <a:rPr lang="en-GB" sz="3600" b="1" dirty="0">
                <a:latin typeface="Albertus MT Lt" pitchFamily="2" charset="0"/>
              </a:rPr>
              <a:t>and </a:t>
            </a:r>
            <a:r>
              <a:rPr lang="en-GB" sz="3600" b="1" dirty="0" smtClean="0">
                <a:latin typeface="Albertus MT Lt" pitchFamily="2" charset="0"/>
              </a:rPr>
              <a:t>Functions </a:t>
            </a:r>
          </a:p>
          <a:p>
            <a:pPr>
              <a:buBlip>
                <a:blip r:embed="rId2"/>
              </a:buBlip>
            </a:pPr>
            <a:r>
              <a:rPr lang="en-GB" sz="3600" dirty="0" smtClean="0">
                <a:latin typeface="Albertus MT Lt" pitchFamily="2" charset="0"/>
              </a:rPr>
              <a:t> </a:t>
            </a:r>
            <a:r>
              <a:rPr lang="en-GB" sz="3600" b="1" dirty="0">
                <a:latin typeface="Albertus MT Lt" pitchFamily="2" charset="0"/>
              </a:rPr>
              <a:t>Transport </a:t>
            </a:r>
            <a:r>
              <a:rPr lang="en-GB" sz="3600" b="1" dirty="0" smtClean="0">
                <a:latin typeface="Albertus MT Lt" pitchFamily="2" charset="0"/>
              </a:rPr>
              <a:t>Across Cell Membrane</a:t>
            </a:r>
          </a:p>
          <a:p>
            <a:pPr>
              <a:buBlip>
                <a:blip r:embed="rId2"/>
              </a:buBlip>
            </a:pPr>
            <a:r>
              <a:rPr lang="en-GB" sz="3600" b="1" dirty="0">
                <a:latin typeface="Albertus MT Lt" pitchFamily="2" charset="0"/>
              </a:rPr>
              <a:t> T</a:t>
            </a:r>
            <a:r>
              <a:rPr lang="en-GB" sz="3600" b="1" dirty="0" smtClean="0">
                <a:latin typeface="Albertus MT Lt" pitchFamily="2" charset="0"/>
              </a:rPr>
              <a:t>ypes of Transport in Cells </a:t>
            </a:r>
            <a:endParaRPr lang="en-GB" sz="3600" b="1" dirty="0">
              <a:latin typeface="Albertus MT Lt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6295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354238" y="274638"/>
            <a:ext cx="10837762" cy="1143000"/>
          </a:xfrm>
        </p:spPr>
        <p:txBody>
          <a:bodyPr>
            <a:normAutofit fontScale="90000"/>
          </a:bodyPr>
          <a:lstStyle/>
          <a:p>
            <a:r>
              <a:rPr lang="en-GB" sz="4900" b="1" dirty="0">
                <a:solidFill>
                  <a:srgbClr val="FF0000"/>
                </a:solidFill>
              </a:rPr>
              <a:t>Cell and </a:t>
            </a:r>
            <a:r>
              <a:rPr lang="en-GB" sz="4900" b="1" dirty="0" smtClean="0">
                <a:solidFill>
                  <a:srgbClr val="FF0000"/>
                </a:solidFill>
              </a:rPr>
              <a:t>Cell </a:t>
            </a:r>
            <a:r>
              <a:rPr lang="en-GB" sz="4900" b="1" dirty="0">
                <a:solidFill>
                  <a:srgbClr val="FF0000"/>
                </a:solidFill>
              </a:rPr>
              <a:t>T</a:t>
            </a:r>
            <a:r>
              <a:rPr lang="en-GB" sz="4900" b="1" dirty="0" smtClean="0">
                <a:solidFill>
                  <a:srgbClr val="FF0000"/>
                </a:solidFill>
              </a:rPr>
              <a:t>heory </a:t>
            </a:r>
            <a:r>
              <a:rPr lang="en-GB" b="1" dirty="0">
                <a:solidFill>
                  <a:srgbClr val="FF0000"/>
                </a:solidFill>
              </a:rPr>
              <a:t/>
            </a:r>
            <a:br>
              <a:rPr lang="en-GB" b="1" dirty="0">
                <a:solidFill>
                  <a:srgbClr val="FF0000"/>
                </a:solidFill>
              </a:rPr>
            </a:b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342662" y="2401024"/>
            <a:ext cx="108493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TW" sz="4000" b="1" dirty="0">
                <a:solidFill>
                  <a:srgbClr val="66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  <a:ea typeface="PMingLiU" pitchFamily="18" charset="-120"/>
              </a:rPr>
              <a:t>What is cell? </a:t>
            </a:r>
          </a:p>
        </p:txBody>
      </p:sp>
    </p:spTree>
    <p:extLst>
      <p:ext uri="{BB962C8B-B14F-4D97-AF65-F5344CB8AC3E}">
        <p14:creationId xmlns:p14="http://schemas.microsoft.com/office/powerpoint/2010/main" val="182377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657" y="57874"/>
            <a:ext cx="8255343" cy="6800126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Clr>
                <a:srgbClr val="90C226"/>
              </a:buClr>
              <a:buBlip>
                <a:blip r:embed="rId2"/>
              </a:buBlip>
            </a:pPr>
            <a:r>
              <a:rPr 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bertus MT Lt" pitchFamily="2" charset="0"/>
              </a:rPr>
              <a:t>What is cell ?</a:t>
            </a:r>
          </a:p>
          <a:p>
            <a:pPr marL="227013" lvl="0" indent="-215900">
              <a:buClr>
                <a:srgbClr val="90C226"/>
              </a:buClr>
              <a:buBlip>
                <a:blip r:embed="rId3"/>
              </a:buBlip>
            </a:pP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is Fundamental, Structural and Functional unit of 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organisms</a:t>
            </a:r>
          </a:p>
          <a:p>
            <a:pPr marL="342900" lvl="0" indent="-285750">
              <a:buClr>
                <a:srgbClr val="90C226"/>
              </a:buClr>
              <a:buBlip>
                <a:blip r:embed="rId3"/>
              </a:buBlip>
            </a:pP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 </a:t>
            </a:r>
            <a:r>
              <a:rPr lang="en-US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is the </a:t>
            </a:r>
            <a:r>
              <a:rPr lang="en-US" sz="2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smallest unit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that can perform all the  </a:t>
            </a:r>
            <a:r>
              <a:rPr lang="en-US" sz="2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functions necessary for life</a:t>
            </a: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sz="2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347663" lvl="0" indent="-336550">
              <a:buClr>
                <a:srgbClr val="90C226"/>
              </a:buClr>
              <a:buBlip>
                <a:blip r:embed="rId3"/>
              </a:buBlip>
            </a:pP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A </a:t>
            </a:r>
            <a:r>
              <a:rPr lang="en-US" sz="2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cell 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is made up of components called </a:t>
            </a: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O</a:t>
            </a:r>
            <a:r>
              <a:rPr lang="en-US" sz="2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rganelles,</a:t>
            </a:r>
            <a:r>
              <a:rPr lang="en-US" sz="2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each perform specific function for it</a:t>
            </a: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endParaRPr lang="en-US" sz="2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227013" lvl="0" indent="-215900">
              <a:lnSpc>
                <a:spcPct val="150000"/>
              </a:lnSpc>
              <a:buClr>
                <a:srgbClr val="3891A7"/>
              </a:buClr>
              <a:buNone/>
            </a:pPr>
            <a:r>
              <a:rPr 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Cell Theory and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Evolution </a:t>
            </a:r>
          </a:p>
          <a:p>
            <a:pPr marL="354013" lvl="0" indent="-342900">
              <a:buClr>
                <a:srgbClr val="3891A7"/>
              </a:buClr>
              <a:buBlip>
                <a:blip r:embed="rId4"/>
              </a:buBlip>
            </a:pPr>
            <a:r>
              <a:rPr lang="en-US" sz="2800" b="1" dirty="0" smtClean="0">
                <a:solidFill>
                  <a:prstClr val="black"/>
                </a:solidFill>
              </a:rPr>
              <a:t>Robert Hooke(1665)</a:t>
            </a:r>
            <a:r>
              <a:rPr lang="en-US" sz="2800" dirty="0" smtClean="0">
                <a:solidFill>
                  <a:prstClr val="black"/>
                </a:solidFill>
              </a:rPr>
              <a:t>- Discovered </a:t>
            </a:r>
            <a:r>
              <a:rPr lang="en-US" sz="2800" dirty="0">
                <a:solidFill>
                  <a:prstClr val="black"/>
                </a:solidFill>
              </a:rPr>
              <a:t>C</a:t>
            </a:r>
            <a:r>
              <a:rPr lang="en-US" sz="2800" dirty="0" smtClean="0">
                <a:solidFill>
                  <a:prstClr val="black"/>
                </a:solidFill>
              </a:rPr>
              <a:t>ell</a:t>
            </a:r>
          </a:p>
          <a:p>
            <a:pPr marL="354013" lvl="0" indent="-342900">
              <a:buClr>
                <a:srgbClr val="3891A7"/>
              </a:buClr>
              <a:buBlip>
                <a:blip r:embed="rId4"/>
              </a:buBlip>
            </a:pPr>
            <a:r>
              <a:rPr lang="en-US" sz="2800" b="1" dirty="0" smtClean="0">
                <a:solidFill>
                  <a:prstClr val="black"/>
                </a:solidFill>
              </a:rPr>
              <a:t>Robert Brown (1833)- </a:t>
            </a:r>
            <a:r>
              <a:rPr lang="en-US" sz="2800" dirty="0">
                <a:solidFill>
                  <a:prstClr val="black"/>
                </a:solidFill>
              </a:rPr>
              <a:t>D</a:t>
            </a:r>
            <a:r>
              <a:rPr lang="en-US" sz="2800" dirty="0" smtClean="0">
                <a:solidFill>
                  <a:prstClr val="black"/>
                </a:solidFill>
              </a:rPr>
              <a:t>iscovered </a:t>
            </a:r>
            <a:r>
              <a:rPr lang="en-US" sz="28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Nucleus</a:t>
            </a:r>
            <a:r>
              <a:rPr lang="en-US" sz="2800" dirty="0" smtClean="0">
                <a:solidFill>
                  <a:prstClr val="black"/>
                </a:solidFill>
              </a:rPr>
              <a:t> in cell</a:t>
            </a:r>
          </a:p>
          <a:p>
            <a:pPr marL="354013" indent="-354013">
              <a:buClr>
                <a:srgbClr val="3891A7"/>
              </a:buClr>
              <a:buBlip>
                <a:blip r:embed="rId4"/>
              </a:buBlip>
            </a:pPr>
            <a:r>
              <a:rPr lang="en-GB" sz="2800" b="1" dirty="0" smtClean="0">
                <a:solidFill>
                  <a:prstClr val="black"/>
                </a:solidFill>
              </a:rPr>
              <a:t>Matthias </a:t>
            </a:r>
            <a:r>
              <a:rPr lang="en-GB" sz="2800" b="1" dirty="0" err="1" smtClean="0">
                <a:solidFill>
                  <a:prstClr val="black"/>
                </a:solidFill>
              </a:rPr>
              <a:t>Schleiden</a:t>
            </a:r>
            <a:r>
              <a:rPr lang="en-GB" sz="2800" b="1" dirty="0" smtClean="0">
                <a:solidFill>
                  <a:prstClr val="black"/>
                </a:solidFill>
              </a:rPr>
              <a:t> and Theodore Schwann(1839)</a:t>
            </a:r>
            <a:r>
              <a:rPr lang="en-GB" sz="2800" dirty="0" smtClean="0">
                <a:solidFill>
                  <a:prstClr val="black"/>
                </a:solidFill>
              </a:rPr>
              <a:t>- Introduced an idea known as the </a:t>
            </a:r>
            <a:r>
              <a:rPr lang="en-GB" sz="2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 Theory </a:t>
            </a:r>
          </a:p>
          <a:p>
            <a:pPr marL="11113" lvl="3" indent="0">
              <a:buClr>
                <a:srgbClr val="3891A7"/>
              </a:buClr>
              <a:buNone/>
            </a:pPr>
            <a:endParaRPr lang="en-GB" sz="2400" dirty="0" smtClean="0">
              <a:solidFill>
                <a:prstClr val="black"/>
              </a:solidFill>
            </a:endParaRPr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36656" cy="3796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8" descr="Image result for microscope observati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796497"/>
            <a:ext cx="3936656" cy="3061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913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4238" y="0"/>
            <a:ext cx="10837762" cy="6248400"/>
          </a:xfrm>
        </p:spPr>
        <p:txBody>
          <a:bodyPr>
            <a:normAutofit fontScale="92500" lnSpcReduction="20000"/>
          </a:bodyPr>
          <a:lstStyle/>
          <a:p>
            <a:pPr marL="468313" lvl="3" indent="-457200">
              <a:buClr>
                <a:srgbClr val="3891A7"/>
              </a:buClr>
              <a:buBlip>
                <a:blip r:embed="rId2"/>
              </a:buBlip>
            </a:pPr>
            <a:r>
              <a:rPr lang="en-GB" sz="3200" dirty="0" smtClean="0">
                <a:solidFill>
                  <a:prstClr val="black"/>
                </a:solidFill>
              </a:rPr>
              <a:t>Cells formed </a:t>
            </a:r>
            <a:r>
              <a:rPr lang="en-GB" sz="3200" dirty="0">
                <a:solidFill>
                  <a:prstClr val="black"/>
                </a:solidFill>
              </a:rPr>
              <a:t>by </a:t>
            </a:r>
            <a:r>
              <a:rPr lang="en-GB" sz="3200" b="1" dirty="0">
                <a:solidFill>
                  <a:prstClr val="black"/>
                </a:solidFill>
              </a:rPr>
              <a:t>free-cell formation </a:t>
            </a:r>
            <a:r>
              <a:rPr lang="en-GB" sz="3200" dirty="0">
                <a:solidFill>
                  <a:prstClr val="black"/>
                </a:solidFill>
              </a:rPr>
              <a:t>(</a:t>
            </a:r>
            <a:r>
              <a:rPr lang="en-GB" sz="3200" b="1" dirty="0">
                <a:solidFill>
                  <a:prstClr val="black"/>
                </a:solidFill>
              </a:rPr>
              <a:t>spontaneous generation</a:t>
            </a:r>
            <a:r>
              <a:rPr lang="en-GB" sz="3200" dirty="0">
                <a:solidFill>
                  <a:prstClr val="black"/>
                </a:solidFill>
              </a:rPr>
              <a:t>) </a:t>
            </a:r>
          </a:p>
          <a:p>
            <a:pPr marL="468313" lvl="0" indent="-457200">
              <a:buClr>
                <a:srgbClr val="3891A7"/>
              </a:buClr>
              <a:buBlip>
                <a:blip r:embed="rId3"/>
              </a:buBlip>
            </a:pPr>
            <a:r>
              <a:rPr lang="en-US" b="1" dirty="0">
                <a:solidFill>
                  <a:prstClr val="black"/>
                </a:solidFill>
              </a:rPr>
              <a:t>Rudolf Virchow (1855)-</a:t>
            </a:r>
            <a:r>
              <a:rPr lang="en-US" dirty="0">
                <a:solidFill>
                  <a:prstClr val="black"/>
                </a:solidFill>
              </a:rPr>
              <a:t>proposed the </a:t>
            </a:r>
            <a:r>
              <a:rPr lang="en-GB" b="1" dirty="0">
                <a:solidFill>
                  <a:prstClr val="black"/>
                </a:solidFill>
              </a:rPr>
              <a:t>first accepted </a:t>
            </a:r>
            <a:r>
              <a:rPr lang="en-GB" b="1" dirty="0" smtClean="0">
                <a:solidFill>
                  <a:prstClr val="black"/>
                </a:solidFill>
              </a:rPr>
              <a:t>version</a:t>
            </a:r>
          </a:p>
          <a:p>
            <a:pPr marL="11113" lvl="0" indent="0">
              <a:buClr>
                <a:srgbClr val="3891A7"/>
              </a:buClr>
              <a:buNone/>
            </a:pP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smtClean="0">
                <a:solidFill>
                  <a:prstClr val="black"/>
                </a:solidFill>
              </a:rPr>
              <a:t>                                                                </a:t>
            </a:r>
            <a:r>
              <a:rPr lang="en-GB" b="1" dirty="0">
                <a:solidFill>
                  <a:prstClr val="black"/>
                </a:solidFill>
              </a:rPr>
              <a:t>of the cell </a:t>
            </a:r>
            <a:r>
              <a:rPr lang="en-GB" b="1" dirty="0" smtClean="0">
                <a:solidFill>
                  <a:prstClr val="black"/>
                </a:solidFill>
              </a:rPr>
              <a:t>theory</a:t>
            </a:r>
            <a:endParaRPr lang="en-GB" dirty="0">
              <a:solidFill>
                <a:prstClr val="black"/>
              </a:solidFill>
            </a:endParaRPr>
          </a:p>
          <a:p>
            <a:pPr marL="227013" indent="-215900">
              <a:buClr>
                <a:srgbClr val="3891A7"/>
              </a:buClr>
              <a:buNone/>
            </a:pPr>
            <a:endParaRPr lang="en-GB" b="1" dirty="0" smtClean="0">
              <a:solidFill>
                <a:srgbClr val="0070C0"/>
              </a:solidFill>
            </a:endParaRPr>
          </a:p>
          <a:p>
            <a:pPr marL="227013" indent="-215900">
              <a:buClr>
                <a:srgbClr val="3891A7"/>
              </a:buClr>
              <a:buNone/>
            </a:pPr>
            <a:r>
              <a:rPr lang="en-GB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 Theory </a:t>
            </a:r>
            <a:endParaRPr lang="en-US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68313" lvl="0" indent="-457200">
              <a:lnSpc>
                <a:spcPct val="150000"/>
              </a:lnSpc>
              <a:buClr>
                <a:srgbClr val="3891A7"/>
              </a:buClr>
              <a:buBlip>
                <a:blip r:embed="rId4"/>
              </a:buBlip>
            </a:pPr>
            <a:r>
              <a:rPr lang="en-US" dirty="0" smtClean="0">
                <a:solidFill>
                  <a:prstClr val="black"/>
                </a:solidFill>
              </a:rPr>
              <a:t>All </a:t>
            </a:r>
            <a:r>
              <a:rPr lang="en-US" dirty="0">
                <a:solidFill>
                  <a:prstClr val="black"/>
                </a:solidFill>
              </a:rPr>
              <a:t>known living things are made up of one or more </a:t>
            </a:r>
            <a:r>
              <a:rPr lang="en-US" dirty="0" smtClean="0">
                <a:solidFill>
                  <a:prstClr val="black"/>
                </a:solidFill>
              </a:rPr>
              <a:t>cells</a:t>
            </a:r>
            <a:endParaRPr lang="en-US" dirty="0">
              <a:solidFill>
                <a:prstClr val="black"/>
              </a:solidFill>
            </a:endParaRPr>
          </a:p>
          <a:p>
            <a:pPr marL="468313" lvl="0" indent="-457200">
              <a:lnSpc>
                <a:spcPct val="150000"/>
              </a:lnSpc>
              <a:buClr>
                <a:srgbClr val="3891A7"/>
              </a:buClr>
              <a:buBlip>
                <a:blip r:embed="rId4"/>
              </a:buBlip>
            </a:pP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Cell </a:t>
            </a:r>
            <a:r>
              <a:rPr lang="en-US" dirty="0">
                <a:solidFill>
                  <a:prstClr val="black"/>
                </a:solidFill>
              </a:rPr>
              <a:t>is the F</a:t>
            </a:r>
            <a:r>
              <a:rPr lang="en-US" dirty="0" smtClean="0">
                <a:solidFill>
                  <a:prstClr val="black"/>
                </a:solidFill>
              </a:rPr>
              <a:t>undamental, Structure </a:t>
            </a:r>
            <a:r>
              <a:rPr lang="en-US" dirty="0">
                <a:solidFill>
                  <a:prstClr val="black"/>
                </a:solidFill>
              </a:rPr>
              <a:t>and </a:t>
            </a:r>
            <a:r>
              <a:rPr lang="en-US" dirty="0" smtClean="0">
                <a:solidFill>
                  <a:prstClr val="black"/>
                </a:solidFill>
              </a:rPr>
              <a:t>Function unit </a:t>
            </a:r>
            <a:r>
              <a:rPr lang="en-US" dirty="0">
                <a:solidFill>
                  <a:prstClr val="black"/>
                </a:solidFill>
              </a:rPr>
              <a:t>of </a:t>
            </a:r>
            <a:r>
              <a:rPr lang="en-US" dirty="0" smtClean="0">
                <a:solidFill>
                  <a:prstClr val="black"/>
                </a:solidFill>
              </a:rPr>
              <a:t>in </a:t>
            </a:r>
            <a:r>
              <a:rPr lang="en-US" dirty="0">
                <a:solidFill>
                  <a:prstClr val="black"/>
                </a:solidFill>
              </a:rPr>
              <a:t>all living </a:t>
            </a:r>
            <a:r>
              <a:rPr lang="en-US" dirty="0" smtClean="0">
                <a:solidFill>
                  <a:prstClr val="black"/>
                </a:solidFill>
              </a:rPr>
              <a:t>organisms (It </a:t>
            </a:r>
            <a:r>
              <a:rPr lang="en-US" dirty="0">
                <a:solidFill>
                  <a:prstClr val="black"/>
                </a:solidFill>
              </a:rPr>
              <a:t>is the basic unit of life which can perform life </a:t>
            </a:r>
            <a:r>
              <a:rPr lang="en-US" dirty="0" smtClean="0">
                <a:solidFill>
                  <a:prstClr val="black"/>
                </a:solidFill>
              </a:rPr>
              <a:t>processes)</a:t>
            </a:r>
            <a:endParaRPr lang="en-US" dirty="0">
              <a:solidFill>
                <a:prstClr val="black"/>
              </a:solidFill>
            </a:endParaRPr>
          </a:p>
          <a:p>
            <a:pPr marL="468313" lvl="0" indent="-457200">
              <a:lnSpc>
                <a:spcPct val="150000"/>
              </a:lnSpc>
              <a:buClr>
                <a:srgbClr val="3891A7"/>
              </a:buClr>
              <a:buBlip>
                <a:blip r:embed="rId4"/>
              </a:buBlip>
            </a:pPr>
            <a:r>
              <a:rPr lang="en-US" dirty="0">
                <a:solidFill>
                  <a:prstClr val="black"/>
                </a:solidFill>
              </a:rPr>
              <a:t>All living cells arise from pre-existing cells by </a:t>
            </a:r>
            <a:r>
              <a:rPr lang="en-US" dirty="0" smtClean="0">
                <a:solidFill>
                  <a:prstClr val="black"/>
                </a:solidFill>
              </a:rPr>
              <a:t>division</a:t>
            </a:r>
            <a:endParaRPr lang="en-US" dirty="0">
              <a:solidFill>
                <a:prstClr val="black"/>
              </a:solidFill>
            </a:endParaRP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4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662" y="0"/>
            <a:ext cx="10849337" cy="767083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Two Types of Cells 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65813" y="3837549"/>
            <a:ext cx="50581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Eukaryotes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 smtClean="0"/>
              <a:t>Distinct  </a:t>
            </a: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Nucleus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 smtClean="0"/>
              <a:t>Defined nuclear membrane  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 smtClean="0"/>
              <a:t>Have Many organelles 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L</a:t>
            </a:r>
            <a:r>
              <a:rPr lang="en-GB" sz="2800" dirty="0" smtClean="0"/>
              <a:t>arge in size 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 smtClean="0"/>
              <a:t>Most </a:t>
            </a:r>
            <a:r>
              <a:rPr lang="en-GB" sz="2800" dirty="0"/>
              <a:t>A</a:t>
            </a:r>
            <a:r>
              <a:rPr lang="en-GB" sz="2800" dirty="0" smtClean="0"/>
              <a:t>nimals, Plants</a:t>
            </a:r>
            <a:r>
              <a:rPr lang="en-GB" sz="2800" dirty="0"/>
              <a:t> </a:t>
            </a:r>
            <a:r>
              <a:rPr lang="en-GB" sz="2800" dirty="0" smtClean="0"/>
              <a:t>&amp; Fungi   </a:t>
            </a:r>
            <a:endParaRPr lang="en-GB" sz="2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881" y="810228"/>
            <a:ext cx="6011118" cy="5288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365813" y="727629"/>
            <a:ext cx="481506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Prokaryotes</a:t>
            </a:r>
            <a:endParaRPr lang="en-GB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Blip>
                <a:blip r:embed="rId2"/>
              </a:buBlip>
            </a:pP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en-GB" sz="2800" dirty="0" smtClean="0"/>
              <a:t> distinct </a:t>
            </a:r>
            <a:r>
              <a:rPr lang="en-GB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Nucleus</a:t>
            </a:r>
            <a:r>
              <a:rPr lang="en-GB" sz="2800" dirty="0" smtClean="0"/>
              <a:t> 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 smtClean="0"/>
              <a:t>Have Few Organelles 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 smtClean="0"/>
              <a:t>Small in size 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Genetic material is free in the cytoplasm </a:t>
            </a:r>
            <a:endParaRPr lang="en-GB" sz="2800" dirty="0" smtClean="0"/>
          </a:p>
          <a:p>
            <a:pPr marL="457200" indent="-457200">
              <a:buBlip>
                <a:blip r:embed="rId2"/>
              </a:buBlip>
            </a:pPr>
            <a:r>
              <a:rPr lang="en-GB" sz="2800" dirty="0" err="1" smtClean="0"/>
              <a:t>Eg</a:t>
            </a:r>
            <a:r>
              <a:rPr lang="en-GB" sz="2800" dirty="0" smtClean="0"/>
              <a:t>. Bacteria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1498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501" y="1"/>
            <a:ext cx="10738894" cy="613458"/>
          </a:xfrm>
          <a:solidFill>
            <a:srgbClr val="FFFFFF"/>
          </a:solidFill>
        </p:spPr>
        <p:txBody>
          <a:bodyPr rtlCol="0">
            <a:normAutofit fontScale="90000"/>
          </a:bodyPr>
          <a:lstStyle/>
          <a:p>
            <a:pPr algn="ctr">
              <a:defRPr/>
            </a:pPr>
            <a:r>
              <a:rPr lang="en-GB" sz="4400" b="1" dirty="0" smtClean="0"/>
              <a:t>Cell Structures and Functions </a:t>
            </a:r>
            <a:endParaRPr lang="en-US" altLang="zh-TW" dirty="0" smtClean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Impact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365810" y="578734"/>
            <a:ext cx="7257327" cy="6203066"/>
          </a:xfrm>
          <a:solidFill>
            <a:srgbClr val="FFFFFF"/>
          </a:solidFill>
        </p:spPr>
        <p:txBody>
          <a:bodyPr rtlCol="0">
            <a:normAutofit/>
          </a:bodyPr>
          <a:lstStyle/>
          <a:p>
            <a:pPr marL="402336" lvl="1" indent="0" eaLnBrk="1" fontAlgn="auto" hangingPunct="1">
              <a:lnSpc>
                <a:spcPct val="160000"/>
              </a:lnSpc>
              <a:spcAft>
                <a:spcPts val="0"/>
              </a:spcAft>
              <a:buNone/>
              <a:defRPr/>
            </a:pPr>
            <a:r>
              <a:rPr lang="en-US" altLang="zh-TW" sz="3200" b="1" dirty="0" smtClean="0">
                <a:solidFill>
                  <a:srgbClr val="CC3399"/>
                </a:solidFill>
                <a:latin typeface="Impact" pitchFamily="34" charset="0"/>
                <a:ea typeface="+mn-ea"/>
              </a:rPr>
              <a:t>Cell Wall </a:t>
            </a:r>
          </a:p>
          <a:p>
            <a:pPr marL="457200" lvl="1" indent="-457200" eaLnBrk="1" fontAlgn="auto" hangingPunct="1">
              <a:spcAft>
                <a:spcPts val="0"/>
              </a:spcAft>
              <a:buBlip>
                <a:blip r:embed="rId2"/>
              </a:buBlip>
              <a:defRPr/>
            </a:pPr>
            <a:r>
              <a:rPr lang="en-US" altLang="zh-TW" dirty="0" smtClean="0">
                <a:latin typeface="Albertus MT Lt" pitchFamily="2" charset="0"/>
                <a:cs typeface="Calibri" pitchFamily="34" charset="0"/>
              </a:rPr>
              <a:t>Made of </a:t>
            </a:r>
            <a:r>
              <a:rPr lang="en-US" altLang="zh-TW" b="1" dirty="0" smtClean="0">
                <a:latin typeface="Albertus MT Lt" pitchFamily="2" charset="0"/>
                <a:cs typeface="Calibri" pitchFamily="34" charset="0"/>
              </a:rPr>
              <a:t>cellulose</a:t>
            </a:r>
            <a:r>
              <a:rPr lang="en-US" altLang="zh-TW" u="sng" dirty="0" smtClean="0">
                <a:latin typeface="Albertus MT Lt" pitchFamily="2" charset="0"/>
                <a:cs typeface="Calibri" pitchFamily="34" charset="0"/>
              </a:rPr>
              <a:t> </a:t>
            </a:r>
            <a:r>
              <a:rPr lang="en-US" altLang="zh-TW" dirty="0" smtClean="0">
                <a:latin typeface="Albertus MT Lt" pitchFamily="2" charset="0"/>
                <a:cs typeface="Calibri" pitchFamily="34" charset="0"/>
              </a:rPr>
              <a:t>which forms very thin fibres</a:t>
            </a:r>
          </a:p>
          <a:p>
            <a:pPr marL="457200" lvl="1" indent="-457200" eaLnBrk="1" fontAlgn="auto" hangingPunct="1">
              <a:spcAft>
                <a:spcPts val="0"/>
              </a:spcAft>
              <a:buBlip>
                <a:blip r:embed="rId2"/>
              </a:buBlip>
              <a:defRPr/>
            </a:pPr>
            <a:r>
              <a:rPr lang="en-US" altLang="zh-TW" b="1" dirty="0" smtClean="0">
                <a:solidFill>
                  <a:srgbClr val="FF0000"/>
                </a:solidFill>
                <a:latin typeface="Albertus MT Lt" pitchFamily="2" charset="0"/>
                <a:cs typeface="Calibri" pitchFamily="34" charset="0"/>
              </a:rPr>
              <a:t>Non-living</a:t>
            </a:r>
            <a:r>
              <a:rPr lang="en-US" altLang="zh-TW" dirty="0" smtClean="0">
                <a:solidFill>
                  <a:srgbClr val="FF0000"/>
                </a:solidFill>
                <a:latin typeface="Albertus MT Lt" pitchFamily="2" charset="0"/>
                <a:cs typeface="Calibri" pitchFamily="34" charset="0"/>
              </a:rPr>
              <a:t> and </a:t>
            </a:r>
            <a:r>
              <a:rPr lang="en-US" altLang="zh-TW" b="1" dirty="0">
                <a:solidFill>
                  <a:srgbClr val="FF0000"/>
                </a:solidFill>
                <a:latin typeface="Albertus MT Lt" pitchFamily="2" charset="0"/>
                <a:cs typeface="Calibri" pitchFamily="34" charset="0"/>
              </a:rPr>
              <a:t>R</a:t>
            </a:r>
            <a:r>
              <a:rPr lang="en-US" altLang="zh-TW" b="1" dirty="0" smtClean="0">
                <a:solidFill>
                  <a:srgbClr val="FF0000"/>
                </a:solidFill>
                <a:latin typeface="Albertus MT Lt" pitchFamily="2" charset="0"/>
                <a:cs typeface="Calibri" pitchFamily="34" charset="0"/>
              </a:rPr>
              <a:t>igid covering </a:t>
            </a:r>
            <a:r>
              <a:rPr lang="en-US" altLang="zh-TW" dirty="0" smtClean="0">
                <a:solidFill>
                  <a:srgbClr val="FF0000"/>
                </a:solidFill>
                <a:latin typeface="Albertus MT Lt" pitchFamily="2" charset="0"/>
                <a:cs typeface="Calibri" pitchFamily="34" charset="0"/>
              </a:rPr>
              <a:t>outside the plasma membrane  </a:t>
            </a:r>
          </a:p>
          <a:p>
            <a:pPr marL="457200" lvl="1" indent="-457200" eaLnBrk="1" fontAlgn="auto" hangingPunct="1">
              <a:spcAft>
                <a:spcPts val="0"/>
              </a:spcAft>
              <a:buBlip>
                <a:blip r:embed="rId2"/>
              </a:buBlip>
              <a:defRPr/>
            </a:pPr>
            <a:r>
              <a:rPr lang="en-US" altLang="zh-TW" b="1" dirty="0" smtClean="0">
                <a:solidFill>
                  <a:srgbClr val="0000CC"/>
                </a:solidFill>
                <a:latin typeface="Albertus MT Lt" pitchFamily="2" charset="0"/>
                <a:cs typeface="Calibri" pitchFamily="34" charset="0"/>
              </a:rPr>
              <a:t>Present in </a:t>
            </a:r>
            <a:r>
              <a:rPr lang="en-US" altLang="zh-TW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bertus MT Lt" pitchFamily="2" charset="0"/>
                <a:cs typeface="Calibri" pitchFamily="34" charset="0"/>
              </a:rPr>
              <a:t>Plant cells only</a:t>
            </a:r>
          </a:p>
          <a:p>
            <a:pPr marL="236538" lvl="1" indent="-236538" eaLnBrk="1" fontAlgn="auto" hangingPunct="1">
              <a:lnSpc>
                <a:spcPct val="16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zh-TW" sz="3200" b="1" u="sng" dirty="0" smtClean="0">
                <a:solidFill>
                  <a:srgbClr val="FF0000"/>
                </a:solidFill>
                <a:latin typeface="Albertus MT Lt" pitchFamily="2" charset="0"/>
              </a:rPr>
              <a:t>Functions:</a:t>
            </a:r>
          </a:p>
          <a:p>
            <a:pPr marL="404813" lvl="2" indent="-393700" defTabSz="457200">
              <a:buBlip>
                <a:blip r:embed="rId2"/>
              </a:buBlip>
              <a:defRPr/>
            </a:pPr>
            <a:r>
              <a:rPr lang="en-US" altLang="zh-TW" sz="2800" b="1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Protect and support </a:t>
            </a:r>
            <a:r>
              <a:rPr lang="en-US" altLang="zh-TW" sz="2800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the enclosed substances (</a:t>
            </a:r>
            <a:r>
              <a:rPr lang="en-US" altLang="zh-TW" sz="2800" b="1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protoplasm</a:t>
            </a:r>
            <a:r>
              <a:rPr lang="en-US" altLang="zh-TW" sz="2800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)</a:t>
            </a:r>
          </a:p>
          <a:p>
            <a:pPr marL="404813" lvl="2" indent="-393700" defTabSz="457200">
              <a:buBlip>
                <a:blip r:embed="rId2"/>
              </a:buBlip>
              <a:defRPr/>
            </a:pPr>
            <a:r>
              <a:rPr lang="en-US" altLang="zh-TW" sz="2800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Resist entry of </a:t>
            </a:r>
            <a:r>
              <a:rPr lang="en-US" altLang="zh-TW" sz="2800" b="1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excess water </a:t>
            </a:r>
            <a:r>
              <a:rPr lang="en-US" altLang="zh-TW" sz="2800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into the cell</a:t>
            </a:r>
          </a:p>
          <a:p>
            <a:pPr marL="404813" lvl="2" indent="-393700" defTabSz="457200">
              <a:buBlip>
                <a:blip r:embed="rId2"/>
              </a:buBlip>
              <a:defRPr/>
            </a:pPr>
            <a:r>
              <a:rPr lang="en-US" altLang="zh-TW" sz="2800" b="1" dirty="0">
                <a:latin typeface="Albertus MT Lt" pitchFamily="2" charset="0"/>
                <a:ea typeface="PMingLiU" pitchFamily="18" charset="-120"/>
                <a:cs typeface="Calibri" pitchFamily="34" charset="0"/>
              </a:rPr>
              <a:t>Give shape to the cell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TW" sz="2000" dirty="0" smtClean="0">
              <a:solidFill>
                <a:srgbClr val="FFFF00"/>
              </a:solidFill>
              <a:latin typeface="Impact" pitchFamily="34" charset="0"/>
              <a:ea typeface="+mn-ea"/>
            </a:endParaRPr>
          </a:p>
        </p:txBody>
      </p:sp>
      <p:pic>
        <p:nvPicPr>
          <p:cNvPr id="18436" name="Picture 4" descr="C:\Biology\Cell structure\plant cell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138" y="2204025"/>
            <a:ext cx="3568862" cy="3861122"/>
          </a:xfrm>
          <a:prstGeom prst="rect">
            <a:avLst/>
          </a:prstGeom>
          <a:noFill/>
          <a:ln w="9525">
            <a:solidFill>
              <a:srgbClr val="CC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8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684000" y="6248400"/>
            <a:ext cx="508000" cy="6096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AutoShape 1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074400" y="6172200"/>
            <a:ext cx="508000" cy="609600"/>
          </a:xfrm>
          <a:prstGeom prst="actionButtonHom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AutoShape 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0668000" y="6172200"/>
            <a:ext cx="406400" cy="6858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10106989" y="1678327"/>
            <a:ext cx="561011" cy="663546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" name="Rectangle 1"/>
          <p:cNvSpPr/>
          <p:nvPr/>
        </p:nvSpPr>
        <p:spPr>
          <a:xfrm>
            <a:off x="9653287" y="1308995"/>
            <a:ext cx="18403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sz="2800" dirty="0" smtClean="0">
                <a:latin typeface="Impact" pitchFamily="34" charset="0"/>
                <a:ea typeface="PMingLiU" pitchFamily="18" charset="-120"/>
              </a:rPr>
              <a:t>Cell Wall</a:t>
            </a:r>
            <a:endParaRPr lang="en-US" altLang="zh-TW" sz="2000" dirty="0">
              <a:solidFill>
                <a:srgbClr val="FFFF00"/>
              </a:solidFill>
              <a:latin typeface="Impact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612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9" descr="C:\Biology\Cell structure\plant cell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581" y="1552816"/>
            <a:ext cx="3009419" cy="2237892"/>
          </a:xfrm>
          <a:prstGeom prst="rect">
            <a:avLst/>
          </a:prstGeom>
          <a:noFill/>
          <a:ln w="9525">
            <a:solidFill>
              <a:srgbClr val="CC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73" name="Line 6"/>
          <p:cNvSpPr>
            <a:spLocks noChangeShapeType="1"/>
          </p:cNvSpPr>
          <p:nvPr/>
        </p:nvSpPr>
        <p:spPr bwMode="auto">
          <a:xfrm flipV="1">
            <a:off x="10228776" y="1169041"/>
            <a:ext cx="392309" cy="520861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2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684000" y="6248400"/>
            <a:ext cx="508000" cy="6096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AutoShape 1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074400" y="6172200"/>
            <a:ext cx="508000" cy="609600"/>
          </a:xfrm>
          <a:prstGeom prst="actionButtonHom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AutoShape 1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0668000" y="6172200"/>
            <a:ext cx="406400" cy="6858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AutoShape 12" descr="Image result for cell membrane"/>
          <p:cNvSpPr>
            <a:spLocks noChangeAspect="1" noChangeArrowheads="1"/>
          </p:cNvSpPr>
          <p:nvPr/>
        </p:nvSpPr>
        <p:spPr bwMode="auto">
          <a:xfrm>
            <a:off x="234951" y="-182563"/>
            <a:ext cx="4064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466" name="Picture 16" descr="Image result for which molecules freely plasma membrane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16" y="2951544"/>
            <a:ext cx="6910086" cy="3906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8" name="Rectangle 16"/>
          <p:cNvSpPr>
            <a:spLocks noChangeArrowheads="1"/>
          </p:cNvSpPr>
          <p:nvPr/>
        </p:nvSpPr>
        <p:spPr bwMode="auto">
          <a:xfrm>
            <a:off x="1412111" y="3790708"/>
            <a:ext cx="2992056" cy="659757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r>
              <a:rPr lang="en-US" sz="1400" b="1" dirty="0"/>
              <a:t>Small uncharged polar molecules: </a:t>
            </a:r>
          </a:p>
          <a:p>
            <a:r>
              <a:rPr lang="en-US" sz="1400" b="1" dirty="0"/>
              <a:t>      </a:t>
            </a:r>
            <a:r>
              <a:rPr lang="en-US" sz="1400" b="1" dirty="0">
                <a:solidFill>
                  <a:srgbClr val="FF0000"/>
                </a:solidFill>
              </a:rPr>
              <a:t>H2O, glycerol, Urea, ethanol</a:t>
            </a:r>
          </a:p>
        </p:txBody>
      </p:sp>
      <p:sp>
        <p:nvSpPr>
          <p:cNvPr id="19469" name="Rectangle 17"/>
          <p:cNvSpPr>
            <a:spLocks noChangeArrowheads="1"/>
          </p:cNvSpPr>
          <p:nvPr/>
        </p:nvSpPr>
        <p:spPr bwMode="auto">
          <a:xfrm>
            <a:off x="1412112" y="3043238"/>
            <a:ext cx="2870522" cy="557212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r>
              <a:rPr lang="en-US" sz="1200" b="1" dirty="0">
                <a:solidFill>
                  <a:srgbClr val="0000FF"/>
                </a:solidFill>
              </a:rPr>
              <a:t>Small, non-polar molecules: </a:t>
            </a:r>
          </a:p>
          <a:p>
            <a:r>
              <a:rPr lang="en-US" sz="1200" b="1" dirty="0">
                <a:solidFill>
                  <a:srgbClr val="0000FF"/>
                </a:solidFill>
              </a:rPr>
              <a:t>      </a:t>
            </a:r>
            <a:r>
              <a:rPr lang="en-US" sz="1200" b="1" dirty="0">
                <a:solidFill>
                  <a:srgbClr val="FF0000"/>
                </a:solidFill>
              </a:rPr>
              <a:t>O2, CO2, N2</a:t>
            </a:r>
          </a:p>
        </p:txBody>
      </p:sp>
      <p:sp>
        <p:nvSpPr>
          <p:cNvPr id="19470" name="Rectangle 18"/>
          <p:cNvSpPr>
            <a:spLocks noChangeArrowheads="1"/>
          </p:cNvSpPr>
          <p:nvPr/>
        </p:nvSpPr>
        <p:spPr bwMode="auto">
          <a:xfrm>
            <a:off x="1412110" y="4734044"/>
            <a:ext cx="2992057" cy="9028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1200" b="1" dirty="0">
                <a:solidFill>
                  <a:srgbClr val="0000CC"/>
                </a:solidFill>
              </a:rPr>
              <a:t>Large, uncharged polar molecules: </a:t>
            </a:r>
            <a:r>
              <a:rPr lang="en-US" sz="1200" b="1" dirty="0">
                <a:solidFill>
                  <a:srgbClr val="FF0000"/>
                </a:solidFill>
              </a:rPr>
              <a:t>Carbohydrates</a:t>
            </a:r>
          </a:p>
          <a:p>
            <a:pPr>
              <a:buFont typeface="Wingdings" pitchFamily="2" charset="2"/>
              <a:buChar char="Ø"/>
            </a:pPr>
            <a:r>
              <a:rPr lang="en-US" sz="1200" b="1" dirty="0"/>
              <a:t> Large, charged polar molecules: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Amino acids, nucleic </a:t>
            </a:r>
            <a:r>
              <a:rPr lang="en-US" sz="1200" b="1" dirty="0" smtClean="0">
                <a:solidFill>
                  <a:srgbClr val="FF0000"/>
                </a:solidFill>
              </a:rPr>
              <a:t>acids, nucleotides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19471" name="Rectangle 19"/>
          <p:cNvSpPr>
            <a:spLocks noChangeArrowheads="1"/>
          </p:cNvSpPr>
          <p:nvPr/>
        </p:nvSpPr>
        <p:spPr bwMode="auto">
          <a:xfrm>
            <a:off x="1527858" y="5871437"/>
            <a:ext cx="2222339" cy="605563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r>
              <a:rPr lang="en-US" sz="1400" b="1" dirty="0"/>
              <a:t>Ions: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K+, Ca+, </a:t>
            </a:r>
            <a:r>
              <a:rPr lang="en-US" sz="1400" b="1" dirty="0" err="1">
                <a:solidFill>
                  <a:srgbClr val="FF0000"/>
                </a:solidFill>
              </a:rPr>
              <a:t>Cl</a:t>
            </a:r>
            <a:r>
              <a:rPr lang="en-US" sz="1800" b="1" baseline="300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718" y="1"/>
            <a:ext cx="11069281" cy="527440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 smtClean="0"/>
              <a:t>Cell Structures and Functions </a:t>
            </a:r>
            <a:endParaRPr lang="en-GB" sz="3200" b="1" dirty="0"/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0116657" y="780040"/>
            <a:ext cx="1979658" cy="500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altLang="zh-TW" dirty="0">
                <a:latin typeface="Impact" pitchFamily="34" charset="0"/>
                <a:ea typeface="PMingLiU" pitchFamily="18" charset="-120"/>
              </a:rPr>
              <a:t>Cell membrane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19514" y="527441"/>
            <a:ext cx="7863066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500" lvl="1">
              <a:spcBef>
                <a:spcPct val="20000"/>
              </a:spcBef>
            </a:pPr>
            <a:r>
              <a:rPr lang="en-US" altLang="zh-TW" sz="2400" b="1" dirty="0" smtClean="0">
                <a:solidFill>
                  <a:srgbClr val="CC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PMingLiU" pitchFamily="18" charset="-120"/>
                <a:cs typeface="Calibri" pitchFamily="34" charset="0"/>
              </a:rPr>
              <a:t>Cell Membrane/Plasma Membrane </a:t>
            </a:r>
          </a:p>
          <a:p>
            <a:pPr marL="625475" lvl="2" indent="-336550">
              <a:spcBef>
                <a:spcPct val="20000"/>
              </a:spcBef>
              <a:buBlip>
                <a:blip r:embed="rId4"/>
              </a:buBlip>
            </a:pPr>
            <a:r>
              <a:rPr lang="en-US" altLang="zh-TW" sz="1600" dirty="0" smtClean="0">
                <a:latin typeface="Calibri" pitchFamily="34" charset="0"/>
                <a:ea typeface="PMingLiU" pitchFamily="18" charset="-120"/>
                <a:cs typeface="Calibri" pitchFamily="34" charset="0"/>
              </a:rPr>
              <a:t>Lies </a:t>
            </a:r>
            <a:r>
              <a:rPr lang="en-US" altLang="zh-TW" sz="1600" dirty="0">
                <a:latin typeface="Calibri" pitchFamily="34" charset="0"/>
                <a:ea typeface="PMingLiU" pitchFamily="18" charset="-120"/>
                <a:cs typeface="Calibri" pitchFamily="34" charset="0"/>
              </a:rPr>
              <a:t>immediately against the cell </a:t>
            </a:r>
            <a:r>
              <a:rPr lang="en-US" altLang="zh-TW" sz="1600" dirty="0" smtClean="0">
                <a:latin typeface="Calibri" pitchFamily="34" charset="0"/>
                <a:ea typeface="PMingLiU" pitchFamily="18" charset="-120"/>
                <a:cs typeface="Calibri" pitchFamily="34" charset="0"/>
              </a:rPr>
              <a:t>wall</a:t>
            </a:r>
          </a:p>
          <a:p>
            <a:pPr marL="625475" lvl="2" indent="-336550">
              <a:spcBef>
                <a:spcPct val="20000"/>
              </a:spcBef>
              <a:buBlip>
                <a:blip r:embed="rId4"/>
              </a:buBlip>
            </a:pPr>
            <a:r>
              <a:rPr lang="en-US" altLang="zh-TW" sz="1600" b="1" dirty="0" smtClean="0">
                <a:latin typeface="Calibri" pitchFamily="34" charset="0"/>
                <a:ea typeface="PMingLiU" pitchFamily="18" charset="-120"/>
                <a:cs typeface="Calibri" pitchFamily="34" charset="0"/>
              </a:rPr>
              <a:t>Thin, delicate, outermost covering of cell</a:t>
            </a:r>
            <a:endParaRPr lang="en-US" altLang="zh-TW" sz="1600" b="1" dirty="0">
              <a:latin typeface="Calibri" pitchFamily="34" charset="0"/>
              <a:ea typeface="PMingLiU" pitchFamily="18" charset="-120"/>
              <a:cs typeface="Calibri" pitchFamily="34" charset="0"/>
            </a:endParaRPr>
          </a:p>
          <a:p>
            <a:pPr marL="625475" lvl="2" indent="-336550">
              <a:spcBef>
                <a:spcPct val="20000"/>
              </a:spcBef>
              <a:buBlip>
                <a:blip r:embed="rId4"/>
              </a:buBlip>
            </a:pPr>
            <a:r>
              <a:rPr lang="en-US" altLang="zh-TW" sz="1600" dirty="0">
                <a:latin typeface="Calibri" pitchFamily="34" charset="0"/>
                <a:ea typeface="PMingLiU" pitchFamily="18" charset="-120"/>
                <a:cs typeface="Calibri" pitchFamily="34" charset="0"/>
              </a:rPr>
              <a:t>Made of </a:t>
            </a:r>
            <a:r>
              <a:rPr lang="en-US" altLang="zh-TW" sz="1600" b="1" dirty="0">
                <a:latin typeface="Calibri" pitchFamily="34" charset="0"/>
                <a:ea typeface="PMingLiU" pitchFamily="18" charset="-120"/>
                <a:cs typeface="Calibri" pitchFamily="34" charset="0"/>
              </a:rPr>
              <a:t>protein </a:t>
            </a:r>
            <a:r>
              <a:rPr lang="en-US" altLang="zh-TW" sz="1600" dirty="0">
                <a:latin typeface="Calibri" pitchFamily="34" charset="0"/>
                <a:ea typeface="PMingLiU" pitchFamily="18" charset="-120"/>
                <a:cs typeface="Calibri" pitchFamily="34" charset="0"/>
              </a:rPr>
              <a:t>and </a:t>
            </a:r>
            <a:r>
              <a:rPr lang="en-US" altLang="zh-TW" sz="1600" b="1" dirty="0">
                <a:latin typeface="Calibri" pitchFamily="34" charset="0"/>
                <a:ea typeface="PMingLiU" pitchFamily="18" charset="-120"/>
                <a:cs typeface="Calibri" pitchFamily="34" charset="0"/>
              </a:rPr>
              <a:t>lipid </a:t>
            </a:r>
            <a:r>
              <a:rPr lang="en-US" altLang="zh-TW" sz="1600" dirty="0">
                <a:latin typeface="Calibri" pitchFamily="34" charset="0"/>
                <a:ea typeface="PMingLiU" pitchFamily="18" charset="-120"/>
                <a:cs typeface="Calibri" pitchFamily="34" charset="0"/>
              </a:rPr>
              <a:t> </a:t>
            </a:r>
            <a:endParaRPr lang="en-US" altLang="zh-TW" sz="1600" dirty="0">
              <a:latin typeface="Calibri" pitchFamily="34" charset="0"/>
              <a:ea typeface="PMingLiU" pitchFamily="18" charset="-120"/>
              <a:cs typeface="Calibri" pitchFamily="34" charset="0"/>
              <a:sym typeface="Symbol" pitchFamily="18" charset="2"/>
            </a:endParaRPr>
          </a:p>
          <a:p>
            <a:pPr marL="625475" lvl="2" indent="-336550">
              <a:spcBef>
                <a:spcPct val="20000"/>
              </a:spcBef>
              <a:buBlip>
                <a:blip r:embed="rId4"/>
              </a:buBlip>
            </a:pPr>
            <a:r>
              <a:rPr lang="en-US" altLang="zh-TW" b="1" dirty="0">
                <a:solidFill>
                  <a:srgbClr val="FF0000"/>
                </a:solidFill>
                <a:latin typeface="Calibri" pitchFamily="34" charset="0"/>
                <a:ea typeface="PMingLiU" pitchFamily="18" charset="-120"/>
                <a:cs typeface="Calibri" pitchFamily="34" charset="0"/>
                <a:sym typeface="Symbol" pitchFamily="18" charset="2"/>
              </a:rPr>
              <a:t>Selectively </a:t>
            </a:r>
            <a:r>
              <a:rPr lang="en-US" altLang="zh-TW" b="1" dirty="0" smtClean="0">
                <a:solidFill>
                  <a:srgbClr val="FF0000"/>
                </a:solidFill>
                <a:latin typeface="Calibri" pitchFamily="34" charset="0"/>
                <a:ea typeface="PMingLiU" pitchFamily="18" charset="-120"/>
                <a:cs typeface="Calibri" pitchFamily="34" charset="0"/>
                <a:sym typeface="Symbol" pitchFamily="18" charset="2"/>
              </a:rPr>
              <a:t>permeable membrane </a:t>
            </a:r>
            <a:endParaRPr lang="en-US" altLang="zh-TW" b="1" dirty="0">
              <a:solidFill>
                <a:srgbClr val="FF0000"/>
              </a:solidFill>
              <a:latin typeface="Calibri" pitchFamily="34" charset="0"/>
              <a:ea typeface="PMingLiU" pitchFamily="18" charset="-120"/>
              <a:cs typeface="Calibri" pitchFamily="34" charset="0"/>
              <a:sym typeface="Symbol" pitchFamily="18" charset="2"/>
            </a:endParaRPr>
          </a:p>
          <a:p>
            <a:pPr marL="288925" lvl="2">
              <a:spcBef>
                <a:spcPct val="20000"/>
              </a:spcBef>
            </a:pPr>
            <a:r>
              <a:rPr lang="en-US" altLang="zh-TW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PMingLiU" pitchFamily="18" charset="-120"/>
                <a:cs typeface="Calibri" pitchFamily="34" charset="0"/>
              </a:rPr>
              <a:t>Functions: </a:t>
            </a:r>
            <a:endParaRPr lang="en-US" altLang="zh-TW" b="1" dirty="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PMingLiU" pitchFamily="18" charset="-120"/>
              <a:cs typeface="Calibri" pitchFamily="34" charset="0"/>
            </a:endParaRPr>
          </a:p>
          <a:p>
            <a:pPr marL="625475" lvl="2" indent="-336550">
              <a:spcBef>
                <a:spcPct val="20000"/>
              </a:spcBef>
              <a:buBlip>
                <a:blip r:embed="rId4"/>
              </a:buBlip>
            </a:pPr>
            <a:r>
              <a:rPr lang="en-US" altLang="zh-TW" sz="1600" dirty="0" smtClean="0">
                <a:latin typeface="Calibri" pitchFamily="34" charset="0"/>
                <a:ea typeface="PMingLiU" pitchFamily="18" charset="-120"/>
                <a:cs typeface="Calibri" pitchFamily="34" charset="0"/>
              </a:rPr>
              <a:t>Provides shape  to the cell</a:t>
            </a:r>
            <a:endParaRPr lang="en-US" altLang="zh-TW" sz="1600" dirty="0">
              <a:latin typeface="Calibri" pitchFamily="34" charset="0"/>
              <a:ea typeface="PMingLiU" pitchFamily="18" charset="-120"/>
              <a:cs typeface="Calibri" pitchFamily="34" charset="0"/>
            </a:endParaRPr>
          </a:p>
          <a:p>
            <a:pPr marL="625475" lvl="2" indent="-336550">
              <a:spcBef>
                <a:spcPct val="20000"/>
              </a:spcBef>
              <a:buBlip>
                <a:blip r:embed="rId4"/>
              </a:buBlip>
            </a:pP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  <a:ea typeface="PMingLiU" pitchFamily="18" charset="-120"/>
                <a:cs typeface="Calibri" pitchFamily="34" charset="0"/>
              </a:rPr>
              <a:t>C</a:t>
            </a:r>
            <a:r>
              <a:rPr lang="en-US" altLang="zh-TW" sz="1600" b="1" dirty="0" smtClean="0">
                <a:solidFill>
                  <a:srgbClr val="FF0000"/>
                </a:solidFill>
                <a:latin typeface="Calibri" pitchFamily="34" charset="0"/>
                <a:ea typeface="PMingLiU" pitchFamily="18" charset="-120"/>
                <a:cs typeface="Calibri" pitchFamily="34" charset="0"/>
              </a:rPr>
              <a:t>ontrol 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  <a:ea typeface="PMingLiU" pitchFamily="18" charset="-120"/>
                <a:cs typeface="Calibri" pitchFamily="34" charset="0"/>
              </a:rPr>
              <a:t>the movement of materials </a:t>
            </a:r>
            <a:r>
              <a:rPr lang="en-US" altLang="zh-TW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PMingLiU" pitchFamily="18" charset="-120"/>
                <a:cs typeface="Calibri" pitchFamily="34" charset="0"/>
              </a:rPr>
              <a:t>into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  <a:ea typeface="PMingLiU" pitchFamily="18" charset="-120"/>
                <a:cs typeface="Calibri" pitchFamily="34" charset="0"/>
              </a:rPr>
              <a:t> and </a:t>
            </a:r>
            <a:r>
              <a:rPr lang="en-US" altLang="zh-TW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PMingLiU" pitchFamily="18" charset="-120"/>
                <a:cs typeface="Calibri" pitchFamily="34" charset="0"/>
              </a:rPr>
              <a:t>out of the cell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Picture 5" descr="Fluidmem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002" y="3924300"/>
            <a:ext cx="3959311" cy="2857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 830"/>
          <p:cNvGrpSpPr>
            <a:grpSpLocks/>
          </p:cNvGrpSpPr>
          <p:nvPr/>
        </p:nvGrpSpPr>
        <p:grpSpPr bwMode="auto">
          <a:xfrm rot="5002640">
            <a:off x="4959341" y="4899900"/>
            <a:ext cx="540088" cy="1436127"/>
            <a:chOff x="3863" y="2664"/>
            <a:chExt cx="574" cy="1215"/>
          </a:xfrm>
        </p:grpSpPr>
        <p:sp>
          <p:nvSpPr>
            <p:cNvPr id="26" name="Freeform 816"/>
            <p:cNvSpPr>
              <a:spLocks/>
            </p:cNvSpPr>
            <p:nvPr/>
          </p:nvSpPr>
          <p:spPr bwMode="auto">
            <a:xfrm>
              <a:off x="3863" y="2719"/>
              <a:ext cx="57" cy="1117"/>
            </a:xfrm>
            <a:custGeom>
              <a:avLst/>
              <a:gdLst>
                <a:gd name="T0" fmla="*/ 50 w 57"/>
                <a:gd name="T1" fmla="*/ 0 h 1117"/>
                <a:gd name="T2" fmla="*/ 1 w 57"/>
                <a:gd name="T3" fmla="*/ 534 h 1117"/>
                <a:gd name="T4" fmla="*/ 57 w 57"/>
                <a:gd name="T5" fmla="*/ 1117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17">
                  <a:moveTo>
                    <a:pt x="50" y="0"/>
                  </a:moveTo>
                  <a:cubicBezTo>
                    <a:pt x="25" y="174"/>
                    <a:pt x="0" y="348"/>
                    <a:pt x="1" y="534"/>
                  </a:cubicBezTo>
                  <a:cubicBezTo>
                    <a:pt x="2" y="720"/>
                    <a:pt x="29" y="918"/>
                    <a:pt x="57" y="1117"/>
                  </a:cubicBezTo>
                </a:path>
              </a:pathLst>
            </a:custGeom>
            <a:solidFill>
              <a:srgbClr val="506C6C"/>
            </a:solidFill>
            <a:ln w="9525">
              <a:solidFill>
                <a:srgbClr val="506C6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817"/>
            <p:cNvSpPr>
              <a:spLocks/>
            </p:cNvSpPr>
            <p:nvPr/>
          </p:nvSpPr>
          <p:spPr bwMode="auto">
            <a:xfrm flipH="1">
              <a:off x="4375" y="2717"/>
              <a:ext cx="62" cy="1117"/>
            </a:xfrm>
            <a:custGeom>
              <a:avLst/>
              <a:gdLst>
                <a:gd name="T0" fmla="*/ 50 w 57"/>
                <a:gd name="T1" fmla="*/ 0 h 1117"/>
                <a:gd name="T2" fmla="*/ 1 w 57"/>
                <a:gd name="T3" fmla="*/ 534 h 1117"/>
                <a:gd name="T4" fmla="*/ 57 w 57"/>
                <a:gd name="T5" fmla="*/ 1117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17">
                  <a:moveTo>
                    <a:pt x="50" y="0"/>
                  </a:moveTo>
                  <a:cubicBezTo>
                    <a:pt x="25" y="174"/>
                    <a:pt x="0" y="348"/>
                    <a:pt x="1" y="534"/>
                  </a:cubicBezTo>
                  <a:cubicBezTo>
                    <a:pt x="2" y="720"/>
                    <a:pt x="29" y="918"/>
                    <a:pt x="57" y="1117"/>
                  </a:cubicBezTo>
                </a:path>
              </a:pathLst>
            </a:custGeom>
            <a:solidFill>
              <a:srgbClr val="506C6C"/>
            </a:solidFill>
            <a:ln w="9525">
              <a:solidFill>
                <a:srgbClr val="506C6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AutoShape 819"/>
            <p:cNvSpPr>
              <a:spLocks noChangeArrowheads="1"/>
            </p:cNvSpPr>
            <p:nvPr/>
          </p:nvSpPr>
          <p:spPr bwMode="auto">
            <a:xfrm>
              <a:off x="3917" y="2664"/>
              <a:ext cx="492" cy="1215"/>
            </a:xfrm>
            <a:prstGeom prst="can">
              <a:avLst>
                <a:gd name="adj" fmla="val 31966"/>
              </a:avLst>
            </a:prstGeom>
            <a:gradFill rotWithShape="1">
              <a:gsLst>
                <a:gs pos="0">
                  <a:srgbClr val="506C6C"/>
                </a:gs>
                <a:gs pos="50000">
                  <a:schemeClr val="accent1"/>
                </a:gs>
                <a:gs pos="100000">
                  <a:srgbClr val="506C6C"/>
                </a:gs>
              </a:gsLst>
              <a:lin ang="0" scaled="1"/>
            </a:gradFill>
            <a:ln w="9525">
              <a:solidFill>
                <a:srgbClr val="506C6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" name="Oval 813"/>
            <p:cNvSpPr>
              <a:spLocks noChangeArrowheads="1"/>
            </p:cNvSpPr>
            <p:nvPr/>
          </p:nvSpPr>
          <p:spPr bwMode="auto">
            <a:xfrm>
              <a:off x="3981" y="2684"/>
              <a:ext cx="316" cy="10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4255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8" descr="C:\Biology\Cell structure\plant cell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843" y="2627452"/>
            <a:ext cx="4223474" cy="3925747"/>
          </a:xfrm>
          <a:prstGeom prst="rect">
            <a:avLst/>
          </a:prstGeom>
          <a:noFill/>
          <a:ln w="9525">
            <a:solidFill>
              <a:srgbClr val="CC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250067" y="520861"/>
            <a:ext cx="6238754" cy="626093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3687" lvl="1">
              <a:lnSpc>
                <a:spcPct val="150000"/>
              </a:lnSpc>
              <a:spcBef>
                <a:spcPct val="20000"/>
              </a:spcBef>
            </a:pPr>
            <a:r>
              <a:rPr lang="en-US" altLang="zh-TW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itchFamily="34" charset="0"/>
                <a:ea typeface="PMingLiU" pitchFamily="18" charset="-120"/>
              </a:rPr>
              <a:t>Cytoplasm</a:t>
            </a:r>
            <a:endParaRPr lang="en-US" altLang="zh-TW" sz="2800" b="1" dirty="0" smtClean="0">
              <a:solidFill>
                <a:srgbClr val="66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itchFamily="34" charset="0"/>
              <a:ea typeface="PMingLiU" pitchFamily="18" charset="-120"/>
            </a:endParaRPr>
          </a:p>
          <a:p>
            <a:pPr marL="287338" lvl="1" indent="-28575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GB" altLang="zh-TW" sz="2000" b="1" dirty="0">
                <a:ea typeface="PMingLiU" pitchFamily="18" charset="-120"/>
              </a:rPr>
              <a:t>Everything within the cell membrane which is </a:t>
            </a:r>
            <a:r>
              <a:rPr lang="en-GB" altLang="zh-TW" sz="2000" b="1" dirty="0">
                <a:solidFill>
                  <a:srgbClr val="FF0000"/>
                </a:solidFill>
                <a:ea typeface="PMingLiU" pitchFamily="18" charset="-120"/>
              </a:rPr>
              <a:t>not the nucleus </a:t>
            </a:r>
            <a:r>
              <a:rPr lang="en-GB" altLang="zh-TW" sz="2000" b="1" dirty="0">
                <a:ea typeface="PMingLiU" pitchFamily="18" charset="-120"/>
              </a:rPr>
              <a:t>is known as the </a:t>
            </a:r>
            <a:r>
              <a:rPr lang="en-GB" altLang="zh-TW" sz="2000" b="1" dirty="0" smtClean="0">
                <a:ea typeface="PMingLiU" pitchFamily="18" charset="-120"/>
              </a:rPr>
              <a:t>cytoplasm</a:t>
            </a:r>
            <a:endParaRPr lang="en-US" altLang="zh-TW" sz="2000" b="1" dirty="0" smtClean="0">
              <a:ea typeface="PMingLiU" pitchFamily="18" charset="-120"/>
            </a:endParaRPr>
          </a:p>
          <a:p>
            <a:pPr marL="287338" lvl="1" indent="-28575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US" altLang="zh-TW" sz="2000" b="1" dirty="0" smtClean="0">
                <a:ea typeface="PMingLiU" pitchFamily="18" charset="-120"/>
              </a:rPr>
              <a:t>Jelly-like substance/liquid</a:t>
            </a:r>
            <a:r>
              <a:rPr lang="en-US" altLang="zh-TW" sz="2000" dirty="0" smtClean="0">
                <a:ea typeface="PMingLiU" pitchFamily="18" charset="-120"/>
              </a:rPr>
              <a:t>/ enclosed by cell membrane</a:t>
            </a:r>
          </a:p>
          <a:p>
            <a:pPr marL="287338" lvl="1" indent="-28575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US" altLang="zh-TW" sz="2000" b="1" dirty="0" smtClean="0">
                <a:ea typeface="PMingLiU" pitchFamily="18" charset="-120"/>
              </a:rPr>
              <a:t>Little viscous </a:t>
            </a:r>
            <a:r>
              <a:rPr lang="en-US" altLang="zh-TW" sz="2000" dirty="0" smtClean="0">
                <a:ea typeface="PMingLiU" pitchFamily="18" charset="-120"/>
              </a:rPr>
              <a:t>(almost 80% of water)</a:t>
            </a:r>
          </a:p>
          <a:p>
            <a:pPr marL="287338" lvl="1" indent="-28575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US" altLang="zh-TW" sz="2000" dirty="0" smtClean="0">
                <a:ea typeface="PMingLiU" pitchFamily="18" charset="-120"/>
              </a:rPr>
              <a:t>Also called </a:t>
            </a:r>
            <a:r>
              <a:rPr lang="en-US" altLang="zh-TW" sz="2000" b="1" dirty="0" smtClean="0">
                <a:ea typeface="PMingLiU" pitchFamily="18" charset="-120"/>
              </a:rPr>
              <a:t>Cytosol </a:t>
            </a:r>
          </a:p>
          <a:p>
            <a:pPr marL="287338" lvl="1" indent="-28575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US" altLang="zh-TW" sz="2000" b="1" dirty="0" smtClean="0">
                <a:ea typeface="PMingLiU" pitchFamily="18" charset="-120"/>
              </a:rPr>
              <a:t>Many organelles </a:t>
            </a:r>
            <a:r>
              <a:rPr lang="en-US" altLang="zh-TW" sz="2000" dirty="0" smtClean="0">
                <a:ea typeface="PMingLiU" pitchFamily="18" charset="-120"/>
              </a:rPr>
              <a:t>are embedded in cytoplasm</a:t>
            </a:r>
            <a:r>
              <a:rPr lang="en-US" altLang="zh-TW" dirty="0" smtClean="0">
                <a:ea typeface="PMingLiU" pitchFamily="18" charset="-120"/>
              </a:rPr>
              <a:t> </a:t>
            </a:r>
          </a:p>
          <a:p>
            <a:pPr marL="0" lvl="1">
              <a:lnSpc>
                <a:spcPct val="150000"/>
              </a:lnSpc>
              <a:spcBef>
                <a:spcPct val="20000"/>
              </a:spcBef>
            </a:pPr>
            <a:r>
              <a:rPr lang="en-US" altLang="zh-TW" sz="2800" b="1" dirty="0" smtClean="0">
                <a:solidFill>
                  <a:srgbClr val="6600FF"/>
                </a:solidFill>
                <a:ea typeface="PMingLiU" pitchFamily="18" charset="-120"/>
              </a:rPr>
              <a:t>Functions</a:t>
            </a:r>
            <a:r>
              <a:rPr lang="en-US" altLang="zh-TW" sz="2800" b="1" dirty="0">
                <a:solidFill>
                  <a:srgbClr val="6600FF"/>
                </a:solidFill>
                <a:ea typeface="PMingLiU" pitchFamily="18" charset="-120"/>
              </a:rPr>
              <a:t> </a:t>
            </a:r>
            <a:endParaRPr lang="en-US" altLang="zh-TW" sz="2800" b="1" dirty="0">
              <a:solidFill>
                <a:schemeClr val="accent1"/>
              </a:solidFill>
              <a:ea typeface="PMingLiU" pitchFamily="18" charset="-120"/>
            </a:endParaRPr>
          </a:p>
          <a:p>
            <a:pPr marL="287338" lvl="1" indent="-285750">
              <a:spcBef>
                <a:spcPct val="20000"/>
              </a:spcBef>
              <a:buBlip>
                <a:blip r:embed="rId3"/>
              </a:buBlip>
            </a:pPr>
            <a:r>
              <a:rPr lang="en-US" altLang="zh-TW" sz="2000" b="1" dirty="0">
                <a:latin typeface="Albertus MT Lt" pitchFamily="2" charset="0"/>
                <a:ea typeface="PMingLiU" pitchFamily="18" charset="-120"/>
              </a:rPr>
              <a:t>Provide a medium for chemical reactions to take </a:t>
            </a:r>
            <a:r>
              <a:rPr lang="en-US" altLang="zh-TW" sz="2000" b="1" dirty="0" smtClean="0">
                <a:latin typeface="Albertus MT Lt" pitchFamily="2" charset="0"/>
                <a:ea typeface="PMingLiU" pitchFamily="18" charset="-120"/>
              </a:rPr>
              <a:t>place</a:t>
            </a:r>
          </a:p>
          <a:p>
            <a:pPr marL="287338" lvl="1" indent="-28575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US" altLang="zh-TW" sz="2000" dirty="0" smtClean="0">
                <a:latin typeface="Albertus MT Lt" pitchFamily="2" charset="0"/>
                <a:ea typeface="PMingLiU" pitchFamily="18" charset="-120"/>
              </a:rPr>
              <a:t>Controls the shape of cell to an extent </a:t>
            </a:r>
          </a:p>
          <a:p>
            <a:pPr marL="287338" lvl="1" indent="-285750">
              <a:lnSpc>
                <a:spcPct val="150000"/>
              </a:lnSpc>
              <a:spcBef>
                <a:spcPct val="20000"/>
              </a:spcBef>
              <a:buBlip>
                <a:blip r:embed="rId3"/>
              </a:buBlip>
            </a:pPr>
            <a:endParaRPr lang="en-US" altLang="zh-TW" dirty="0">
              <a:latin typeface="Albertus MT Lt" pitchFamily="2" charset="0"/>
              <a:ea typeface="PMingLiU" pitchFamily="18" charset="-120"/>
            </a:endParaRPr>
          </a:p>
          <a:p>
            <a:pPr marL="293687" lvl="1">
              <a:lnSpc>
                <a:spcPct val="150000"/>
              </a:lnSpc>
              <a:spcBef>
                <a:spcPct val="20000"/>
              </a:spcBef>
            </a:pPr>
            <a:endParaRPr lang="en-US" altLang="zh-TW" sz="2800" dirty="0">
              <a:latin typeface="Impact" pitchFamily="34" charset="0"/>
              <a:ea typeface="PMingLiU" pitchFamily="18" charset="-120"/>
            </a:endParaRPr>
          </a:p>
        </p:txBody>
      </p:sp>
      <p:sp>
        <p:nvSpPr>
          <p:cNvPr id="12300" name="Rectangle 12"/>
          <p:cNvSpPr>
            <a:spLocks noGrp="1" noChangeArrowheads="1"/>
          </p:cNvSpPr>
          <p:nvPr>
            <p:ph type="title"/>
          </p:nvPr>
        </p:nvSpPr>
        <p:spPr>
          <a:xfrm>
            <a:off x="1374501" y="1"/>
            <a:ext cx="10817499" cy="648182"/>
          </a:xfrm>
          <a:solidFill>
            <a:srgbClr val="FFFFFF"/>
          </a:solidFill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GB" sz="3600" b="1" dirty="0"/>
              <a:t>Cell </a:t>
            </a:r>
            <a:r>
              <a:rPr lang="en-GB" sz="3600" b="1" dirty="0" smtClean="0"/>
              <a:t>Structures </a:t>
            </a:r>
            <a:r>
              <a:rPr lang="en-GB" sz="3600" b="1" dirty="0"/>
              <a:t>and </a:t>
            </a:r>
            <a:r>
              <a:rPr lang="en-GB" sz="3600" b="1" dirty="0" smtClean="0"/>
              <a:t>Functions </a:t>
            </a:r>
            <a:endParaRPr lang="en-US" altLang="zh-TW" sz="3600" dirty="0" smtClean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Impact" pitchFamily="34" charset="0"/>
            </a:endParaRPr>
          </a:p>
        </p:txBody>
      </p:sp>
      <p:sp>
        <p:nvSpPr>
          <p:cNvPr id="20486" name="AutoShape 1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684000" y="6248400"/>
            <a:ext cx="508000" cy="6096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AutoShape 15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11074400" y="6172200"/>
            <a:ext cx="508000" cy="609600"/>
          </a:xfrm>
          <a:prstGeom prst="actionButtonHom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10668000" y="6172200"/>
            <a:ext cx="406400" cy="6858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9080614" y="2000250"/>
            <a:ext cx="967411" cy="1692666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8923438" y="1488075"/>
            <a:ext cx="24049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TW" sz="2800" dirty="0">
                <a:latin typeface="Impact" pitchFamily="34" charset="0"/>
                <a:ea typeface="PMingLiU" pitchFamily="18" charset="-120"/>
              </a:rPr>
              <a:t>       Cytoplasm</a:t>
            </a:r>
          </a:p>
        </p:txBody>
      </p:sp>
    </p:spTree>
    <p:extLst>
      <p:ext uri="{BB962C8B-B14F-4D97-AF65-F5344CB8AC3E}">
        <p14:creationId xmlns:p14="http://schemas.microsoft.com/office/powerpoint/2010/main" val="160709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813" y="0"/>
            <a:ext cx="10826187" cy="752354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/>
              <a:t>Cell </a:t>
            </a:r>
            <a:r>
              <a:rPr lang="en-GB" sz="4400" b="1" dirty="0" smtClean="0"/>
              <a:t>Structures </a:t>
            </a:r>
            <a:r>
              <a:rPr lang="en-GB" sz="4400" b="1" dirty="0"/>
              <a:t>and </a:t>
            </a:r>
            <a:r>
              <a:rPr lang="en-GB" sz="4400" b="1" dirty="0" smtClean="0"/>
              <a:t>Functions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2664" y="717630"/>
            <a:ext cx="5544274" cy="6140370"/>
          </a:xfrm>
        </p:spPr>
        <p:txBody>
          <a:bodyPr/>
          <a:lstStyle/>
          <a:p>
            <a:pPr marL="82296" indent="0">
              <a:buNone/>
            </a:pP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Nucleus</a:t>
            </a:r>
            <a:r>
              <a:rPr lang="en-US" sz="2400" b="1" dirty="0" smtClean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Information Central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>
              <a:buBlip>
                <a:blip r:embed="rId2"/>
              </a:buBlip>
            </a:pPr>
            <a:r>
              <a:rPr lang="en-US" sz="2400" b="1" dirty="0" smtClean="0"/>
              <a:t>Spherical</a:t>
            </a:r>
            <a:r>
              <a:rPr lang="en-US" sz="2400" dirty="0" smtClean="0"/>
              <a:t> and </a:t>
            </a:r>
            <a:r>
              <a:rPr lang="en-US" sz="2400" b="1" dirty="0" smtClean="0"/>
              <a:t>oval structures </a:t>
            </a:r>
            <a:r>
              <a:rPr lang="en-US" sz="2400" dirty="0" smtClean="0"/>
              <a:t>near the center of cell</a:t>
            </a:r>
          </a:p>
          <a:p>
            <a:pPr>
              <a:buBlip>
                <a:blip r:embed="rId2"/>
              </a:buBlip>
            </a:pPr>
            <a:r>
              <a:rPr lang="en-GB" sz="2400" dirty="0"/>
              <a:t> The nucleus is normally the </a:t>
            </a:r>
            <a:r>
              <a:rPr lang="en-GB" sz="2400" b="1" dirty="0">
                <a:solidFill>
                  <a:srgbClr val="FF0000"/>
                </a:solidFill>
              </a:rPr>
              <a:t>largest organelle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/>
              <a:t>within a </a:t>
            </a:r>
            <a:r>
              <a:rPr lang="en-GB" sz="2400" b="1" dirty="0"/>
              <a:t>Eukaryotic cell</a:t>
            </a:r>
            <a:endParaRPr lang="en-US" sz="2400" b="1" dirty="0" smtClean="0"/>
          </a:p>
          <a:p>
            <a:pPr>
              <a:buBlip>
                <a:blip r:embed="rId2"/>
              </a:buBlip>
            </a:pPr>
            <a:r>
              <a:rPr lang="en-US" sz="2400" dirty="0"/>
              <a:t>Contains the </a:t>
            </a:r>
            <a:r>
              <a:rPr lang="en-US" sz="2400" b="1" dirty="0">
                <a:solidFill>
                  <a:srgbClr val="FF0000"/>
                </a:solidFill>
              </a:rPr>
              <a:t>genetic material </a:t>
            </a:r>
            <a:r>
              <a:rPr lang="en-US" sz="2400" dirty="0"/>
              <a:t>that directs the activity of the cell</a:t>
            </a:r>
          </a:p>
          <a:p>
            <a:pPr>
              <a:buBlip>
                <a:blip r:embed="rId2"/>
              </a:buBlip>
            </a:pPr>
            <a:r>
              <a:rPr lang="en-US" sz="2400" dirty="0"/>
              <a:t>I</a:t>
            </a:r>
            <a:r>
              <a:rPr lang="en-US" sz="2400" dirty="0" smtClean="0"/>
              <a:t>t control the vital activities of the cell </a:t>
            </a:r>
          </a:p>
          <a:p>
            <a:pPr>
              <a:buBlip>
                <a:blip r:embed="rId2"/>
              </a:buBlip>
            </a:pPr>
            <a:r>
              <a:rPr lang="en-US" sz="2400" dirty="0" smtClean="0"/>
              <a:t>Also called </a:t>
            </a:r>
            <a:r>
              <a:rPr lang="en-US" sz="2400" b="1" dirty="0" smtClean="0">
                <a:solidFill>
                  <a:srgbClr val="FF0000"/>
                </a:solidFill>
              </a:rPr>
              <a:t>control center of the cell</a:t>
            </a:r>
          </a:p>
          <a:p>
            <a:pPr>
              <a:buBlip>
                <a:blip r:embed="rId2"/>
              </a:buBlip>
            </a:pPr>
            <a:r>
              <a:rPr lang="en-US" sz="2400" b="1" dirty="0"/>
              <a:t>H</a:t>
            </a:r>
            <a:r>
              <a:rPr lang="en-US" sz="2400" b="1" dirty="0" smtClean="0"/>
              <a:t>ave different parts </a:t>
            </a:r>
            <a:endParaRPr lang="en-US" sz="2400" b="1" dirty="0"/>
          </a:p>
          <a:p>
            <a:endParaRPr lang="en-GB" dirty="0"/>
          </a:p>
        </p:txBody>
      </p:sp>
      <p:pic>
        <p:nvPicPr>
          <p:cNvPr id="5" name="Picture 2" descr="FG5_05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937" y="1203766"/>
            <a:ext cx="5220182" cy="461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96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59" y="1"/>
            <a:ext cx="9997440" cy="555584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Cell </a:t>
            </a:r>
            <a:r>
              <a:rPr lang="en-GB" sz="3200" b="1" dirty="0" smtClean="0"/>
              <a:t>Structures </a:t>
            </a:r>
            <a:r>
              <a:rPr lang="en-GB" sz="3200" b="1" dirty="0"/>
              <a:t>and </a:t>
            </a:r>
            <a:r>
              <a:rPr lang="en-GB" sz="3200" b="1" dirty="0" smtClean="0"/>
              <a:t>Functions 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86" y="578734"/>
            <a:ext cx="7430947" cy="6279266"/>
          </a:xfrm>
        </p:spPr>
        <p:txBody>
          <a:bodyPr>
            <a:normAutofit fontScale="92500" lnSpcReduction="10000"/>
          </a:bodyPr>
          <a:lstStyle/>
          <a:p>
            <a:pPr marL="82296" lvl="1" indent="0">
              <a:spcBef>
                <a:spcPct val="0"/>
              </a:spcBef>
              <a:buSzPct val="80000"/>
              <a:buNone/>
            </a:pPr>
            <a:r>
              <a:rPr lang="en-US" altLang="en-US" sz="2400" b="1" dirty="0"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Functions of the </a:t>
            </a:r>
            <a:r>
              <a:rPr lang="en-US" altLang="en-US" sz="2400" b="1" dirty="0" smtClean="0"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Parts </a:t>
            </a:r>
            <a:r>
              <a:rPr lang="en-US" altLang="en-US" sz="2400" b="1" dirty="0"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of the </a:t>
            </a:r>
            <a:r>
              <a:rPr lang="en-US" altLang="en-US" sz="2400" b="1" dirty="0" smtClean="0">
                <a:solidFill>
                  <a:srgbClr val="FF000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Nucleus</a:t>
            </a:r>
            <a:endParaRPr lang="en-US" altLang="en-US" sz="2400" b="1" dirty="0">
              <a:solidFill>
                <a:srgbClr val="FF000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425196" lvl="1" indent="-342900">
              <a:spcBef>
                <a:spcPct val="0"/>
              </a:spcBef>
              <a:buSzPct val="80000"/>
              <a:buBlip>
                <a:blip r:embed="rId2"/>
              </a:buBlip>
            </a:pPr>
            <a:r>
              <a:rPr lang="en-US" sz="2000" b="1" dirty="0" smtClean="0">
                <a:solidFill>
                  <a:srgbClr val="FF0000"/>
                </a:solidFill>
              </a:rPr>
              <a:t>Nuclear </a:t>
            </a:r>
            <a:r>
              <a:rPr lang="en-US" sz="2000" b="1" dirty="0">
                <a:solidFill>
                  <a:srgbClr val="FF0000"/>
                </a:solidFill>
              </a:rPr>
              <a:t>Envelope (membrane) 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sz="1800" b="1" dirty="0" smtClean="0"/>
              <a:t>Phospholipid </a:t>
            </a:r>
            <a:r>
              <a:rPr lang="en-US" sz="1800" b="1" dirty="0"/>
              <a:t>bilayer with nuclear </a:t>
            </a:r>
            <a:r>
              <a:rPr lang="en-US" sz="1800" b="1" dirty="0" smtClean="0"/>
              <a:t>pores</a:t>
            </a:r>
            <a:r>
              <a:rPr lang="en-US" sz="1800" b="1" dirty="0"/>
              <a:t> </a:t>
            </a:r>
            <a:endParaRPr lang="en-US" sz="1800" b="1" dirty="0" smtClean="0"/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sz="1800" dirty="0" smtClean="0"/>
              <a:t>Covering  and give shape for the nucleus </a:t>
            </a:r>
          </a:p>
          <a:p>
            <a:pPr marL="425196" lvl="1" indent="-342900">
              <a:spcBef>
                <a:spcPts val="600"/>
              </a:spcBef>
              <a:buSzPct val="80000"/>
              <a:buBlip>
                <a:blip r:embed="rId2"/>
              </a:buBlip>
            </a:pPr>
            <a:r>
              <a:rPr lang="en-US" sz="2000" b="1" dirty="0" smtClean="0">
                <a:solidFill>
                  <a:srgbClr val="FF0000"/>
                </a:solidFill>
              </a:rPr>
              <a:t>Nuclear pore </a:t>
            </a: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sz="1800" dirty="0" smtClean="0"/>
              <a:t>Exchange </a:t>
            </a:r>
            <a:r>
              <a:rPr lang="en-US" sz="1800" dirty="0"/>
              <a:t>of </a:t>
            </a:r>
            <a:r>
              <a:rPr lang="en-US" sz="1800" dirty="0" smtClean="0"/>
              <a:t>materials (</a:t>
            </a:r>
            <a:r>
              <a:rPr lang="en-US" sz="1800" dirty="0" err="1" smtClean="0"/>
              <a:t>rRNA</a:t>
            </a:r>
            <a:r>
              <a:rPr lang="en-US" sz="1800" dirty="0" smtClean="0"/>
              <a:t> </a:t>
            </a:r>
            <a:r>
              <a:rPr lang="en-US" sz="1800" dirty="0"/>
              <a:t>&amp; proteins) between </a:t>
            </a:r>
            <a:r>
              <a:rPr lang="en-US" sz="1800" b="1" dirty="0"/>
              <a:t>nucleus </a:t>
            </a:r>
            <a:r>
              <a:rPr lang="en-US" sz="1800" dirty="0"/>
              <a:t>and </a:t>
            </a:r>
            <a:r>
              <a:rPr lang="en-US" sz="1800" b="1" dirty="0"/>
              <a:t>outer nucleus spaces</a:t>
            </a:r>
          </a:p>
          <a:p>
            <a:pPr marL="425196" lvl="1" indent="-342900">
              <a:spcBef>
                <a:spcPts val="600"/>
              </a:spcBef>
              <a:buSzPct val="80000"/>
              <a:buBlip>
                <a:blip r:embed="rId2"/>
              </a:buBlip>
            </a:pPr>
            <a:r>
              <a:rPr lang="en-US" sz="2000" b="1" dirty="0" smtClean="0">
                <a:solidFill>
                  <a:srgbClr val="FF0000"/>
                </a:solidFill>
              </a:rPr>
              <a:t>Nucleoplasm</a:t>
            </a:r>
            <a:r>
              <a:rPr lang="en-US" sz="2000" b="1" dirty="0" smtClean="0"/>
              <a:t>- F</a:t>
            </a:r>
            <a:r>
              <a:rPr lang="en-US" sz="1800" dirty="0" smtClean="0"/>
              <a:t>luid portion of a Nucleus </a:t>
            </a:r>
            <a:r>
              <a:rPr lang="en-US" sz="1800" dirty="0"/>
              <a:t> </a:t>
            </a:r>
            <a:endParaRPr lang="en-US" sz="1800" dirty="0" smtClean="0"/>
          </a:p>
          <a:p>
            <a:pPr marL="425196" lvl="1" indent="-342900">
              <a:spcBef>
                <a:spcPts val="600"/>
              </a:spcBef>
              <a:buSzPct val="80000"/>
              <a:buBlip>
                <a:blip r:embed="rId2"/>
              </a:buBlip>
            </a:pPr>
            <a:r>
              <a:rPr lang="en-US" altLang="en-US" sz="2000" b="1" dirty="0" smtClean="0">
                <a:solidFill>
                  <a:srgbClr val="FF0000"/>
                </a:solidFill>
              </a:rPr>
              <a:t>Nucleolus- </a:t>
            </a:r>
            <a:r>
              <a:rPr lang="en-US" altLang="en-US" sz="1800" dirty="0"/>
              <a:t>C</a:t>
            </a:r>
            <a:r>
              <a:rPr lang="en-US" altLang="en-US" sz="1800" dirty="0" smtClean="0"/>
              <a:t>enter of a nucleus and site for </a:t>
            </a:r>
            <a:r>
              <a:rPr lang="en-US" altLang="en-US" sz="1800" b="1" dirty="0" smtClean="0"/>
              <a:t>ribosome formation and protein synthesis  </a:t>
            </a:r>
          </a:p>
          <a:p>
            <a:pPr marL="425196" lvl="1" indent="-342900">
              <a:spcBef>
                <a:spcPts val="600"/>
              </a:spcBef>
              <a:buSzPct val="80000"/>
              <a:buBlip>
                <a:blip r:embed="rId2"/>
              </a:buBlip>
            </a:pPr>
            <a:r>
              <a:rPr lang="en-US" altLang="en-US" sz="2000" b="1" dirty="0" smtClean="0">
                <a:solidFill>
                  <a:srgbClr val="FF0000"/>
                </a:solidFill>
              </a:rPr>
              <a:t>Chromatins</a:t>
            </a:r>
            <a:r>
              <a:rPr lang="en-US" altLang="en-US" sz="2000" b="1" dirty="0">
                <a:solidFill>
                  <a:srgbClr val="FF0000"/>
                </a:solidFill>
              </a:rPr>
              <a:t>: </a:t>
            </a:r>
            <a:endParaRPr lang="en-US" altLang="en-US" sz="2000" b="1" dirty="0" smtClean="0">
              <a:solidFill>
                <a:srgbClr val="FF0000"/>
              </a:solidFill>
            </a:endParaRP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b="1" dirty="0"/>
              <a:t>T</a:t>
            </a:r>
            <a:r>
              <a:rPr lang="en-US" altLang="en-US" sz="1600" b="1" dirty="0" smtClean="0"/>
              <a:t>hread like </a:t>
            </a:r>
            <a:r>
              <a:rPr lang="en-US" altLang="en-US" sz="1600" dirty="0" smtClean="0"/>
              <a:t>structures embedded in </a:t>
            </a:r>
            <a:r>
              <a:rPr lang="en-US" altLang="en-US" sz="1600" b="1" dirty="0" smtClean="0"/>
              <a:t>nucleoplasm</a:t>
            </a: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b="1" dirty="0" smtClean="0"/>
              <a:t>Exists during resting stages </a:t>
            </a:r>
            <a:r>
              <a:rPr lang="en-US" altLang="en-US" sz="1700" dirty="0" smtClean="0"/>
              <a:t>of a cell  (Cell is not dividing)  </a:t>
            </a:r>
            <a:endParaRPr lang="en-US" altLang="en-US" sz="1600" dirty="0" smtClean="0"/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dirty="0" smtClean="0"/>
              <a:t>During cell division changed in to </a:t>
            </a:r>
            <a:r>
              <a:rPr lang="en-US" altLang="en-US" sz="1600" b="1" dirty="0"/>
              <a:t>C</a:t>
            </a:r>
            <a:r>
              <a:rPr lang="en-US" altLang="en-US" sz="1600" b="1" dirty="0" smtClean="0"/>
              <a:t>hromosomes </a:t>
            </a:r>
          </a:p>
          <a:p>
            <a:pPr marL="425196" lvl="1" indent="-342900">
              <a:lnSpc>
                <a:spcPct val="110000"/>
              </a:lnSpc>
              <a:spcBef>
                <a:spcPts val="600"/>
              </a:spcBef>
              <a:buSzPct val="80000"/>
              <a:buBlip>
                <a:blip r:embed="rId2"/>
              </a:buBlip>
            </a:pPr>
            <a:r>
              <a:rPr lang="en-US" altLang="en-US" sz="2000" b="1" dirty="0" smtClean="0">
                <a:solidFill>
                  <a:srgbClr val="FF0000"/>
                </a:solidFill>
              </a:rPr>
              <a:t>Chromosomes</a:t>
            </a: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dirty="0"/>
              <a:t>Rod shaped structures </a:t>
            </a: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dirty="0"/>
              <a:t>Formed when  </a:t>
            </a:r>
            <a:r>
              <a:rPr lang="en-US" altLang="en-US" sz="1600" b="1" dirty="0" smtClean="0"/>
              <a:t>chromatin condenses together </a:t>
            </a:r>
            <a:r>
              <a:rPr lang="en-US" altLang="en-US" sz="1600" dirty="0" smtClean="0"/>
              <a:t>when the cell is about to divide </a:t>
            </a: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dirty="0" smtClean="0"/>
              <a:t>Composed of DNA, RNA and nuclear protein</a:t>
            </a: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b="1" dirty="0" smtClean="0"/>
              <a:t>Genes </a:t>
            </a:r>
            <a:r>
              <a:rPr lang="en-US" altLang="en-US" sz="1600" dirty="0" smtClean="0"/>
              <a:t>present inside chromosomes decide the hereditary characters </a:t>
            </a:r>
          </a:p>
          <a:p>
            <a:pPr marL="825246" lvl="3" indent="-285750">
              <a:spcBef>
                <a:spcPts val="600"/>
              </a:spcBef>
              <a:buSzPct val="80000"/>
              <a:buBlip>
                <a:blip r:embed="rId3"/>
              </a:buBlip>
            </a:pPr>
            <a:r>
              <a:rPr lang="en-US" altLang="en-US" sz="1600" b="1" dirty="0" smtClean="0"/>
              <a:t>Genes are the units of inheritance</a:t>
            </a:r>
            <a:r>
              <a:rPr lang="en-US" altLang="en-US" sz="1600" dirty="0"/>
              <a:t> </a:t>
            </a:r>
            <a:r>
              <a:rPr lang="en-US" altLang="en-US" sz="1600" dirty="0" smtClean="0"/>
              <a:t> (control traits of organisms) </a:t>
            </a:r>
          </a:p>
          <a:p>
            <a:pPr marL="539496" lvl="3" indent="0">
              <a:spcBef>
                <a:spcPts val="600"/>
              </a:spcBef>
              <a:buSzPct val="80000"/>
              <a:buNone/>
            </a:pPr>
            <a:endParaRPr lang="en-US" altLang="en-US" sz="1400" dirty="0" smtClean="0"/>
          </a:p>
          <a:p>
            <a:pPr marL="822960" lvl="3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altLang="en-US" sz="1400" dirty="0"/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altLang="en-US" sz="2000" dirty="0"/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altLang="en-US" sz="2000" b="1" dirty="0" smtClean="0">
              <a:solidFill>
                <a:srgbClr val="CC3399"/>
              </a:solidFill>
            </a:endParaRP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altLang="en-US" sz="2000" b="1" dirty="0">
              <a:solidFill>
                <a:srgbClr val="CC3399"/>
              </a:solidFill>
            </a:endParaRP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dirty="0"/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altLang="en-US" dirty="0"/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2847371"/>
            <a:ext cx="3383666" cy="2060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5081286"/>
            <a:ext cx="3383666" cy="1620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243068"/>
            <a:ext cx="3383666" cy="240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869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790" y="462987"/>
            <a:ext cx="6620719" cy="6395013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en-GB" sz="1800" b="1" dirty="0" smtClean="0">
                <a:solidFill>
                  <a:srgbClr val="FF0066"/>
                </a:solidFill>
              </a:rPr>
              <a:t>Endoplasmic </a:t>
            </a:r>
            <a:r>
              <a:rPr lang="en-GB" sz="1800" b="1" dirty="0">
                <a:solidFill>
                  <a:srgbClr val="FF0066"/>
                </a:solidFill>
              </a:rPr>
              <a:t>R</a:t>
            </a:r>
            <a:r>
              <a:rPr lang="en-GB" sz="1800" b="1" dirty="0" smtClean="0">
                <a:solidFill>
                  <a:srgbClr val="FF0066"/>
                </a:solidFill>
              </a:rPr>
              <a:t>eticulum </a:t>
            </a:r>
            <a:r>
              <a:rPr lang="en-GB" sz="1800" b="1" dirty="0">
                <a:solidFill>
                  <a:srgbClr val="FF0066"/>
                </a:solidFill>
              </a:rPr>
              <a:t>(ER</a:t>
            </a:r>
            <a:r>
              <a:rPr lang="en-GB" sz="1800" b="1" dirty="0" smtClean="0">
                <a:solidFill>
                  <a:srgbClr val="FF0066"/>
                </a:solidFill>
              </a:rPr>
              <a:t>)- </a:t>
            </a:r>
            <a:r>
              <a:rPr lang="en-US" sz="1800" b="1" dirty="0" smtClean="0"/>
              <a:t>Biosynthetic </a:t>
            </a:r>
            <a:r>
              <a:rPr lang="en-US" sz="1800" b="1" dirty="0"/>
              <a:t>Factory</a:t>
            </a:r>
            <a:r>
              <a:rPr lang="en-GB" sz="1800" b="1" dirty="0" smtClean="0">
                <a:solidFill>
                  <a:srgbClr val="FF0066"/>
                </a:solidFill>
              </a:rPr>
              <a:t> </a:t>
            </a:r>
            <a:endParaRPr lang="en-GB" sz="1800" b="1" dirty="0" smtClean="0"/>
          </a:p>
          <a:p>
            <a:pPr>
              <a:buBlip>
                <a:blip r:embed="rId2"/>
              </a:buBlip>
            </a:pPr>
            <a:r>
              <a:rPr lang="en-US" sz="1400" dirty="0" smtClean="0"/>
              <a:t>The </a:t>
            </a:r>
            <a:r>
              <a:rPr lang="en-US" sz="1400" dirty="0"/>
              <a:t>ER membrane is continuous with the </a:t>
            </a:r>
            <a:r>
              <a:rPr lang="en-US" sz="1400" b="1" dirty="0"/>
              <a:t>nuclear envelope</a:t>
            </a:r>
          </a:p>
          <a:p>
            <a:pPr>
              <a:buBlip>
                <a:blip r:embed="rId2"/>
              </a:buBlip>
            </a:pPr>
            <a:r>
              <a:rPr lang="en-GB" sz="1400" dirty="0" smtClean="0"/>
              <a:t>It is 2 in type: </a:t>
            </a:r>
            <a:r>
              <a:rPr lang="en-GB" sz="1400" b="1" dirty="0"/>
              <a:t>smooth</a:t>
            </a:r>
            <a:r>
              <a:rPr lang="en-GB" sz="1400" dirty="0"/>
              <a:t> </a:t>
            </a:r>
            <a:r>
              <a:rPr lang="en-GB" sz="1400" dirty="0" smtClean="0"/>
              <a:t>and </a:t>
            </a:r>
            <a:r>
              <a:rPr lang="en-GB" sz="1400" dirty="0"/>
              <a:t>the </a:t>
            </a:r>
            <a:r>
              <a:rPr lang="en-GB" sz="1400" b="1" dirty="0"/>
              <a:t>rough ER </a:t>
            </a:r>
          </a:p>
          <a:p>
            <a:pPr>
              <a:buBlip>
                <a:blip r:embed="rId3"/>
              </a:buBlip>
            </a:pPr>
            <a:r>
              <a:rPr lang="en-GB" sz="1400" b="1" dirty="0" smtClean="0">
                <a:solidFill>
                  <a:srgbClr val="0000FF"/>
                </a:solidFill>
              </a:rPr>
              <a:t>Rough </a:t>
            </a:r>
            <a:r>
              <a:rPr lang="en-GB" sz="1400" b="1" dirty="0">
                <a:solidFill>
                  <a:srgbClr val="0000FF"/>
                </a:solidFill>
              </a:rPr>
              <a:t>Endoplasmic Reticulum: </a:t>
            </a:r>
            <a:endParaRPr lang="en-GB" sz="1400" dirty="0">
              <a:solidFill>
                <a:srgbClr val="0000FF"/>
              </a:solidFill>
            </a:endParaRPr>
          </a:p>
          <a:p>
            <a:pPr lvl="2">
              <a:buBlip>
                <a:blip r:embed="rId4"/>
              </a:buBlip>
            </a:pPr>
            <a:r>
              <a:rPr lang="en-GB" sz="1400" dirty="0" smtClean="0"/>
              <a:t>contains </a:t>
            </a:r>
            <a:r>
              <a:rPr lang="en-GB" sz="1400" b="1" dirty="0" smtClean="0"/>
              <a:t>dark particles </a:t>
            </a:r>
            <a:r>
              <a:rPr lang="en-GB" sz="1400" dirty="0"/>
              <a:t>called </a:t>
            </a:r>
            <a:r>
              <a:rPr lang="en-GB" sz="1400" b="1" dirty="0" smtClean="0">
                <a:solidFill>
                  <a:srgbClr val="3366FF"/>
                </a:solidFill>
              </a:rPr>
              <a:t>ribosomes</a:t>
            </a:r>
            <a:r>
              <a:rPr lang="en-GB" sz="1400" dirty="0" smtClean="0"/>
              <a:t> that </a:t>
            </a:r>
            <a:r>
              <a:rPr lang="en-GB" sz="1400" b="1" dirty="0">
                <a:solidFill>
                  <a:srgbClr val="3366FF"/>
                </a:solidFill>
              </a:rPr>
              <a:t>produce </a:t>
            </a:r>
            <a:r>
              <a:rPr lang="en-GB" sz="1400" b="1" dirty="0" smtClean="0">
                <a:solidFill>
                  <a:srgbClr val="3366FF"/>
                </a:solidFill>
              </a:rPr>
              <a:t>protein</a:t>
            </a:r>
            <a:endParaRPr lang="en-GB" sz="1400" b="1" dirty="0">
              <a:solidFill>
                <a:srgbClr val="3366FF"/>
              </a:solidFill>
            </a:endParaRPr>
          </a:p>
          <a:p>
            <a:pPr lvl="2">
              <a:buBlip>
                <a:blip r:embed="rId4"/>
              </a:buBlip>
            </a:pPr>
            <a:r>
              <a:rPr lang="en-GB" sz="1400" dirty="0" smtClean="0"/>
              <a:t>It also serve as </a:t>
            </a:r>
            <a:r>
              <a:rPr lang="en-GB" sz="1400" b="1" dirty="0" smtClean="0"/>
              <a:t>processing </a:t>
            </a:r>
            <a:r>
              <a:rPr lang="en-GB" sz="1400" b="1" dirty="0"/>
              <a:t>and modiﬁcation </a:t>
            </a:r>
            <a:r>
              <a:rPr lang="en-GB" sz="1400" b="1" dirty="0" smtClean="0"/>
              <a:t>of proteins </a:t>
            </a:r>
          </a:p>
          <a:p>
            <a:pPr lvl="2">
              <a:buBlip>
                <a:blip r:embed="rId4"/>
              </a:buBlip>
            </a:pPr>
            <a:r>
              <a:rPr lang="en-GB" sz="1400" dirty="0" smtClean="0"/>
              <a:t>Most </a:t>
            </a:r>
            <a:r>
              <a:rPr lang="en-GB" sz="1400" dirty="0"/>
              <a:t>proteins are modiﬁed by the addition of a </a:t>
            </a:r>
            <a:r>
              <a:rPr lang="en-GB" sz="1400" b="1" dirty="0"/>
              <a:t>sugar </a:t>
            </a:r>
            <a:r>
              <a:rPr lang="en-GB" sz="1400" b="1" dirty="0" smtClean="0"/>
              <a:t>chain  </a:t>
            </a:r>
          </a:p>
          <a:p>
            <a:pPr marL="368046" lvl="2" indent="-285750">
              <a:spcBef>
                <a:spcPts val="600"/>
              </a:spcBef>
              <a:buClr>
                <a:schemeClr val="accent1"/>
              </a:buClr>
              <a:buSzPct val="80000"/>
              <a:buBlip>
                <a:blip r:embed="rId3"/>
              </a:buBlip>
            </a:pPr>
            <a:r>
              <a:rPr lang="en-GB" sz="1400" b="1" dirty="0">
                <a:solidFill>
                  <a:srgbClr val="0000FF"/>
                </a:solidFill>
              </a:rPr>
              <a:t>Smooth Endoplasmic Reticulum: </a:t>
            </a:r>
          </a:p>
          <a:p>
            <a:pPr lvl="2">
              <a:buBlip>
                <a:blip r:embed="rId5"/>
              </a:buBlip>
            </a:pPr>
            <a:r>
              <a:rPr lang="en-GB" sz="1400" dirty="0" smtClean="0"/>
              <a:t>SER </a:t>
            </a:r>
            <a:r>
              <a:rPr lang="en-GB" sz="1400" dirty="0"/>
              <a:t>is a network of interconnected tubules</a:t>
            </a:r>
          </a:p>
          <a:p>
            <a:pPr lvl="2">
              <a:buBlip>
                <a:blip r:embed="rId5"/>
              </a:buBlip>
            </a:pPr>
            <a:r>
              <a:rPr lang="en-GB" sz="1400" b="1" dirty="0"/>
              <a:t>D</a:t>
            </a:r>
            <a:r>
              <a:rPr lang="en-GB" sz="1400" b="1" dirty="0" smtClean="0"/>
              <a:t>oes </a:t>
            </a:r>
            <a:r>
              <a:rPr lang="en-GB" sz="1400" b="1" dirty="0"/>
              <a:t>not have ribosomes</a:t>
            </a:r>
            <a:r>
              <a:rPr lang="en-GB" sz="1400" dirty="0"/>
              <a:t>, it looks </a:t>
            </a:r>
            <a:r>
              <a:rPr lang="en-GB" sz="1400" b="1" dirty="0"/>
              <a:t>smooth‘</a:t>
            </a:r>
            <a:r>
              <a:rPr lang="en-GB" sz="1400" dirty="0"/>
              <a:t> and </a:t>
            </a:r>
            <a:r>
              <a:rPr lang="en-GB" sz="1400" b="1" dirty="0">
                <a:solidFill>
                  <a:srgbClr val="FF0000"/>
                </a:solidFill>
              </a:rPr>
              <a:t>does not produce proteins </a:t>
            </a:r>
          </a:p>
          <a:p>
            <a:pPr lvl="2">
              <a:buBlip>
                <a:blip r:embed="rId5"/>
              </a:buBlip>
            </a:pPr>
            <a:r>
              <a:rPr lang="en-GB" sz="1400" dirty="0" smtClean="0"/>
              <a:t>SER </a:t>
            </a:r>
            <a:r>
              <a:rPr lang="en-GB" sz="1400" dirty="0"/>
              <a:t>synthesizes the </a:t>
            </a:r>
            <a:r>
              <a:rPr lang="en-GB" sz="1400" b="1" dirty="0" smtClean="0"/>
              <a:t>lipids</a:t>
            </a:r>
            <a:r>
              <a:rPr lang="en-GB" sz="1400" dirty="0"/>
              <a:t> </a:t>
            </a:r>
            <a:r>
              <a:rPr lang="en-GB" sz="1400" dirty="0" smtClean="0"/>
              <a:t>(</a:t>
            </a:r>
            <a:r>
              <a:rPr lang="en-GB" sz="1400" b="1" dirty="0" smtClean="0"/>
              <a:t>phospholipids</a:t>
            </a:r>
            <a:r>
              <a:rPr lang="en-GB" sz="1400" dirty="0" smtClean="0"/>
              <a:t> </a:t>
            </a:r>
            <a:r>
              <a:rPr lang="en-GB" sz="1400" dirty="0"/>
              <a:t>that occur in </a:t>
            </a:r>
            <a:r>
              <a:rPr lang="en-GB" sz="1400" dirty="0" smtClean="0"/>
              <a:t>membranes) </a:t>
            </a:r>
            <a:endParaRPr lang="en-GB" sz="1400" dirty="0"/>
          </a:p>
          <a:p>
            <a:pPr lvl="2">
              <a:buBlip>
                <a:blip r:embed="rId5"/>
              </a:buBlip>
            </a:pPr>
            <a:r>
              <a:rPr lang="en-GB" sz="1400" dirty="0"/>
              <a:t>It has various other functions depending on the particular </a:t>
            </a:r>
            <a:r>
              <a:rPr lang="en-GB" sz="1400" dirty="0" smtClean="0"/>
              <a:t>cell </a:t>
            </a:r>
            <a:endParaRPr lang="en-GB" sz="1400" dirty="0"/>
          </a:p>
          <a:p>
            <a:pPr lvl="5">
              <a:buBlip>
                <a:blip r:embed="rId6"/>
              </a:buBlip>
            </a:pPr>
            <a:r>
              <a:rPr lang="en-GB" sz="1400" dirty="0"/>
              <a:t>In the </a:t>
            </a:r>
            <a:r>
              <a:rPr lang="en-GB" sz="1400" b="1" dirty="0"/>
              <a:t>testes</a:t>
            </a:r>
            <a:r>
              <a:rPr lang="en-GB" sz="1400" dirty="0"/>
              <a:t>, it produces </a:t>
            </a:r>
            <a:r>
              <a:rPr lang="en-GB" sz="1400" b="1" dirty="0" smtClean="0"/>
              <a:t>testosterone</a:t>
            </a:r>
            <a:r>
              <a:rPr lang="en-GB" sz="1400" dirty="0"/>
              <a:t> </a:t>
            </a:r>
            <a:endParaRPr lang="en-GB" sz="1400" dirty="0" smtClean="0"/>
          </a:p>
          <a:p>
            <a:pPr lvl="5">
              <a:buBlip>
                <a:blip r:embed="rId6"/>
              </a:buBlip>
            </a:pPr>
            <a:r>
              <a:rPr lang="en-GB" sz="1400" dirty="0" smtClean="0"/>
              <a:t> In </a:t>
            </a:r>
            <a:r>
              <a:rPr lang="en-GB" sz="1400" dirty="0"/>
              <a:t>the </a:t>
            </a:r>
            <a:r>
              <a:rPr lang="en-GB" sz="1400" b="1" dirty="0"/>
              <a:t>liver</a:t>
            </a:r>
            <a:r>
              <a:rPr lang="en-GB" sz="1400" dirty="0"/>
              <a:t>, it helps </a:t>
            </a:r>
            <a:r>
              <a:rPr lang="en-GB" sz="1400" b="1" dirty="0"/>
              <a:t>detoxify </a:t>
            </a:r>
            <a:r>
              <a:rPr lang="en-GB" sz="1400" b="1" dirty="0" smtClean="0"/>
              <a:t>drugs</a:t>
            </a:r>
            <a:r>
              <a:rPr lang="en-GB" sz="1400" dirty="0"/>
              <a:t> </a:t>
            </a:r>
            <a:endParaRPr lang="en-GB" sz="1400" dirty="0" smtClean="0"/>
          </a:p>
          <a:p>
            <a:pPr lvl="5">
              <a:buBlip>
                <a:blip r:embed="rId6"/>
              </a:buBlip>
            </a:pPr>
            <a:r>
              <a:rPr lang="en-US" sz="1400" b="1" dirty="0" smtClean="0"/>
              <a:t>Stores</a:t>
            </a:r>
            <a:r>
              <a:rPr lang="en-US" sz="1400" dirty="0" smtClean="0"/>
              <a:t> and </a:t>
            </a:r>
            <a:r>
              <a:rPr lang="en-US" sz="1400" b="1" dirty="0"/>
              <a:t>R</a:t>
            </a:r>
            <a:r>
              <a:rPr lang="en-US" sz="1400" b="1" dirty="0" smtClean="0"/>
              <a:t>egulates  </a:t>
            </a:r>
            <a:r>
              <a:rPr lang="en-US" sz="1400" b="1" dirty="0"/>
              <a:t>C</a:t>
            </a:r>
            <a:r>
              <a:rPr lang="en-US" sz="1400" b="1" dirty="0" smtClean="0"/>
              <a:t>alcium ions </a:t>
            </a:r>
            <a:r>
              <a:rPr lang="en-US" sz="1400" dirty="0" smtClean="0"/>
              <a:t>in muscle cells </a:t>
            </a:r>
            <a:endParaRPr lang="en-GB" sz="1400" dirty="0"/>
          </a:p>
          <a:p>
            <a:pPr lvl="2">
              <a:buBlip>
                <a:blip r:embed="rId5"/>
              </a:buBlip>
            </a:pPr>
            <a:r>
              <a:rPr lang="en-GB" sz="1400" dirty="0" smtClean="0"/>
              <a:t>It  </a:t>
            </a:r>
            <a:r>
              <a:rPr lang="en-GB" sz="1400" dirty="0"/>
              <a:t>also forms vesicles in which proteins are transported to the </a:t>
            </a:r>
            <a:r>
              <a:rPr lang="en-GB" sz="1400" b="1" dirty="0"/>
              <a:t>Golgi </a:t>
            </a:r>
            <a:r>
              <a:rPr lang="en-GB" sz="1400" b="1" dirty="0" smtClean="0"/>
              <a:t>apparatus</a:t>
            </a:r>
            <a:r>
              <a:rPr lang="en-GB" sz="1400" b="1" dirty="0"/>
              <a:t> </a:t>
            </a:r>
            <a:endParaRPr lang="en-GB" sz="1400" b="1" dirty="0" smtClean="0"/>
          </a:p>
          <a:p>
            <a:pPr lvl="2">
              <a:buBlip>
                <a:blip r:embed="rId5"/>
              </a:buBlip>
            </a:pPr>
            <a:r>
              <a:rPr lang="en-GB" sz="1400" b="1" dirty="0" smtClean="0">
                <a:solidFill>
                  <a:srgbClr val="C00000"/>
                </a:solidFill>
              </a:rPr>
              <a:t>Functions of ER-</a:t>
            </a:r>
          </a:p>
          <a:p>
            <a:pPr lvl="6">
              <a:buFont typeface="Wingdings" pitchFamily="2" charset="2"/>
              <a:buChar char="ü"/>
            </a:pPr>
            <a:r>
              <a:rPr lang="en-GB" sz="1400" b="1" dirty="0" smtClean="0">
                <a:solidFill>
                  <a:srgbClr val="C00000"/>
                </a:solidFill>
              </a:rPr>
              <a:t>manufacture proteins and lipids</a:t>
            </a:r>
          </a:p>
          <a:p>
            <a:pPr lvl="6">
              <a:buFont typeface="Wingdings" pitchFamily="2" charset="2"/>
              <a:buChar char="ü"/>
            </a:pPr>
            <a:r>
              <a:rPr lang="en-GB" sz="1400" b="1" dirty="0" smtClean="0">
                <a:solidFill>
                  <a:srgbClr val="C00000"/>
                </a:solidFill>
              </a:rPr>
              <a:t>Channel to transport materials to different parts of the cell </a:t>
            </a:r>
          </a:p>
          <a:p>
            <a:pPr lvl="6">
              <a:buFont typeface="Wingdings" pitchFamily="2" charset="2"/>
              <a:buChar char="ü"/>
            </a:pPr>
            <a:r>
              <a:rPr lang="en-GB" sz="1400" b="1" dirty="0">
                <a:solidFill>
                  <a:srgbClr val="C00000"/>
                </a:solidFill>
              </a:rPr>
              <a:t>Detoxification and inactivation of drugs</a:t>
            </a:r>
          </a:p>
          <a:p>
            <a:pPr marL="658368" lvl="2" indent="0">
              <a:buNone/>
            </a:pPr>
            <a:r>
              <a:rPr lang="en-GB" sz="1100" dirty="0"/>
              <a:t/>
            </a:r>
            <a:br>
              <a:rPr lang="en-GB" sz="1100" dirty="0"/>
            </a:br>
            <a:r>
              <a:rPr lang="en-GB" sz="1100" dirty="0"/>
              <a:t/>
            </a:r>
            <a:br>
              <a:rPr lang="en-GB" sz="1100" dirty="0"/>
            </a:br>
            <a:endParaRPr lang="en-GB" sz="11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412486" y="0"/>
            <a:ext cx="9997440" cy="535595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Cell </a:t>
            </a:r>
            <a:r>
              <a:rPr lang="en-GB" sz="3200" b="1" dirty="0" smtClean="0"/>
              <a:t>Structures </a:t>
            </a:r>
            <a:r>
              <a:rPr lang="en-GB" sz="3200" b="1" dirty="0"/>
              <a:t>and </a:t>
            </a:r>
            <a:r>
              <a:rPr lang="en-GB" sz="3200" b="1" dirty="0" smtClean="0"/>
              <a:t>Functions </a:t>
            </a:r>
            <a:endParaRPr lang="en-GB" sz="3200" dirty="0"/>
          </a:p>
        </p:txBody>
      </p:sp>
      <p:pic>
        <p:nvPicPr>
          <p:cNvPr id="8" name="Picture 102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142" y="0"/>
            <a:ext cx="4575858" cy="339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7" descr="06_11aEndoplsmcReticulum-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195" y="3615876"/>
            <a:ext cx="3810393" cy="294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9"/>
          <p:cNvSpPr>
            <a:spLocks noChangeShapeType="1"/>
          </p:cNvSpPr>
          <p:nvPr/>
        </p:nvSpPr>
        <p:spPr bwMode="auto">
          <a:xfrm flipH="1">
            <a:off x="9784061" y="4142529"/>
            <a:ext cx="991044" cy="9402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0577412" y="3766950"/>
            <a:ext cx="1321362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9pPr>
          </a:lstStyle>
          <a:p>
            <a:r>
              <a:rPr lang="en-US" sz="1400" b="1" dirty="0"/>
              <a:t>Nuclear</a:t>
            </a:r>
            <a:br>
              <a:rPr lang="en-US" sz="1400" b="1" dirty="0"/>
            </a:br>
            <a:r>
              <a:rPr lang="en-US" sz="1400" b="1" dirty="0"/>
              <a:t>envelope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8401972" y="3691012"/>
            <a:ext cx="12874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9pPr>
          </a:lstStyle>
          <a:p>
            <a:r>
              <a:rPr lang="en-US" sz="1400" b="1" dirty="0"/>
              <a:t>Smooth ER</a:t>
            </a: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8571765" y="3893204"/>
            <a:ext cx="344488" cy="56827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 flipH="1">
            <a:off x="9134411" y="5865970"/>
            <a:ext cx="14519" cy="42094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 flipH="1">
            <a:off x="9148931" y="5971006"/>
            <a:ext cx="192881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8399521" y="6286918"/>
            <a:ext cx="12763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9pPr>
          </a:lstStyle>
          <a:p>
            <a:r>
              <a:rPr lang="en-US" sz="1400" b="1" dirty="0"/>
              <a:t>Ribosomes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9522388" y="6352030"/>
            <a:ext cx="18875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84" charset="-128"/>
              </a:defRPr>
            </a:lvl9pPr>
          </a:lstStyle>
          <a:p>
            <a:r>
              <a:rPr lang="en-US" sz="1400" b="1" dirty="0"/>
              <a:t>Transport vesicle</a:t>
            </a:r>
          </a:p>
        </p:txBody>
      </p:sp>
    </p:spTree>
    <p:extLst>
      <p:ext uri="{BB962C8B-B14F-4D97-AF65-F5344CB8AC3E}">
        <p14:creationId xmlns:p14="http://schemas.microsoft.com/office/powerpoint/2010/main" val="260490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354237" y="428262"/>
            <a:ext cx="6123009" cy="6429737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Golgi Apparatus</a:t>
            </a:r>
            <a:r>
              <a:rPr lang="en-US" sz="1900" b="1" dirty="0">
                <a:solidFill>
                  <a:srgbClr val="FF0000"/>
                </a:solidFill>
              </a:rPr>
              <a:t>: Shipping and </a:t>
            </a:r>
            <a:r>
              <a:rPr lang="en-US" sz="1900" b="1" dirty="0" smtClean="0">
                <a:solidFill>
                  <a:srgbClr val="FF0000"/>
                </a:solidFill>
              </a:rPr>
              <a:t>Receiving Center</a:t>
            </a:r>
            <a:endParaRPr lang="en-GB" sz="1600" b="1" dirty="0" smtClean="0">
              <a:solidFill>
                <a:srgbClr val="FF0000"/>
              </a:solidFill>
            </a:endParaRPr>
          </a:p>
          <a:p>
            <a:pPr>
              <a:buBlip>
                <a:blip r:embed="rId2"/>
              </a:buBlip>
            </a:pPr>
            <a:r>
              <a:rPr lang="en-GB" sz="1900" dirty="0" smtClean="0"/>
              <a:t>is associated with the ER </a:t>
            </a:r>
          </a:p>
          <a:p>
            <a:pPr>
              <a:buBlip>
                <a:blip r:embed="rId2"/>
              </a:buBlip>
            </a:pPr>
            <a:r>
              <a:rPr lang="en-GB" sz="1900" dirty="0" smtClean="0"/>
              <a:t>Contains sets </a:t>
            </a:r>
            <a:r>
              <a:rPr lang="en-GB" sz="1900" dirty="0"/>
              <a:t>of flattened, curved, membrane- enclosed sacs, or </a:t>
            </a:r>
            <a:r>
              <a:rPr lang="en-GB" sz="1900" b="1" dirty="0"/>
              <a:t>cisternae</a:t>
            </a:r>
            <a:r>
              <a:rPr lang="en-GB" sz="1900" dirty="0"/>
              <a:t>, stacked in </a:t>
            </a:r>
            <a:r>
              <a:rPr lang="en-GB" sz="1900" dirty="0" smtClean="0"/>
              <a:t>layers</a:t>
            </a:r>
            <a:r>
              <a:rPr lang="en-GB" sz="1900" dirty="0"/>
              <a:t> </a:t>
            </a:r>
            <a:endParaRPr lang="en-GB" sz="1900" dirty="0" smtClean="0"/>
          </a:p>
          <a:p>
            <a:pPr marL="82296" indent="0">
              <a:buNone/>
            </a:pPr>
            <a:r>
              <a:rPr lang="en-GB" sz="2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</a:t>
            </a:r>
          </a:p>
          <a:p>
            <a:pPr marL="292100" lvl="1" indent="-236538">
              <a:buBlip>
                <a:blip r:embed="rId3"/>
              </a:buBlip>
            </a:pPr>
            <a:r>
              <a:rPr lang="en-GB" sz="1800" b="1" dirty="0" smtClean="0"/>
              <a:t>Modifies </a:t>
            </a:r>
            <a:r>
              <a:rPr lang="en-GB" sz="1800" b="1" dirty="0"/>
              <a:t>proteins</a:t>
            </a:r>
            <a:r>
              <a:rPr lang="en-GB" sz="1800" dirty="0"/>
              <a:t> and </a:t>
            </a:r>
            <a:r>
              <a:rPr lang="en-GB" sz="1800" b="1" dirty="0"/>
              <a:t>lipids </a:t>
            </a:r>
            <a:r>
              <a:rPr lang="en-GB" sz="1800" dirty="0"/>
              <a:t>made by the </a:t>
            </a:r>
            <a:r>
              <a:rPr lang="en-GB" sz="1800" dirty="0" smtClean="0"/>
              <a:t>ER; </a:t>
            </a:r>
            <a:r>
              <a:rPr lang="en-US" sz="1800" b="1" dirty="0" smtClean="0"/>
              <a:t>Sorts</a:t>
            </a:r>
            <a:r>
              <a:rPr lang="en-US" sz="1800" dirty="0" smtClean="0"/>
              <a:t> </a:t>
            </a:r>
            <a:r>
              <a:rPr lang="en-US" sz="1800" dirty="0"/>
              <a:t>and </a:t>
            </a:r>
            <a:r>
              <a:rPr lang="en-US" sz="1800" b="1" dirty="0"/>
              <a:t>packages</a:t>
            </a:r>
            <a:r>
              <a:rPr lang="en-US" sz="1800" dirty="0"/>
              <a:t> materials into </a:t>
            </a:r>
            <a:r>
              <a:rPr lang="en-US" sz="1800" b="1" dirty="0"/>
              <a:t>transport </a:t>
            </a:r>
            <a:r>
              <a:rPr lang="en-US" sz="1800" b="1" dirty="0" smtClean="0"/>
              <a:t>vesicles</a:t>
            </a:r>
            <a:r>
              <a:rPr lang="en-GB" sz="1800" b="1" dirty="0"/>
              <a:t> </a:t>
            </a:r>
            <a:r>
              <a:rPr lang="en-GB" sz="1800" dirty="0" smtClean="0"/>
              <a:t>and prepares them for export from the cell</a:t>
            </a:r>
          </a:p>
          <a:p>
            <a:pPr marL="292100" lvl="1" indent="-236538">
              <a:buBlip>
                <a:blip r:embed="rId3"/>
              </a:buBlip>
            </a:pPr>
            <a:r>
              <a:rPr lang="en-US" sz="1900" b="1" dirty="0" smtClean="0"/>
              <a:t>Golgi vesicles</a:t>
            </a:r>
            <a:r>
              <a:rPr lang="en-US" sz="2100" dirty="0" smtClean="0"/>
              <a:t>-irregular </a:t>
            </a:r>
            <a:r>
              <a:rPr lang="en-US" sz="2100" dirty="0"/>
              <a:t>sacs near </a:t>
            </a:r>
            <a:r>
              <a:rPr lang="en-US" sz="2100" dirty="0" err="1"/>
              <a:t>golgi</a:t>
            </a:r>
            <a:r>
              <a:rPr lang="en-US" sz="2100" dirty="0"/>
              <a:t> complex that bud off </a:t>
            </a:r>
            <a:r>
              <a:rPr lang="en-US" sz="2100" dirty="0" smtClean="0"/>
              <a:t>cisternae</a:t>
            </a:r>
          </a:p>
          <a:p>
            <a:pPr marL="292100" lvl="1" indent="-236538">
              <a:buBlip>
                <a:blip r:embed="rId3"/>
              </a:buBlip>
            </a:pPr>
            <a:r>
              <a:rPr lang="en-US" sz="1800" dirty="0"/>
              <a:t>S</a:t>
            </a:r>
            <a:r>
              <a:rPr lang="en-US" sz="1800" dirty="0" smtClean="0"/>
              <a:t>ome </a:t>
            </a:r>
            <a:r>
              <a:rPr lang="en-US" sz="1800" dirty="0"/>
              <a:t>become </a:t>
            </a:r>
            <a:r>
              <a:rPr lang="en-US" sz="1800" b="1" dirty="0">
                <a:solidFill>
                  <a:srgbClr val="FF0000"/>
                </a:solidFill>
              </a:rPr>
              <a:t>lysosomes</a:t>
            </a:r>
            <a:r>
              <a:rPr lang="en-US" sz="1800" b="1" dirty="0"/>
              <a:t>,</a:t>
            </a:r>
            <a:r>
              <a:rPr lang="en-US" sz="1800" dirty="0"/>
              <a:t> some </a:t>
            </a:r>
            <a:r>
              <a:rPr lang="en-US" sz="1800" b="1" dirty="0">
                <a:solidFill>
                  <a:srgbClr val="FF0000"/>
                </a:solidFill>
              </a:rPr>
              <a:t>fuse with plasma membrane</a:t>
            </a:r>
            <a:r>
              <a:rPr lang="en-US" sz="1800" b="1" dirty="0"/>
              <a:t> </a:t>
            </a:r>
            <a:r>
              <a:rPr lang="en-US" sz="1800" dirty="0"/>
              <a:t>and some become </a:t>
            </a:r>
            <a:r>
              <a:rPr lang="en-US" sz="1800" b="1" dirty="0"/>
              <a:t>secretory </a:t>
            </a:r>
            <a:r>
              <a:rPr lang="en-US" sz="1800" b="1" dirty="0" smtClean="0"/>
              <a:t>vesicles</a:t>
            </a:r>
            <a:endParaRPr lang="en-GB" sz="2100" b="1" dirty="0" smtClean="0"/>
          </a:p>
          <a:p>
            <a:pPr marL="292100" lvl="1" indent="-236538">
              <a:buBlip>
                <a:blip r:embed="rId3"/>
              </a:buBlip>
            </a:pPr>
            <a:r>
              <a:rPr lang="en-GB" sz="1800" b="1" dirty="0" smtClean="0">
                <a:solidFill>
                  <a:srgbClr val="FF0000"/>
                </a:solidFill>
              </a:rPr>
              <a:t>Storage of various cellular secretions </a:t>
            </a:r>
            <a:r>
              <a:rPr lang="en-GB" sz="1800" dirty="0" smtClean="0"/>
              <a:t>(enzymes, proteins and pectin/cellulose etc. </a:t>
            </a:r>
          </a:p>
          <a:p>
            <a:pPr marL="292100" lvl="1" indent="-236538">
              <a:buBlip>
                <a:blip r:embed="rId3"/>
              </a:buBlip>
            </a:pPr>
            <a:r>
              <a:rPr lang="en-GB" sz="1800" b="1" dirty="0" smtClean="0"/>
              <a:t>Synthesis of lysosomes</a:t>
            </a:r>
            <a:r>
              <a:rPr lang="en-GB" sz="1800" dirty="0" smtClean="0"/>
              <a:t>-storage of digestive enzymes</a:t>
            </a:r>
          </a:p>
          <a:p>
            <a:pPr marL="292100" lvl="1" indent="-236538">
              <a:buBlip>
                <a:blip r:embed="rId3"/>
              </a:buBlip>
            </a:pPr>
            <a:r>
              <a:rPr lang="en-GB" sz="1800" dirty="0" smtClean="0"/>
              <a:t>That is why GB said to be involved in </a:t>
            </a:r>
            <a:r>
              <a:rPr lang="en-GB" sz="1800" b="1" dirty="0" smtClean="0"/>
              <a:t>processing</a:t>
            </a:r>
            <a:r>
              <a:rPr lang="en-GB" sz="1800" dirty="0" smtClean="0"/>
              <a:t>, </a:t>
            </a:r>
            <a:r>
              <a:rPr lang="en-GB" sz="1800" b="1" dirty="0" smtClean="0"/>
              <a:t>secretion</a:t>
            </a:r>
            <a:r>
              <a:rPr lang="en-GB" sz="1800" dirty="0" smtClean="0"/>
              <a:t> and </a:t>
            </a:r>
            <a:r>
              <a:rPr lang="en-GB" sz="1800" b="1" dirty="0"/>
              <a:t>packaging/shipping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58558" y="1"/>
            <a:ext cx="5458929" cy="486136"/>
          </a:xfrm>
        </p:spPr>
        <p:txBody>
          <a:bodyPr>
            <a:normAutofit fontScale="90000"/>
          </a:bodyPr>
          <a:lstStyle/>
          <a:p>
            <a:r>
              <a:rPr lang="en-GB" sz="2800" b="1" dirty="0"/>
              <a:t>Cell structures and functions </a:t>
            </a:r>
            <a:endParaRPr lang="en-GB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716" y="312516"/>
            <a:ext cx="4479402" cy="4791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306" y="5104436"/>
            <a:ext cx="3651812" cy="153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481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088" y="304800"/>
            <a:ext cx="10251311" cy="503238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/>
              <a:t>Cell </a:t>
            </a:r>
            <a:r>
              <a:rPr lang="en-GB" sz="3200" b="1" dirty="0" smtClean="0"/>
              <a:t>Structures </a:t>
            </a:r>
            <a:r>
              <a:rPr lang="en-GB" sz="3200" b="1" dirty="0"/>
              <a:t>and </a:t>
            </a:r>
            <a:r>
              <a:rPr lang="en-GB" sz="3200" b="1" dirty="0" smtClean="0"/>
              <a:t>Functions</a:t>
            </a:r>
            <a:endParaRPr lang="en-US" sz="3200" b="0" dirty="0" smtClean="0">
              <a:solidFill>
                <a:schemeClr val="tx1"/>
              </a:solidFill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68250"/>
            <a:ext cx="6562847" cy="6238754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Ribosomes</a:t>
            </a:r>
            <a:r>
              <a:rPr lang="en-US" sz="2800" b="1" dirty="0" smtClean="0"/>
              <a:t>: </a:t>
            </a:r>
            <a:r>
              <a:rPr lang="en-US" sz="2800" b="1" dirty="0" smtClean="0">
                <a:solidFill>
                  <a:srgbClr val="FF0000"/>
                </a:solidFill>
              </a:rPr>
              <a:t>Protein Factories </a:t>
            </a:r>
          </a:p>
          <a:p>
            <a:pPr>
              <a:buBlip>
                <a:blip r:embed="rId3"/>
              </a:buBlip>
            </a:pPr>
            <a:r>
              <a:rPr lang="en-GB" sz="2400" dirty="0" smtClean="0"/>
              <a:t>Unlike </a:t>
            </a:r>
            <a:r>
              <a:rPr lang="en-GB" sz="2400" dirty="0"/>
              <a:t>most other organelles, ribosomes are </a:t>
            </a:r>
            <a:r>
              <a:rPr lang="en-GB" sz="2400" b="1" dirty="0"/>
              <a:t>not surrounded by a </a:t>
            </a:r>
            <a:r>
              <a:rPr lang="en-GB" sz="2400" b="1" dirty="0" smtClean="0"/>
              <a:t>membrane</a:t>
            </a:r>
          </a:p>
          <a:p>
            <a:pPr>
              <a:buBlip>
                <a:blip r:embed="rId3"/>
              </a:buBlip>
            </a:pPr>
            <a:r>
              <a:rPr lang="en-GB" sz="2400" dirty="0" smtClean="0"/>
              <a:t>Ribosomes </a:t>
            </a:r>
            <a:r>
              <a:rPr lang="en-GB" sz="2400" dirty="0"/>
              <a:t>are the site of protein synthesis in a </a:t>
            </a:r>
            <a:r>
              <a:rPr lang="en-GB" sz="2400" dirty="0" smtClean="0"/>
              <a:t>cell</a:t>
            </a:r>
            <a:r>
              <a:rPr lang="en-GB" sz="2400" dirty="0"/>
              <a:t> </a:t>
            </a:r>
            <a:r>
              <a:rPr lang="en-GB" sz="2400" dirty="0" smtClean="0"/>
              <a:t> </a:t>
            </a:r>
          </a:p>
          <a:p>
            <a:pPr>
              <a:buBlip>
                <a:blip r:embed="rId3"/>
              </a:buBlip>
            </a:pPr>
            <a:r>
              <a:rPr lang="en-GB" sz="2400" dirty="0" smtClean="0"/>
              <a:t>They </a:t>
            </a:r>
            <a:r>
              <a:rPr lang="en-GB" sz="2400" dirty="0"/>
              <a:t>are the most common organelles in almost all </a:t>
            </a:r>
            <a:r>
              <a:rPr lang="en-GB" sz="2400" dirty="0" smtClean="0"/>
              <a:t>cells </a:t>
            </a:r>
            <a:endParaRPr lang="en-US" sz="2400" dirty="0" smtClean="0"/>
          </a:p>
          <a:p>
            <a:pPr eaLnBrk="1" hangingPunct="1">
              <a:buBlip>
                <a:blip r:embed="rId3"/>
              </a:buBlip>
            </a:pPr>
            <a:r>
              <a:rPr lang="en-US" sz="2400" dirty="0" smtClean="0"/>
              <a:t>Ribosome</a:t>
            </a:r>
            <a:r>
              <a:rPr lang="en-US" sz="1900" dirty="0" smtClean="0"/>
              <a:t>s carry out </a:t>
            </a:r>
            <a:r>
              <a:rPr lang="en-US" sz="1900" b="1" dirty="0" smtClean="0"/>
              <a:t>protein synthesis </a:t>
            </a:r>
            <a:endParaRPr lang="en-US" dirty="0" smtClean="0"/>
          </a:p>
        </p:txBody>
      </p:sp>
      <p:sp>
        <p:nvSpPr>
          <p:cNvPr id="77830" name="Rectangle 8"/>
          <p:cNvSpPr>
            <a:spLocks noChangeArrowheads="1"/>
          </p:cNvSpPr>
          <p:nvPr/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rgbClr val="FFBA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9" name="Rectangle 10"/>
          <p:cNvSpPr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solidFill>
            <a:srgbClr val="004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2" descr="FG5_0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203" y="1064871"/>
            <a:ext cx="5883796" cy="548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8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400800" y="763941"/>
            <a:ext cx="5791200" cy="5863349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GB" b="1" dirty="0" smtClean="0">
                <a:solidFill>
                  <a:srgbClr val="FF0000"/>
                </a:solidFill>
              </a:rPr>
              <a:t>Mitochondria (s</a:t>
            </a:r>
            <a:r>
              <a:rPr lang="en-GB" sz="2400" b="1" dirty="0" smtClean="0">
                <a:solidFill>
                  <a:srgbClr val="FF0000"/>
                </a:solidFill>
              </a:rPr>
              <a:t>in. </a:t>
            </a:r>
            <a:r>
              <a:rPr lang="en-GB" sz="2000" b="1" dirty="0">
                <a:solidFill>
                  <a:srgbClr val="FF0000"/>
                </a:solidFill>
              </a:rPr>
              <a:t>m</a:t>
            </a:r>
            <a:r>
              <a:rPr lang="en-GB" sz="2000" b="1" dirty="0" smtClean="0">
                <a:solidFill>
                  <a:srgbClr val="FF0000"/>
                </a:solidFill>
              </a:rPr>
              <a:t>itochondrion</a:t>
            </a:r>
            <a:r>
              <a:rPr lang="en-GB" b="1" dirty="0" smtClean="0">
                <a:solidFill>
                  <a:srgbClr val="FF0000"/>
                </a:solidFill>
              </a:rPr>
              <a:t>):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1800" b="1" dirty="0">
                <a:solidFill>
                  <a:srgbClr val="FF0000"/>
                </a:solidFill>
              </a:rPr>
              <a:t>Chemical Energy Conversion</a:t>
            </a:r>
            <a:r>
              <a:rPr lang="en-GB" sz="1800" b="1" dirty="0" smtClean="0">
                <a:solidFill>
                  <a:srgbClr val="FF0000"/>
                </a:solidFill>
              </a:rPr>
              <a:t>  </a:t>
            </a:r>
            <a:endParaRPr lang="en-GB" sz="1800" b="1" dirty="0">
              <a:solidFill>
                <a:srgbClr val="FF0000"/>
              </a:solidFill>
            </a:endParaRPr>
          </a:p>
          <a:p>
            <a:pPr>
              <a:buBlip>
                <a:blip r:embed="rId2"/>
              </a:buBlip>
            </a:pPr>
            <a:r>
              <a:rPr lang="en-GB" sz="2000" dirty="0"/>
              <a:t>A</a:t>
            </a:r>
            <a:r>
              <a:rPr lang="en-GB" sz="2000" dirty="0" smtClean="0"/>
              <a:t>re </a:t>
            </a:r>
            <a:r>
              <a:rPr lang="en-GB" sz="2000" dirty="0"/>
              <a:t>the </a:t>
            </a:r>
            <a:r>
              <a:rPr lang="en-GB" sz="2000" b="1" dirty="0"/>
              <a:t>“power houses” </a:t>
            </a:r>
            <a:r>
              <a:rPr lang="en-GB" sz="2000" dirty="0"/>
              <a:t>of a </a:t>
            </a:r>
            <a:r>
              <a:rPr lang="en-GB" sz="2000" dirty="0" smtClean="0"/>
              <a:t>cell-generate </a:t>
            </a:r>
            <a:r>
              <a:rPr lang="en-GB" sz="2000" b="1" dirty="0" smtClean="0"/>
              <a:t>cellular energy  </a:t>
            </a:r>
          </a:p>
          <a:p>
            <a:pPr>
              <a:buBlip>
                <a:blip r:embed="rId2"/>
              </a:buBlip>
            </a:pPr>
            <a:r>
              <a:rPr lang="en-GB" sz="2000" dirty="0" smtClean="0"/>
              <a:t>Are </a:t>
            </a:r>
            <a:r>
              <a:rPr lang="en-GB" sz="2000" dirty="0"/>
              <a:t>site of </a:t>
            </a:r>
            <a:r>
              <a:rPr lang="en-GB" sz="2000" b="1" dirty="0"/>
              <a:t>oxidative phosphorylation </a:t>
            </a:r>
            <a:r>
              <a:rPr lang="en-GB" sz="2000" dirty="0" smtClean="0"/>
              <a:t>(</a:t>
            </a:r>
            <a:r>
              <a:rPr lang="en-GB" sz="2000" b="1" dirty="0" smtClean="0"/>
              <a:t>cellular respiration</a:t>
            </a:r>
            <a:r>
              <a:rPr lang="en-GB" sz="2000" dirty="0" smtClean="0"/>
              <a:t>)</a:t>
            </a:r>
          </a:p>
          <a:p>
            <a:pPr>
              <a:buBlip>
                <a:blip r:embed="rId2"/>
              </a:buBlip>
            </a:pPr>
            <a:r>
              <a:rPr lang="en-GB" sz="2000" dirty="0" smtClean="0"/>
              <a:t>Can synthesis their </a:t>
            </a:r>
            <a:r>
              <a:rPr lang="en-GB" sz="2000" b="1" dirty="0" smtClean="0"/>
              <a:t>own proteins</a:t>
            </a:r>
            <a:r>
              <a:rPr lang="en-GB" sz="2000" dirty="0" smtClean="0"/>
              <a:t>, as they have their own </a:t>
            </a:r>
            <a:r>
              <a:rPr lang="en-GB" sz="2000" b="1" dirty="0" smtClean="0"/>
              <a:t>DNA and ribosome</a:t>
            </a:r>
          </a:p>
          <a:p>
            <a:pPr>
              <a:buBlip>
                <a:blip r:embed="rId2"/>
              </a:buBlip>
            </a:pPr>
            <a:r>
              <a:rPr lang="en-GB" sz="2000" dirty="0" smtClean="0"/>
              <a:t>Are not dependant on other organelles for </a:t>
            </a:r>
            <a:r>
              <a:rPr lang="en-GB" sz="2000" b="1" dirty="0" smtClean="0"/>
              <a:t>protein synthesis </a:t>
            </a:r>
            <a:r>
              <a:rPr lang="en-GB" sz="2000" dirty="0" smtClean="0"/>
              <a:t>  </a:t>
            </a:r>
          </a:p>
          <a:p>
            <a:pPr>
              <a:buBlip>
                <a:blip r:embed="rId2"/>
              </a:buBlip>
            </a:pPr>
            <a:r>
              <a:rPr lang="en-GB" sz="2000" dirty="0"/>
              <a:t>A</a:t>
            </a:r>
            <a:r>
              <a:rPr lang="en-GB" sz="2000" dirty="0" smtClean="0"/>
              <a:t>re </a:t>
            </a:r>
            <a:r>
              <a:rPr lang="en-GB" sz="2000" b="1" dirty="0" smtClean="0">
                <a:solidFill>
                  <a:srgbClr val="3366FF"/>
                </a:solidFill>
              </a:rPr>
              <a:t>unusual organelles</a:t>
            </a:r>
            <a:r>
              <a:rPr lang="en-GB" sz="2000" dirty="0" smtClean="0"/>
              <a:t> in two ways </a:t>
            </a:r>
          </a:p>
          <a:p>
            <a:pPr marL="633413" lvl="2" indent="-285750" defTabSz="509588">
              <a:buBlip>
                <a:blip r:embed="rId3"/>
              </a:buBlip>
            </a:pPr>
            <a:r>
              <a:rPr lang="en-GB" sz="1800" dirty="0"/>
              <a:t>H</a:t>
            </a:r>
            <a:r>
              <a:rPr lang="en-GB" sz="1800" dirty="0" smtClean="0"/>
              <a:t>ave </a:t>
            </a:r>
            <a:r>
              <a:rPr lang="en-GB" sz="1800" dirty="0"/>
              <a:t>their own </a:t>
            </a:r>
            <a:r>
              <a:rPr lang="en-GB" sz="1800" b="1" dirty="0">
                <a:solidFill>
                  <a:srgbClr val="00B050"/>
                </a:solidFill>
              </a:rPr>
              <a:t>U</a:t>
            </a:r>
            <a:r>
              <a:rPr lang="en-GB" sz="1800" b="1" dirty="0" smtClean="0">
                <a:solidFill>
                  <a:srgbClr val="00B050"/>
                </a:solidFill>
              </a:rPr>
              <a:t>nique </a:t>
            </a:r>
            <a:r>
              <a:rPr lang="en-GB" sz="1800" b="1" dirty="0">
                <a:solidFill>
                  <a:srgbClr val="00B050"/>
                </a:solidFill>
              </a:rPr>
              <a:t>DNA </a:t>
            </a:r>
            <a:r>
              <a:rPr lang="en-GB" sz="1800" dirty="0"/>
              <a:t>called </a:t>
            </a:r>
            <a:r>
              <a:rPr lang="en-GB" sz="1800" dirty="0" smtClean="0"/>
              <a:t>Mitochondrial DNA</a:t>
            </a:r>
          </a:p>
          <a:p>
            <a:pPr marL="633413" lvl="2" indent="-285750" defTabSz="509588">
              <a:buBlip>
                <a:blip r:embed="rId3"/>
              </a:buBlip>
            </a:pPr>
            <a:r>
              <a:rPr lang="en-GB" sz="1800" dirty="0"/>
              <a:t>H</a:t>
            </a:r>
            <a:r>
              <a:rPr lang="en-GB" sz="1800" dirty="0" smtClean="0"/>
              <a:t>ave </a:t>
            </a:r>
            <a:r>
              <a:rPr lang="en-GB" sz="1800" dirty="0"/>
              <a:t>the ability to </a:t>
            </a:r>
            <a:r>
              <a:rPr lang="en-GB" sz="1800" b="1" dirty="0">
                <a:solidFill>
                  <a:srgbClr val="00B050"/>
                </a:solidFill>
              </a:rPr>
              <a:t>R</a:t>
            </a:r>
            <a:r>
              <a:rPr lang="en-GB" sz="1800" b="1" dirty="0" smtClean="0">
                <a:solidFill>
                  <a:srgbClr val="00B050"/>
                </a:solidFill>
              </a:rPr>
              <a:t>eplicate </a:t>
            </a:r>
            <a:r>
              <a:rPr lang="en-GB" sz="1800" b="1" dirty="0">
                <a:solidFill>
                  <a:srgbClr val="00B050"/>
                </a:solidFill>
              </a:rPr>
              <a:t>T</a:t>
            </a:r>
            <a:r>
              <a:rPr lang="en-GB" sz="1800" b="1" dirty="0" smtClean="0">
                <a:solidFill>
                  <a:srgbClr val="00B050"/>
                </a:solidFill>
              </a:rPr>
              <a:t>hemselves</a:t>
            </a:r>
            <a:endParaRPr lang="en-GB" sz="1800" dirty="0"/>
          </a:p>
          <a:p>
            <a:pPr marL="82296" indent="0">
              <a:buNone/>
            </a:pP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238" y="810228"/>
            <a:ext cx="4861368" cy="4051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54238" y="0"/>
            <a:ext cx="10557346" cy="555585"/>
          </a:xfrm>
        </p:spPr>
        <p:txBody>
          <a:bodyPr>
            <a:normAutofit/>
          </a:bodyPr>
          <a:lstStyle/>
          <a:p>
            <a:r>
              <a:rPr lang="en-GB" sz="2800" b="1" dirty="0"/>
              <a:t>Cell </a:t>
            </a:r>
            <a:r>
              <a:rPr lang="en-GB" sz="2800" b="1" dirty="0" smtClean="0"/>
              <a:t>Structures </a:t>
            </a:r>
            <a:r>
              <a:rPr lang="en-GB" sz="2800" b="1" dirty="0"/>
              <a:t>and </a:t>
            </a:r>
            <a:r>
              <a:rPr lang="en-GB" sz="2800" b="1" dirty="0" smtClean="0"/>
              <a:t>Functions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0986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119" y="0"/>
            <a:ext cx="9997440" cy="486137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Cellular</a:t>
            </a:r>
            <a:r>
              <a:rPr lang="en-GB" sz="3200" b="1" dirty="0" smtClean="0">
                <a:solidFill>
                  <a:srgbClr val="00B050"/>
                </a:solidFill>
                <a:effectLst/>
              </a:rPr>
              <a:t> </a:t>
            </a:r>
            <a:r>
              <a:rPr lang="en-GB" sz="32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Diversity</a:t>
            </a:r>
            <a:r>
              <a:rPr lang="en-GB" sz="3200" dirty="0" smtClean="0">
                <a:solidFill>
                  <a:srgbClr val="00B050"/>
                </a:solidFill>
              </a:rPr>
              <a:t> </a:t>
            </a:r>
            <a:endParaRPr lang="en-GB" sz="3200" dirty="0">
              <a:solidFill>
                <a:srgbClr val="00B05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628650"/>
            <a:ext cx="5791200" cy="6229350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GB" sz="2000" dirty="0" smtClean="0"/>
              <a:t>Cells are </a:t>
            </a:r>
            <a:r>
              <a:rPr lang="en-GB" sz="2000" dirty="0"/>
              <a:t>very </a:t>
            </a:r>
            <a:r>
              <a:rPr lang="en-GB" sz="2000" b="1" dirty="0" smtClean="0">
                <a:solidFill>
                  <a:srgbClr val="CC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Diverse</a:t>
            </a:r>
            <a:r>
              <a:rPr lang="en-GB" sz="2000" dirty="0" smtClean="0"/>
              <a:t> in </a:t>
            </a:r>
            <a:r>
              <a:rPr lang="en-GB" sz="2000" dirty="0"/>
              <a:t>their </a:t>
            </a:r>
            <a:endParaRPr lang="en-GB" sz="2000" dirty="0" smtClean="0"/>
          </a:p>
          <a:p>
            <a:pPr lvl="4">
              <a:buClr>
                <a:srgbClr val="FF00FF"/>
              </a:buClr>
              <a:buBlip>
                <a:blip r:embed="rId4"/>
              </a:buBlip>
            </a:pPr>
            <a:r>
              <a:rPr lang="en-GB" dirty="0" smtClean="0"/>
              <a:t> Size</a:t>
            </a:r>
            <a:r>
              <a:rPr lang="en-GB" dirty="0"/>
              <a:t>, </a:t>
            </a:r>
            <a:endParaRPr lang="en-GB" dirty="0" smtClean="0"/>
          </a:p>
          <a:p>
            <a:pPr lvl="4">
              <a:buClr>
                <a:srgbClr val="FF00FF"/>
              </a:buClr>
              <a:buBlip>
                <a:blip r:embed="rId4"/>
              </a:buBlip>
            </a:pPr>
            <a:r>
              <a:rPr lang="en-GB" dirty="0" smtClean="0"/>
              <a:t> Shape </a:t>
            </a:r>
            <a:r>
              <a:rPr lang="en-GB" dirty="0"/>
              <a:t>and </a:t>
            </a:r>
            <a:endParaRPr lang="en-GB" dirty="0" smtClean="0"/>
          </a:p>
          <a:p>
            <a:pPr lvl="4">
              <a:buClr>
                <a:srgbClr val="FF00FF"/>
              </a:buClr>
              <a:buBlip>
                <a:blip r:embed="rId4"/>
              </a:buBlip>
            </a:pPr>
            <a:r>
              <a:rPr lang="en-GB" dirty="0"/>
              <a:t> </a:t>
            </a:r>
            <a:r>
              <a:rPr lang="en-GB" dirty="0" smtClean="0"/>
              <a:t>Their internal </a:t>
            </a:r>
            <a:r>
              <a:rPr lang="en-GB" dirty="0"/>
              <a:t>structure </a:t>
            </a:r>
            <a:r>
              <a:rPr lang="en-GB" dirty="0" smtClean="0"/>
              <a:t> </a:t>
            </a:r>
            <a:endParaRPr lang="en-GB" b="1" dirty="0"/>
          </a:p>
          <a:p>
            <a:pPr marL="82296" indent="0">
              <a:buClr>
                <a:srgbClr val="FF00FF"/>
              </a:buClr>
              <a:buNone/>
            </a:pPr>
            <a:r>
              <a:rPr lang="en-GB" b="1" dirty="0" smtClean="0">
                <a:solidFill>
                  <a:srgbClr val="00B050"/>
                </a:solidFill>
              </a:rPr>
              <a:t>Cell </a:t>
            </a:r>
            <a:r>
              <a:rPr lang="en-GB" b="1" dirty="0">
                <a:solidFill>
                  <a:srgbClr val="00B050"/>
                </a:solidFill>
              </a:rPr>
              <a:t>Shape</a:t>
            </a:r>
            <a:r>
              <a:rPr lang="en-GB" dirty="0">
                <a:solidFill>
                  <a:srgbClr val="00B050"/>
                </a:solidFill>
              </a:rPr>
              <a:t> </a:t>
            </a:r>
            <a:endParaRPr lang="en-GB" dirty="0" smtClean="0">
              <a:solidFill>
                <a:srgbClr val="00B050"/>
              </a:solidFill>
            </a:endParaRPr>
          </a:p>
          <a:p>
            <a:pPr>
              <a:buClr>
                <a:srgbClr val="00B050"/>
              </a:buClr>
              <a:buBlip>
                <a:blip r:embed="rId4"/>
              </a:buBlip>
            </a:pPr>
            <a:r>
              <a:rPr lang="en-GB" sz="2000" b="1" dirty="0"/>
              <a:t>Nerve cells </a:t>
            </a:r>
            <a:r>
              <a:rPr lang="en-GB" sz="2000" dirty="0"/>
              <a:t>have long extensions </a:t>
            </a:r>
            <a:endParaRPr lang="en-GB" sz="2000" dirty="0" smtClean="0"/>
          </a:p>
          <a:p>
            <a:pPr>
              <a:buClr>
                <a:srgbClr val="00B050"/>
              </a:buClr>
              <a:buBlip>
                <a:blip r:embed="rId4"/>
              </a:buBlip>
            </a:pPr>
            <a:r>
              <a:rPr lang="en-GB" sz="2000" b="1" dirty="0" smtClean="0"/>
              <a:t>Skin </a:t>
            </a:r>
            <a:r>
              <a:rPr lang="en-GB" sz="2000" b="1" dirty="0"/>
              <a:t>cells </a:t>
            </a:r>
            <a:r>
              <a:rPr lang="en-GB" sz="2000" dirty="0" smtClean="0"/>
              <a:t>are </a:t>
            </a:r>
            <a:r>
              <a:rPr lang="en-GB" sz="2000" b="1" dirty="0" smtClean="0"/>
              <a:t>flat </a:t>
            </a:r>
          </a:p>
          <a:p>
            <a:pPr>
              <a:buClr>
                <a:srgbClr val="00B050"/>
              </a:buClr>
              <a:buBlip>
                <a:blip r:embed="rId4"/>
              </a:buBlip>
            </a:pPr>
            <a:r>
              <a:rPr lang="en-GB" sz="2000" b="1" dirty="0" smtClean="0"/>
              <a:t>Egg cells </a:t>
            </a:r>
            <a:r>
              <a:rPr lang="en-GB" sz="2000" dirty="0" smtClean="0"/>
              <a:t>are oval in shape </a:t>
            </a:r>
          </a:p>
          <a:p>
            <a:pPr marL="82296" indent="0">
              <a:buClr>
                <a:srgbClr val="00B050"/>
              </a:buClr>
              <a:buNone/>
            </a:pPr>
            <a:endParaRPr lang="en-GB" sz="2000" dirty="0" smtClean="0"/>
          </a:p>
          <a:p>
            <a:pPr marL="82296" indent="0">
              <a:buClr>
                <a:srgbClr val="00B050"/>
              </a:buClr>
              <a:buNone/>
            </a:pPr>
            <a:r>
              <a:rPr lang="en-GB" b="1" dirty="0" smtClean="0">
                <a:solidFill>
                  <a:srgbClr val="00B050"/>
                </a:solidFill>
              </a:rPr>
              <a:t>Cell Size</a:t>
            </a:r>
            <a:r>
              <a:rPr lang="en-GB" dirty="0" smtClean="0">
                <a:solidFill>
                  <a:srgbClr val="00B050"/>
                </a:solidFill>
              </a:rPr>
              <a:t> </a:t>
            </a:r>
          </a:p>
          <a:p>
            <a:pPr>
              <a:buClr>
                <a:srgbClr val="00B050"/>
              </a:buClr>
              <a:buBlip>
                <a:blip r:embed="rId4"/>
              </a:buBlip>
            </a:pPr>
            <a:r>
              <a:rPr lang="en-GB" sz="2400" dirty="0" smtClean="0"/>
              <a:t>Most are </a:t>
            </a:r>
            <a:r>
              <a:rPr lang="en-GB" sz="2400" b="1" dirty="0"/>
              <a:t>M</a:t>
            </a:r>
            <a:r>
              <a:rPr lang="en-GB" sz="2400" b="1" dirty="0" smtClean="0"/>
              <a:t>icroscopic </a:t>
            </a:r>
          </a:p>
          <a:p>
            <a:pPr>
              <a:buClr>
                <a:srgbClr val="00B050"/>
              </a:buClr>
              <a:buBlip>
                <a:blip r:embed="rId4"/>
              </a:buBlip>
            </a:pPr>
            <a:r>
              <a:rPr lang="en-GB" sz="2400" dirty="0" smtClean="0"/>
              <a:t>Some are </a:t>
            </a:r>
            <a:r>
              <a:rPr lang="en-GB" sz="2400" b="1" dirty="0"/>
              <a:t>M</a:t>
            </a:r>
            <a:r>
              <a:rPr lang="en-GB" sz="2400" b="1" dirty="0" smtClean="0"/>
              <a:t>acroscopic</a:t>
            </a:r>
            <a:r>
              <a:rPr lang="en-GB" sz="2400" dirty="0" smtClean="0"/>
              <a:t> </a:t>
            </a:r>
            <a:r>
              <a:rPr lang="en-GB" sz="2400" dirty="0"/>
              <a:t>Example, egg of birds/reptiles and a neuron cell of giraffe, which is 2 meters in </a:t>
            </a:r>
            <a:r>
              <a:rPr lang="en-GB" sz="2400" dirty="0" smtClean="0"/>
              <a:t>length</a:t>
            </a:r>
            <a:r>
              <a:rPr lang="en-GB" sz="2400" dirty="0"/>
              <a:t/>
            </a:r>
            <a:br>
              <a:rPr lang="en-GB" sz="2400" dirty="0"/>
            </a:br>
            <a:endParaRPr lang="en-GB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606" y="947739"/>
            <a:ext cx="4618298" cy="306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Make a sketch of the human nerve cell. What function do nerve cells  perform? - CBSE Class 8 Science - Learn CBSE Foru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075" y="4305783"/>
            <a:ext cx="4317357" cy="1435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38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65813" y="0"/>
            <a:ext cx="10545771" cy="590309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effectLst/>
              </a:rPr>
              <a:t/>
            </a:r>
            <a:br>
              <a:rPr lang="en-GB" b="1" dirty="0" smtClean="0">
                <a:effectLst/>
              </a:rPr>
            </a:br>
            <a:r>
              <a:rPr lang="en-GB" sz="3600" b="1" dirty="0" smtClean="0">
                <a:solidFill>
                  <a:srgbClr val="00B050"/>
                </a:solidFill>
                <a:effectLst/>
              </a:rPr>
              <a:t>Transport </a:t>
            </a:r>
            <a:r>
              <a:rPr lang="en-GB" sz="3600" b="1" dirty="0">
                <a:solidFill>
                  <a:srgbClr val="00B050"/>
                </a:solidFill>
                <a:effectLst/>
              </a:rPr>
              <a:t>across the cell membranes</a:t>
            </a:r>
            <a:r>
              <a:rPr lang="en-GB" sz="3600" dirty="0">
                <a:solidFill>
                  <a:srgbClr val="00B050"/>
                </a:solidFill>
              </a:rPr>
              <a:t> </a:t>
            </a:r>
            <a:br>
              <a:rPr lang="en-GB" sz="3600" dirty="0">
                <a:solidFill>
                  <a:srgbClr val="00B050"/>
                </a:solidFill>
              </a:rPr>
            </a:br>
            <a:endParaRPr lang="en-GB" sz="3600" dirty="0">
              <a:solidFill>
                <a:srgbClr val="00B05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76350" y="567159"/>
            <a:ext cx="7416236" cy="6088284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70000"/>
              </a:lnSpc>
              <a:buBlip>
                <a:blip r:embed="rId2"/>
              </a:buBlip>
            </a:pPr>
            <a:r>
              <a:rPr lang="en-GB" sz="5500" dirty="0"/>
              <a:t>The plasma membrane is </a:t>
            </a:r>
            <a:r>
              <a:rPr lang="en-GB" sz="5500" b="1" dirty="0"/>
              <a:t>selectively </a:t>
            </a:r>
            <a:r>
              <a:rPr lang="en-GB" sz="5500" b="1" dirty="0" smtClean="0"/>
              <a:t>permeable</a:t>
            </a:r>
            <a:r>
              <a:rPr lang="en-GB" sz="5500" dirty="0"/>
              <a:t> </a:t>
            </a:r>
            <a:endParaRPr lang="en-GB" sz="5500" dirty="0" smtClean="0"/>
          </a:p>
          <a:p>
            <a:pPr>
              <a:lnSpc>
                <a:spcPct val="170000"/>
              </a:lnSpc>
              <a:buBlip>
                <a:blip r:embed="rId2"/>
              </a:buBlip>
            </a:pPr>
            <a:r>
              <a:rPr lang="en-GB" sz="5500" dirty="0" smtClean="0"/>
              <a:t>This govern the transport system</a:t>
            </a:r>
            <a:r>
              <a:rPr lang="en-GB" sz="5500" dirty="0"/>
              <a:t> </a:t>
            </a:r>
            <a:endParaRPr lang="en-GB" sz="5500" dirty="0" smtClean="0"/>
          </a:p>
          <a:p>
            <a:pPr>
              <a:lnSpc>
                <a:spcPct val="170000"/>
              </a:lnSpc>
              <a:buBlip>
                <a:blip r:embed="rId2"/>
              </a:buBlip>
            </a:pPr>
            <a:r>
              <a:rPr lang="en-US" sz="5500" b="1" dirty="0" smtClean="0"/>
              <a:t>2 </a:t>
            </a:r>
            <a:r>
              <a:rPr lang="en-US" sz="5500" b="1" dirty="0"/>
              <a:t>types of transport across membranes</a:t>
            </a:r>
            <a:r>
              <a:rPr lang="en-US" sz="5500" b="1" dirty="0" smtClean="0"/>
              <a:t>:</a:t>
            </a:r>
            <a:endParaRPr lang="en-US" sz="5500" b="1" u="sng" dirty="0" smtClean="0"/>
          </a:p>
          <a:p>
            <a:pPr marL="347663" indent="-290513">
              <a:lnSpc>
                <a:spcPct val="120000"/>
              </a:lnSpc>
              <a:buNone/>
            </a:pPr>
            <a:r>
              <a:rPr lang="en-US" sz="7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Passive</a:t>
            </a:r>
            <a:r>
              <a:rPr lang="en-US" sz="5500" dirty="0" smtClean="0"/>
              <a:t>- transport </a:t>
            </a:r>
            <a:r>
              <a:rPr lang="en-US" sz="5500" dirty="0"/>
              <a:t>that does not require any energy. (moves from high to </a:t>
            </a:r>
            <a:endParaRPr lang="en-US" sz="5500" dirty="0" smtClean="0"/>
          </a:p>
          <a:p>
            <a:pPr marL="347663" indent="-290513">
              <a:lnSpc>
                <a:spcPct val="120000"/>
              </a:lnSpc>
              <a:buNone/>
            </a:pPr>
            <a:r>
              <a:rPr lang="en-US" sz="5500" dirty="0"/>
              <a:t> </a:t>
            </a:r>
            <a:r>
              <a:rPr lang="en-US" sz="5500" dirty="0" smtClean="0"/>
              <a:t>                  low </a:t>
            </a:r>
            <a:r>
              <a:rPr lang="en-US" sz="5500" dirty="0"/>
              <a:t>concentration</a:t>
            </a:r>
            <a:r>
              <a:rPr lang="en-US" sz="5500" dirty="0" smtClean="0"/>
              <a:t>)</a:t>
            </a:r>
          </a:p>
          <a:p>
            <a:pPr marL="854075" lvl="1" indent="-171450">
              <a:buBlip>
                <a:blip r:embed="rId3"/>
              </a:buBlip>
              <a:defRPr/>
            </a:pPr>
            <a:r>
              <a:rPr lang="en-US" sz="5500" dirty="0" smtClean="0"/>
              <a:t> Diffusion</a:t>
            </a:r>
            <a:endParaRPr lang="en-US" sz="5500" dirty="0"/>
          </a:p>
          <a:p>
            <a:pPr marL="854075" lvl="1" indent="-171450">
              <a:buBlip>
                <a:blip r:embed="rId3"/>
              </a:buBlip>
              <a:defRPr/>
            </a:pPr>
            <a:r>
              <a:rPr lang="en-US" sz="5500" dirty="0" smtClean="0"/>
              <a:t> Facilitated Diffusion- Diffusion </a:t>
            </a:r>
            <a:r>
              <a:rPr lang="en-US" sz="5500" dirty="0"/>
              <a:t>with  the help of transport proteins </a:t>
            </a:r>
          </a:p>
          <a:p>
            <a:pPr marL="854075" lvl="1" indent="-171450">
              <a:buBlip>
                <a:blip r:embed="rId3"/>
              </a:buBlip>
              <a:defRPr/>
            </a:pPr>
            <a:r>
              <a:rPr lang="en-US" sz="5500" dirty="0" smtClean="0"/>
              <a:t> Osmosis- Diffusion </a:t>
            </a:r>
            <a:r>
              <a:rPr lang="en-US" sz="5500" dirty="0"/>
              <a:t>of water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7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</a:t>
            </a:r>
            <a:r>
              <a:rPr lang="en-US" sz="5500" b="1" u="sng" dirty="0" smtClean="0"/>
              <a:t> </a:t>
            </a:r>
            <a:r>
              <a:rPr lang="en-US" sz="5500" dirty="0" smtClean="0"/>
              <a:t>- </a:t>
            </a:r>
            <a:r>
              <a:rPr lang="en-US" sz="5500" dirty="0"/>
              <a:t>transport that requires energy. (moves from low to high </a:t>
            </a:r>
            <a:r>
              <a:rPr lang="en-US" sz="5500" dirty="0" smtClean="0"/>
              <a:t> </a:t>
            </a:r>
          </a:p>
          <a:p>
            <a:pPr marL="82296" indent="0">
              <a:lnSpc>
                <a:spcPct val="120000"/>
              </a:lnSpc>
              <a:buNone/>
            </a:pPr>
            <a:r>
              <a:rPr lang="en-US" sz="5500" dirty="0"/>
              <a:t> </a:t>
            </a:r>
            <a:r>
              <a:rPr lang="en-US" sz="5500" dirty="0" smtClean="0"/>
              <a:t>                  concentration)</a:t>
            </a:r>
          </a:p>
          <a:p>
            <a:pPr marL="971550" lvl="1" indent="-173038">
              <a:lnSpc>
                <a:spcPct val="170000"/>
              </a:lnSpc>
              <a:buBlip>
                <a:blip r:embed="rId3"/>
              </a:buBlip>
              <a:defRPr/>
            </a:pPr>
            <a:r>
              <a:rPr lang="en-US" sz="5500" dirty="0" smtClean="0"/>
              <a:t> Protein Pumps</a:t>
            </a:r>
          </a:p>
          <a:p>
            <a:pPr marL="971550" lvl="1" indent="-173038">
              <a:buBlip>
                <a:blip r:embed="rId3"/>
              </a:buBlip>
              <a:defRPr/>
            </a:pPr>
            <a:r>
              <a:rPr lang="en-US" sz="5500" dirty="0" smtClean="0"/>
              <a:t> Endocytosis</a:t>
            </a:r>
          </a:p>
          <a:p>
            <a:pPr marL="971550" lvl="1" indent="-173038">
              <a:buBlip>
                <a:blip r:embed="rId3"/>
              </a:buBlip>
              <a:defRPr/>
            </a:pPr>
            <a:r>
              <a:rPr lang="en-US" sz="5500" dirty="0" smtClean="0"/>
              <a:t> Exocytosis</a:t>
            </a:r>
          </a:p>
          <a:p>
            <a:endParaRPr lang="en-US" u="sng" dirty="0"/>
          </a:p>
          <a:p>
            <a:pPr marL="82296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  <p:grpSp>
        <p:nvGrpSpPr>
          <p:cNvPr id="8" name="Group 82"/>
          <p:cNvGrpSpPr>
            <a:grpSpLocks/>
          </p:cNvGrpSpPr>
          <p:nvPr/>
        </p:nvGrpSpPr>
        <p:grpSpPr bwMode="auto">
          <a:xfrm>
            <a:off x="9534353" y="787429"/>
            <a:ext cx="2364421" cy="3017838"/>
            <a:chOff x="3072" y="442"/>
            <a:chExt cx="2064" cy="1901"/>
          </a:xfrm>
        </p:grpSpPr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3072" y="442"/>
              <a:ext cx="2064" cy="1901"/>
              <a:chOff x="3072" y="442"/>
              <a:chExt cx="2064" cy="1901"/>
            </a:xfrm>
          </p:grpSpPr>
          <p:sp>
            <p:nvSpPr>
              <p:cNvPr id="11" name="Line 6"/>
              <p:cNvSpPr>
                <a:spLocks noChangeShapeType="1"/>
              </p:cNvSpPr>
              <p:nvPr/>
            </p:nvSpPr>
            <p:spPr bwMode="auto">
              <a:xfrm>
                <a:off x="4176" y="1248"/>
                <a:ext cx="33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" name="Group 7"/>
              <p:cNvGrpSpPr>
                <a:grpSpLocks/>
              </p:cNvGrpSpPr>
              <p:nvPr/>
            </p:nvGrpSpPr>
            <p:grpSpPr bwMode="auto">
              <a:xfrm>
                <a:off x="3072" y="442"/>
                <a:ext cx="2064" cy="1901"/>
                <a:chOff x="3120" y="442"/>
                <a:chExt cx="2064" cy="1901"/>
              </a:xfrm>
            </p:grpSpPr>
            <p:sp>
              <p:nvSpPr>
                <p:cNvPr id="13" name="Line 8"/>
                <p:cNvSpPr>
                  <a:spLocks noChangeShapeType="1"/>
                </p:cNvSpPr>
                <p:nvPr/>
              </p:nvSpPr>
              <p:spPr bwMode="auto">
                <a:xfrm>
                  <a:off x="3984" y="1152"/>
                  <a:ext cx="48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4" name="Group 9"/>
                <p:cNvGrpSpPr>
                  <a:grpSpLocks/>
                </p:cNvGrpSpPr>
                <p:nvPr/>
              </p:nvGrpSpPr>
              <p:grpSpPr bwMode="auto">
                <a:xfrm>
                  <a:off x="3120" y="442"/>
                  <a:ext cx="2064" cy="1901"/>
                  <a:chOff x="3120" y="442"/>
                  <a:chExt cx="2064" cy="1901"/>
                </a:xfrm>
              </p:grpSpPr>
              <p:sp>
                <p:nvSpPr>
                  <p:cNvPr id="15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88" y="1152"/>
                    <a:ext cx="96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124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124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8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3120" y="442"/>
                    <a:ext cx="2064" cy="1901"/>
                    <a:chOff x="3120" y="442"/>
                    <a:chExt cx="2064" cy="1901"/>
                  </a:xfrm>
                </p:grpSpPr>
                <p:sp>
                  <p:nvSpPr>
                    <p:cNvPr id="19" name="Freeform 14"/>
                    <p:cNvSpPr>
                      <a:spLocks/>
                    </p:cNvSpPr>
                    <p:nvPr/>
                  </p:nvSpPr>
                  <p:spPr bwMode="auto">
                    <a:xfrm>
                      <a:off x="3120" y="1296"/>
                      <a:ext cx="1877" cy="827"/>
                    </a:xfrm>
                    <a:custGeom>
                      <a:avLst/>
                      <a:gdLst>
                        <a:gd name="T0" fmla="*/ 0 w 1877"/>
                        <a:gd name="T1" fmla="*/ 814 h 827"/>
                        <a:gd name="T2" fmla="*/ 88 w 1877"/>
                        <a:gd name="T3" fmla="*/ 781 h 827"/>
                        <a:gd name="T4" fmla="*/ 135 w 1877"/>
                        <a:gd name="T5" fmla="*/ 753 h 827"/>
                        <a:gd name="T6" fmla="*/ 183 w 1877"/>
                        <a:gd name="T7" fmla="*/ 692 h 827"/>
                        <a:gd name="T8" fmla="*/ 291 w 1877"/>
                        <a:gd name="T9" fmla="*/ 604 h 827"/>
                        <a:gd name="T10" fmla="*/ 386 w 1877"/>
                        <a:gd name="T11" fmla="*/ 482 h 827"/>
                        <a:gd name="T12" fmla="*/ 420 w 1877"/>
                        <a:gd name="T13" fmla="*/ 421 h 827"/>
                        <a:gd name="T14" fmla="*/ 434 w 1877"/>
                        <a:gd name="T15" fmla="*/ 401 h 827"/>
                        <a:gd name="T16" fmla="*/ 454 w 1877"/>
                        <a:gd name="T17" fmla="*/ 340 h 827"/>
                        <a:gd name="T18" fmla="*/ 481 w 1877"/>
                        <a:gd name="T19" fmla="*/ 299 h 827"/>
                        <a:gd name="T20" fmla="*/ 495 w 1877"/>
                        <a:gd name="T21" fmla="*/ 279 h 827"/>
                        <a:gd name="T22" fmla="*/ 583 w 1877"/>
                        <a:gd name="T23" fmla="*/ 150 h 827"/>
                        <a:gd name="T24" fmla="*/ 678 w 1877"/>
                        <a:gd name="T25" fmla="*/ 69 h 827"/>
                        <a:gd name="T26" fmla="*/ 718 w 1877"/>
                        <a:gd name="T27" fmla="*/ 35 h 827"/>
                        <a:gd name="T28" fmla="*/ 759 w 1877"/>
                        <a:gd name="T29" fmla="*/ 22 h 827"/>
                        <a:gd name="T30" fmla="*/ 799 w 1877"/>
                        <a:gd name="T31" fmla="*/ 8 h 827"/>
                        <a:gd name="T32" fmla="*/ 1003 w 1877"/>
                        <a:gd name="T33" fmla="*/ 55 h 827"/>
                        <a:gd name="T34" fmla="*/ 1057 w 1877"/>
                        <a:gd name="T35" fmla="*/ 123 h 827"/>
                        <a:gd name="T36" fmla="*/ 1091 w 1877"/>
                        <a:gd name="T37" fmla="*/ 184 h 827"/>
                        <a:gd name="T38" fmla="*/ 1132 w 1877"/>
                        <a:gd name="T39" fmla="*/ 245 h 827"/>
                        <a:gd name="T40" fmla="*/ 1159 w 1877"/>
                        <a:gd name="T41" fmla="*/ 306 h 827"/>
                        <a:gd name="T42" fmla="*/ 1199 w 1877"/>
                        <a:gd name="T43" fmla="*/ 381 h 827"/>
                        <a:gd name="T44" fmla="*/ 1226 w 1877"/>
                        <a:gd name="T45" fmla="*/ 462 h 827"/>
                        <a:gd name="T46" fmla="*/ 1254 w 1877"/>
                        <a:gd name="T47" fmla="*/ 503 h 827"/>
                        <a:gd name="T48" fmla="*/ 1308 w 1877"/>
                        <a:gd name="T49" fmla="*/ 645 h 827"/>
                        <a:gd name="T50" fmla="*/ 1355 w 1877"/>
                        <a:gd name="T51" fmla="*/ 706 h 827"/>
                        <a:gd name="T52" fmla="*/ 1375 w 1877"/>
                        <a:gd name="T53" fmla="*/ 747 h 827"/>
                        <a:gd name="T54" fmla="*/ 1450 w 1877"/>
                        <a:gd name="T55" fmla="*/ 767 h 827"/>
                        <a:gd name="T56" fmla="*/ 1619 w 1877"/>
                        <a:gd name="T57" fmla="*/ 808 h 827"/>
                        <a:gd name="T58" fmla="*/ 1877 w 1877"/>
                        <a:gd name="T59" fmla="*/ 814 h 827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1877"/>
                        <a:gd name="T91" fmla="*/ 0 h 827"/>
                        <a:gd name="T92" fmla="*/ 1877 w 1877"/>
                        <a:gd name="T93" fmla="*/ 827 h 827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1877" h="827">
                          <a:moveTo>
                            <a:pt x="0" y="814"/>
                          </a:moveTo>
                          <a:cubicBezTo>
                            <a:pt x="29" y="805"/>
                            <a:pt x="62" y="798"/>
                            <a:pt x="88" y="781"/>
                          </a:cubicBezTo>
                          <a:cubicBezTo>
                            <a:pt x="138" y="750"/>
                            <a:pt x="94" y="768"/>
                            <a:pt x="135" y="753"/>
                          </a:cubicBezTo>
                          <a:cubicBezTo>
                            <a:pt x="157" y="732"/>
                            <a:pt x="160" y="711"/>
                            <a:pt x="183" y="692"/>
                          </a:cubicBezTo>
                          <a:cubicBezTo>
                            <a:pt x="219" y="662"/>
                            <a:pt x="262" y="647"/>
                            <a:pt x="291" y="604"/>
                          </a:cubicBezTo>
                          <a:cubicBezTo>
                            <a:pt x="321" y="560"/>
                            <a:pt x="350" y="520"/>
                            <a:pt x="386" y="482"/>
                          </a:cubicBezTo>
                          <a:cubicBezTo>
                            <a:pt x="398" y="447"/>
                            <a:pt x="390" y="466"/>
                            <a:pt x="420" y="421"/>
                          </a:cubicBezTo>
                          <a:cubicBezTo>
                            <a:pt x="425" y="414"/>
                            <a:pt x="434" y="401"/>
                            <a:pt x="434" y="401"/>
                          </a:cubicBezTo>
                          <a:cubicBezTo>
                            <a:pt x="449" y="353"/>
                            <a:pt x="442" y="374"/>
                            <a:pt x="454" y="340"/>
                          </a:cubicBezTo>
                          <a:cubicBezTo>
                            <a:pt x="459" y="325"/>
                            <a:pt x="472" y="313"/>
                            <a:pt x="481" y="299"/>
                          </a:cubicBezTo>
                          <a:cubicBezTo>
                            <a:pt x="486" y="292"/>
                            <a:pt x="495" y="279"/>
                            <a:pt x="495" y="279"/>
                          </a:cubicBezTo>
                          <a:cubicBezTo>
                            <a:pt x="509" y="235"/>
                            <a:pt x="537" y="165"/>
                            <a:pt x="583" y="150"/>
                          </a:cubicBezTo>
                          <a:cubicBezTo>
                            <a:pt x="605" y="117"/>
                            <a:pt x="647" y="95"/>
                            <a:pt x="678" y="69"/>
                          </a:cubicBezTo>
                          <a:cubicBezTo>
                            <a:pt x="694" y="56"/>
                            <a:pt x="699" y="43"/>
                            <a:pt x="718" y="35"/>
                          </a:cubicBezTo>
                          <a:cubicBezTo>
                            <a:pt x="731" y="29"/>
                            <a:pt x="745" y="26"/>
                            <a:pt x="759" y="22"/>
                          </a:cubicBezTo>
                          <a:cubicBezTo>
                            <a:pt x="772" y="18"/>
                            <a:pt x="799" y="8"/>
                            <a:pt x="799" y="8"/>
                          </a:cubicBezTo>
                          <a:cubicBezTo>
                            <a:pt x="954" y="16"/>
                            <a:pt x="914" y="0"/>
                            <a:pt x="1003" y="55"/>
                          </a:cubicBezTo>
                          <a:cubicBezTo>
                            <a:pt x="1042" y="111"/>
                            <a:pt x="1023" y="89"/>
                            <a:pt x="1057" y="123"/>
                          </a:cubicBezTo>
                          <a:cubicBezTo>
                            <a:pt x="1064" y="145"/>
                            <a:pt x="1091" y="184"/>
                            <a:pt x="1091" y="184"/>
                          </a:cubicBezTo>
                          <a:cubicBezTo>
                            <a:pt x="1100" y="212"/>
                            <a:pt x="1111" y="225"/>
                            <a:pt x="1132" y="245"/>
                          </a:cubicBezTo>
                          <a:cubicBezTo>
                            <a:pt x="1147" y="294"/>
                            <a:pt x="1137" y="274"/>
                            <a:pt x="1159" y="306"/>
                          </a:cubicBezTo>
                          <a:cubicBezTo>
                            <a:pt x="1168" y="335"/>
                            <a:pt x="1181" y="356"/>
                            <a:pt x="1199" y="381"/>
                          </a:cubicBezTo>
                          <a:cubicBezTo>
                            <a:pt x="1207" y="403"/>
                            <a:pt x="1214" y="440"/>
                            <a:pt x="1226" y="462"/>
                          </a:cubicBezTo>
                          <a:cubicBezTo>
                            <a:pt x="1234" y="476"/>
                            <a:pt x="1254" y="503"/>
                            <a:pt x="1254" y="503"/>
                          </a:cubicBezTo>
                          <a:cubicBezTo>
                            <a:pt x="1269" y="553"/>
                            <a:pt x="1291" y="596"/>
                            <a:pt x="1308" y="645"/>
                          </a:cubicBezTo>
                          <a:cubicBezTo>
                            <a:pt x="1316" y="669"/>
                            <a:pt x="1355" y="706"/>
                            <a:pt x="1355" y="706"/>
                          </a:cubicBezTo>
                          <a:cubicBezTo>
                            <a:pt x="1358" y="715"/>
                            <a:pt x="1366" y="742"/>
                            <a:pt x="1375" y="747"/>
                          </a:cubicBezTo>
                          <a:cubicBezTo>
                            <a:pt x="1458" y="795"/>
                            <a:pt x="1354" y="700"/>
                            <a:pt x="1450" y="767"/>
                          </a:cubicBezTo>
                          <a:cubicBezTo>
                            <a:pt x="1502" y="803"/>
                            <a:pt x="1557" y="803"/>
                            <a:pt x="1619" y="808"/>
                          </a:cubicBezTo>
                          <a:cubicBezTo>
                            <a:pt x="1727" y="827"/>
                            <a:pt x="1641" y="814"/>
                            <a:pt x="1877" y="814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" name="Oval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36" y="816"/>
                      <a:ext cx="96" cy="144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1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84" y="960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" name="Oval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88" y="1248"/>
                      <a:ext cx="48" cy="48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" name="Line 1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792" y="1008"/>
                      <a:ext cx="192" cy="4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84" y="1008"/>
                      <a:ext cx="144" cy="4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5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08" y="1920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6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744" y="1536"/>
                      <a:ext cx="432" cy="231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/>
                        <a:t>high</a:t>
                      </a:r>
                    </a:p>
                  </p:txBody>
                </p:sp>
                <p:sp>
                  <p:nvSpPr>
                    <p:cNvPr id="27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608" y="2112"/>
                      <a:ext cx="576" cy="231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dirty="0"/>
                        <a:t>low</a:t>
                      </a:r>
                    </a:p>
                  </p:txBody>
                </p:sp>
                <p:sp>
                  <p:nvSpPr>
                    <p:cNvPr id="28" name="AutoShape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03" y="442"/>
                      <a:ext cx="1385" cy="235"/>
                    </a:xfrm>
                    <a:prstGeom prst="wedgeEllipseCallout">
                      <a:avLst>
                        <a:gd name="adj1" fmla="val -43750"/>
                        <a:gd name="adj2" fmla="val 70000"/>
                      </a:avLst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pPr algn="ctr" eaLnBrk="1" hangingPunct="1"/>
                      <a:r>
                        <a:rPr lang="en-US" dirty="0" err="1"/>
                        <a:t>Weeee</a:t>
                      </a:r>
                      <a:r>
                        <a:rPr lang="en-US" dirty="0"/>
                        <a:t>!!!</a:t>
                      </a:r>
                    </a:p>
                  </p:txBody>
                </p:sp>
                <p:sp>
                  <p:nvSpPr>
                    <p:cNvPr id="29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032" y="1776"/>
                      <a:ext cx="528" cy="4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10" name="Oval 80"/>
            <p:cNvSpPr>
              <a:spLocks noChangeArrowheads="1"/>
            </p:cNvSpPr>
            <p:nvPr/>
          </p:nvSpPr>
          <p:spPr bwMode="auto">
            <a:xfrm>
              <a:off x="3792" y="12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" name="Group 81"/>
          <p:cNvGrpSpPr>
            <a:grpSpLocks/>
          </p:cNvGrpSpPr>
          <p:nvPr/>
        </p:nvGrpSpPr>
        <p:grpSpPr bwMode="auto">
          <a:xfrm>
            <a:off x="8692586" y="4048940"/>
            <a:ext cx="3499773" cy="2652712"/>
            <a:chOff x="2880" y="2400"/>
            <a:chExt cx="2840" cy="1671"/>
          </a:xfrm>
        </p:grpSpPr>
        <p:grpSp>
          <p:nvGrpSpPr>
            <p:cNvPr id="31" name="Group 25"/>
            <p:cNvGrpSpPr>
              <a:grpSpLocks/>
            </p:cNvGrpSpPr>
            <p:nvPr/>
          </p:nvGrpSpPr>
          <p:grpSpPr bwMode="auto">
            <a:xfrm>
              <a:off x="2880" y="2400"/>
              <a:ext cx="2840" cy="1671"/>
              <a:chOff x="2976" y="2400"/>
              <a:chExt cx="2840" cy="1671"/>
            </a:xfrm>
          </p:grpSpPr>
          <p:sp>
            <p:nvSpPr>
              <p:cNvPr id="34" name="Oval 26"/>
              <p:cNvSpPr>
                <a:spLocks noChangeArrowheads="1"/>
              </p:cNvSpPr>
              <p:nvPr/>
            </p:nvSpPr>
            <p:spPr bwMode="auto">
              <a:xfrm>
                <a:off x="4560" y="369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5" name="Group 27"/>
              <p:cNvGrpSpPr>
                <a:grpSpLocks/>
              </p:cNvGrpSpPr>
              <p:nvPr/>
            </p:nvGrpSpPr>
            <p:grpSpPr bwMode="auto">
              <a:xfrm>
                <a:off x="2976" y="2400"/>
                <a:ext cx="2840" cy="1671"/>
                <a:chOff x="2976" y="2400"/>
                <a:chExt cx="2840" cy="1671"/>
              </a:xfrm>
            </p:grpSpPr>
            <p:sp>
              <p:nvSpPr>
                <p:cNvPr id="36" name="Freeform 28"/>
                <p:cNvSpPr>
                  <a:spLocks/>
                </p:cNvSpPr>
                <p:nvPr/>
              </p:nvSpPr>
              <p:spPr bwMode="auto">
                <a:xfrm>
                  <a:off x="2976" y="2933"/>
                  <a:ext cx="1877" cy="827"/>
                </a:xfrm>
                <a:custGeom>
                  <a:avLst/>
                  <a:gdLst>
                    <a:gd name="T0" fmla="*/ 0 w 1877"/>
                    <a:gd name="T1" fmla="*/ 814 h 827"/>
                    <a:gd name="T2" fmla="*/ 88 w 1877"/>
                    <a:gd name="T3" fmla="*/ 781 h 827"/>
                    <a:gd name="T4" fmla="*/ 135 w 1877"/>
                    <a:gd name="T5" fmla="*/ 753 h 827"/>
                    <a:gd name="T6" fmla="*/ 183 w 1877"/>
                    <a:gd name="T7" fmla="*/ 692 h 827"/>
                    <a:gd name="T8" fmla="*/ 291 w 1877"/>
                    <a:gd name="T9" fmla="*/ 604 h 827"/>
                    <a:gd name="T10" fmla="*/ 386 w 1877"/>
                    <a:gd name="T11" fmla="*/ 482 h 827"/>
                    <a:gd name="T12" fmla="*/ 420 w 1877"/>
                    <a:gd name="T13" fmla="*/ 421 h 827"/>
                    <a:gd name="T14" fmla="*/ 434 w 1877"/>
                    <a:gd name="T15" fmla="*/ 401 h 827"/>
                    <a:gd name="T16" fmla="*/ 454 w 1877"/>
                    <a:gd name="T17" fmla="*/ 340 h 827"/>
                    <a:gd name="T18" fmla="*/ 481 w 1877"/>
                    <a:gd name="T19" fmla="*/ 299 h 827"/>
                    <a:gd name="T20" fmla="*/ 495 w 1877"/>
                    <a:gd name="T21" fmla="*/ 279 h 827"/>
                    <a:gd name="T22" fmla="*/ 583 w 1877"/>
                    <a:gd name="T23" fmla="*/ 150 h 827"/>
                    <a:gd name="T24" fmla="*/ 678 w 1877"/>
                    <a:gd name="T25" fmla="*/ 69 h 827"/>
                    <a:gd name="T26" fmla="*/ 718 w 1877"/>
                    <a:gd name="T27" fmla="*/ 35 h 827"/>
                    <a:gd name="T28" fmla="*/ 759 w 1877"/>
                    <a:gd name="T29" fmla="*/ 22 h 827"/>
                    <a:gd name="T30" fmla="*/ 799 w 1877"/>
                    <a:gd name="T31" fmla="*/ 8 h 827"/>
                    <a:gd name="T32" fmla="*/ 1003 w 1877"/>
                    <a:gd name="T33" fmla="*/ 55 h 827"/>
                    <a:gd name="T34" fmla="*/ 1057 w 1877"/>
                    <a:gd name="T35" fmla="*/ 123 h 827"/>
                    <a:gd name="T36" fmla="*/ 1091 w 1877"/>
                    <a:gd name="T37" fmla="*/ 184 h 827"/>
                    <a:gd name="T38" fmla="*/ 1132 w 1877"/>
                    <a:gd name="T39" fmla="*/ 245 h 827"/>
                    <a:gd name="T40" fmla="*/ 1159 w 1877"/>
                    <a:gd name="T41" fmla="*/ 306 h 827"/>
                    <a:gd name="T42" fmla="*/ 1199 w 1877"/>
                    <a:gd name="T43" fmla="*/ 381 h 827"/>
                    <a:gd name="T44" fmla="*/ 1226 w 1877"/>
                    <a:gd name="T45" fmla="*/ 462 h 827"/>
                    <a:gd name="T46" fmla="*/ 1254 w 1877"/>
                    <a:gd name="T47" fmla="*/ 503 h 827"/>
                    <a:gd name="T48" fmla="*/ 1308 w 1877"/>
                    <a:gd name="T49" fmla="*/ 645 h 827"/>
                    <a:gd name="T50" fmla="*/ 1355 w 1877"/>
                    <a:gd name="T51" fmla="*/ 706 h 827"/>
                    <a:gd name="T52" fmla="*/ 1375 w 1877"/>
                    <a:gd name="T53" fmla="*/ 747 h 827"/>
                    <a:gd name="T54" fmla="*/ 1450 w 1877"/>
                    <a:gd name="T55" fmla="*/ 767 h 827"/>
                    <a:gd name="T56" fmla="*/ 1619 w 1877"/>
                    <a:gd name="T57" fmla="*/ 808 h 827"/>
                    <a:gd name="T58" fmla="*/ 1877 w 1877"/>
                    <a:gd name="T59" fmla="*/ 814 h 827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877"/>
                    <a:gd name="T91" fmla="*/ 0 h 827"/>
                    <a:gd name="T92" fmla="*/ 1877 w 1877"/>
                    <a:gd name="T93" fmla="*/ 827 h 827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877" h="827">
                      <a:moveTo>
                        <a:pt x="0" y="814"/>
                      </a:moveTo>
                      <a:cubicBezTo>
                        <a:pt x="29" y="805"/>
                        <a:pt x="62" y="798"/>
                        <a:pt x="88" y="781"/>
                      </a:cubicBezTo>
                      <a:cubicBezTo>
                        <a:pt x="138" y="750"/>
                        <a:pt x="94" y="768"/>
                        <a:pt x="135" y="753"/>
                      </a:cubicBezTo>
                      <a:cubicBezTo>
                        <a:pt x="157" y="732"/>
                        <a:pt x="160" y="711"/>
                        <a:pt x="183" y="692"/>
                      </a:cubicBezTo>
                      <a:cubicBezTo>
                        <a:pt x="219" y="662"/>
                        <a:pt x="262" y="647"/>
                        <a:pt x="291" y="604"/>
                      </a:cubicBezTo>
                      <a:cubicBezTo>
                        <a:pt x="321" y="560"/>
                        <a:pt x="350" y="520"/>
                        <a:pt x="386" y="482"/>
                      </a:cubicBezTo>
                      <a:cubicBezTo>
                        <a:pt x="398" y="447"/>
                        <a:pt x="390" y="466"/>
                        <a:pt x="420" y="421"/>
                      </a:cubicBezTo>
                      <a:cubicBezTo>
                        <a:pt x="425" y="414"/>
                        <a:pt x="434" y="401"/>
                        <a:pt x="434" y="401"/>
                      </a:cubicBezTo>
                      <a:cubicBezTo>
                        <a:pt x="449" y="353"/>
                        <a:pt x="442" y="374"/>
                        <a:pt x="454" y="340"/>
                      </a:cubicBezTo>
                      <a:cubicBezTo>
                        <a:pt x="459" y="325"/>
                        <a:pt x="472" y="313"/>
                        <a:pt x="481" y="299"/>
                      </a:cubicBezTo>
                      <a:cubicBezTo>
                        <a:pt x="486" y="292"/>
                        <a:pt x="495" y="279"/>
                        <a:pt x="495" y="279"/>
                      </a:cubicBezTo>
                      <a:cubicBezTo>
                        <a:pt x="509" y="235"/>
                        <a:pt x="537" y="165"/>
                        <a:pt x="583" y="150"/>
                      </a:cubicBezTo>
                      <a:cubicBezTo>
                        <a:pt x="605" y="117"/>
                        <a:pt x="647" y="95"/>
                        <a:pt x="678" y="69"/>
                      </a:cubicBezTo>
                      <a:cubicBezTo>
                        <a:pt x="694" y="56"/>
                        <a:pt x="699" y="43"/>
                        <a:pt x="718" y="35"/>
                      </a:cubicBezTo>
                      <a:cubicBezTo>
                        <a:pt x="731" y="29"/>
                        <a:pt x="745" y="26"/>
                        <a:pt x="759" y="22"/>
                      </a:cubicBezTo>
                      <a:cubicBezTo>
                        <a:pt x="772" y="18"/>
                        <a:pt x="799" y="8"/>
                        <a:pt x="799" y="8"/>
                      </a:cubicBezTo>
                      <a:cubicBezTo>
                        <a:pt x="954" y="16"/>
                        <a:pt x="914" y="0"/>
                        <a:pt x="1003" y="55"/>
                      </a:cubicBezTo>
                      <a:cubicBezTo>
                        <a:pt x="1042" y="111"/>
                        <a:pt x="1023" y="89"/>
                        <a:pt x="1057" y="123"/>
                      </a:cubicBezTo>
                      <a:cubicBezTo>
                        <a:pt x="1064" y="145"/>
                        <a:pt x="1091" y="184"/>
                        <a:pt x="1091" y="184"/>
                      </a:cubicBezTo>
                      <a:cubicBezTo>
                        <a:pt x="1100" y="212"/>
                        <a:pt x="1111" y="225"/>
                        <a:pt x="1132" y="245"/>
                      </a:cubicBezTo>
                      <a:cubicBezTo>
                        <a:pt x="1147" y="294"/>
                        <a:pt x="1137" y="274"/>
                        <a:pt x="1159" y="306"/>
                      </a:cubicBezTo>
                      <a:cubicBezTo>
                        <a:pt x="1168" y="335"/>
                        <a:pt x="1181" y="356"/>
                        <a:pt x="1199" y="381"/>
                      </a:cubicBezTo>
                      <a:cubicBezTo>
                        <a:pt x="1207" y="403"/>
                        <a:pt x="1214" y="440"/>
                        <a:pt x="1226" y="462"/>
                      </a:cubicBezTo>
                      <a:cubicBezTo>
                        <a:pt x="1234" y="476"/>
                        <a:pt x="1254" y="503"/>
                        <a:pt x="1254" y="503"/>
                      </a:cubicBezTo>
                      <a:cubicBezTo>
                        <a:pt x="1269" y="553"/>
                        <a:pt x="1291" y="596"/>
                        <a:pt x="1308" y="645"/>
                      </a:cubicBezTo>
                      <a:cubicBezTo>
                        <a:pt x="1316" y="669"/>
                        <a:pt x="1355" y="706"/>
                        <a:pt x="1355" y="706"/>
                      </a:cubicBezTo>
                      <a:cubicBezTo>
                        <a:pt x="1358" y="715"/>
                        <a:pt x="1366" y="742"/>
                        <a:pt x="1375" y="747"/>
                      </a:cubicBezTo>
                      <a:cubicBezTo>
                        <a:pt x="1458" y="795"/>
                        <a:pt x="1354" y="700"/>
                        <a:pt x="1450" y="767"/>
                      </a:cubicBezTo>
                      <a:cubicBezTo>
                        <a:pt x="1502" y="803"/>
                        <a:pt x="1557" y="803"/>
                        <a:pt x="1619" y="808"/>
                      </a:cubicBezTo>
                      <a:cubicBezTo>
                        <a:pt x="1727" y="827"/>
                        <a:pt x="1641" y="814"/>
                        <a:pt x="1877" y="814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Oval 29"/>
                <p:cNvSpPr>
                  <a:spLocks noChangeArrowheads="1"/>
                </p:cNvSpPr>
                <p:nvPr/>
              </p:nvSpPr>
              <p:spPr bwMode="auto">
                <a:xfrm>
                  <a:off x="4417" y="3648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30"/>
                <p:cNvSpPr>
                  <a:spLocks noChangeArrowheads="1"/>
                </p:cNvSpPr>
                <p:nvPr/>
              </p:nvSpPr>
              <p:spPr bwMode="auto">
                <a:xfrm>
                  <a:off x="4513" y="3264"/>
                  <a:ext cx="96" cy="1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31"/>
                <p:cNvSpPr>
                  <a:spLocks noChangeShapeType="1"/>
                </p:cNvSpPr>
                <p:nvPr/>
              </p:nvSpPr>
              <p:spPr bwMode="auto">
                <a:xfrm flipH="1" flipV="1">
                  <a:off x="4369" y="3408"/>
                  <a:ext cx="192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Line 32"/>
                <p:cNvSpPr>
                  <a:spLocks noChangeShapeType="1"/>
                </p:cNvSpPr>
                <p:nvPr/>
              </p:nvSpPr>
              <p:spPr bwMode="auto">
                <a:xfrm>
                  <a:off x="4561" y="3408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4465" y="3600"/>
                  <a:ext cx="96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Line 34"/>
                <p:cNvSpPr>
                  <a:spLocks noChangeShapeType="1"/>
                </p:cNvSpPr>
                <p:nvPr/>
              </p:nvSpPr>
              <p:spPr bwMode="auto">
                <a:xfrm>
                  <a:off x="4561" y="3600"/>
                  <a:ext cx="48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4561" y="3408"/>
                  <a:ext cx="144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Line 36"/>
                <p:cNvSpPr>
                  <a:spLocks noChangeShapeType="1"/>
                </p:cNvSpPr>
                <p:nvPr/>
              </p:nvSpPr>
              <p:spPr bwMode="auto">
                <a:xfrm flipH="1" flipV="1">
                  <a:off x="4033" y="2880"/>
                  <a:ext cx="336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841" y="2880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Line 38"/>
                <p:cNvSpPr>
                  <a:spLocks noChangeShapeType="1"/>
                </p:cNvSpPr>
                <p:nvPr/>
              </p:nvSpPr>
              <p:spPr bwMode="auto">
                <a:xfrm flipH="1" flipV="1">
                  <a:off x="3985" y="3312"/>
                  <a:ext cx="336" cy="52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601" y="3120"/>
                  <a:ext cx="432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/>
                    <a:t>high</a:t>
                  </a:r>
                </a:p>
              </p:txBody>
            </p:sp>
            <p:sp>
              <p:nvSpPr>
                <p:cNvPr id="4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417" y="3840"/>
                  <a:ext cx="432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/>
                    <a:t>low</a:t>
                  </a:r>
                </a:p>
              </p:txBody>
            </p:sp>
            <p:sp>
              <p:nvSpPr>
                <p:cNvPr id="49" name="AutoShape 41"/>
                <p:cNvSpPr>
                  <a:spLocks noChangeArrowheads="1"/>
                </p:cNvSpPr>
                <p:nvPr/>
              </p:nvSpPr>
              <p:spPr bwMode="auto">
                <a:xfrm>
                  <a:off x="4321" y="2400"/>
                  <a:ext cx="1495" cy="816"/>
                </a:xfrm>
                <a:prstGeom prst="wedgeEllipseCallout">
                  <a:avLst>
                    <a:gd name="adj1" fmla="val -34375"/>
                    <a:gd name="adj2" fmla="val 65319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1" hangingPunct="1"/>
                  <a:r>
                    <a:rPr lang="en-US" dirty="0"/>
                    <a:t>This is </a:t>
                  </a:r>
                  <a:r>
                    <a:rPr lang="en-US" dirty="0" err="1"/>
                    <a:t>gonna</a:t>
                  </a:r>
                  <a:r>
                    <a:rPr lang="en-US" dirty="0"/>
                    <a:t> be hard work!!</a:t>
                  </a:r>
                </a:p>
              </p:txBody>
            </p:sp>
          </p:grpSp>
        </p:grpSp>
        <p:sp>
          <p:nvSpPr>
            <p:cNvPr id="32" name="Oval 78"/>
            <p:cNvSpPr>
              <a:spLocks noChangeArrowheads="1"/>
            </p:cNvSpPr>
            <p:nvPr/>
          </p:nvSpPr>
          <p:spPr bwMode="auto">
            <a:xfrm>
              <a:off x="4512" y="36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79"/>
            <p:cNvSpPr>
              <a:spLocks noChangeArrowheads="1"/>
            </p:cNvSpPr>
            <p:nvPr/>
          </p:nvSpPr>
          <p:spPr bwMode="auto">
            <a:xfrm>
              <a:off x="4368" y="369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371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437" y="544010"/>
            <a:ext cx="7212253" cy="3113590"/>
          </a:xfrm>
        </p:spPr>
        <p:txBody>
          <a:bodyPr/>
          <a:lstStyle/>
          <a:p>
            <a:pPr marL="82296" indent="0">
              <a:spcBef>
                <a:spcPct val="50000"/>
              </a:spcBef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sym typeface="Times New Roman" pitchFamily="18" charset="0"/>
              </a:rPr>
              <a:t>Simple Diffusion</a:t>
            </a:r>
            <a:endParaRPr lang="en-US" altLang="en-US" sz="2400" b="1" dirty="0" smtClean="0">
              <a:solidFill>
                <a:srgbClr val="FF0000"/>
              </a:solidFill>
              <a:latin typeface="Times New Roman" pitchFamily="18" charset="0"/>
              <a:sym typeface="Times New Roman" pitchFamily="18" charset="0"/>
            </a:endParaRP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Doesn’t require energy</a:t>
            </a:r>
            <a:endParaRPr lang="en-US" altLang="en-US" sz="2400" dirty="0" smtClean="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Moves high to low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concentration</a:t>
            </a:r>
            <a:endParaRPr lang="en-US" altLang="en-US" sz="2400" dirty="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Example: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sym typeface="Times New Roman" pitchFamily="18" charset="0"/>
              </a:rPr>
              <a:t>Oxygen or water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 diffusing into a cell and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carbon dioxide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diffusing 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out</a:t>
            </a:r>
            <a:endParaRPr lang="en-US" sz="2400" dirty="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5" name="Title 5"/>
          <p:cNvSpPr>
            <a:spLocks noGrp="1"/>
          </p:cNvSpPr>
          <p:nvPr>
            <p:ph type="title"/>
          </p:nvPr>
        </p:nvSpPr>
        <p:spPr>
          <a:xfrm>
            <a:off x="1341437" y="1"/>
            <a:ext cx="7212254" cy="625032"/>
          </a:xfrm>
        </p:spPr>
        <p:txBody>
          <a:bodyPr>
            <a:noAutofit/>
          </a:bodyPr>
          <a:lstStyle/>
          <a:p>
            <a:r>
              <a:rPr lang="en-GB" sz="2800" b="1" dirty="0" smtClean="0">
                <a:effectLst/>
              </a:rPr>
              <a:t/>
            </a:r>
            <a:br>
              <a:rPr lang="en-GB" sz="2800" b="1" dirty="0" smtClean="0">
                <a:effectLst/>
              </a:rPr>
            </a:br>
            <a:r>
              <a:rPr lang="en-GB" sz="2800" b="1" dirty="0" smtClean="0">
                <a:solidFill>
                  <a:srgbClr val="00B050"/>
                </a:solidFill>
                <a:effectLst/>
              </a:rPr>
              <a:t>Transport </a:t>
            </a:r>
            <a:r>
              <a:rPr lang="en-GB" sz="2800" b="1" dirty="0">
                <a:solidFill>
                  <a:srgbClr val="00B050"/>
                </a:solidFill>
                <a:effectLst/>
              </a:rPr>
              <a:t>A</a:t>
            </a:r>
            <a:r>
              <a:rPr lang="en-GB" sz="2800" b="1" dirty="0" smtClean="0">
                <a:solidFill>
                  <a:srgbClr val="00B050"/>
                </a:solidFill>
                <a:effectLst/>
              </a:rPr>
              <a:t>cross </a:t>
            </a:r>
            <a:r>
              <a:rPr lang="en-GB" sz="2800" b="1" dirty="0">
                <a:solidFill>
                  <a:srgbClr val="00B050"/>
                </a:solidFill>
                <a:effectLst/>
              </a:rPr>
              <a:t>the </a:t>
            </a:r>
            <a:r>
              <a:rPr lang="en-GB" sz="2800" b="1" dirty="0" smtClean="0">
                <a:solidFill>
                  <a:srgbClr val="00B050"/>
                </a:solidFill>
                <a:effectLst/>
              </a:rPr>
              <a:t>Cell </a:t>
            </a:r>
            <a:r>
              <a:rPr lang="en-GB" sz="2800" b="1" dirty="0">
                <a:solidFill>
                  <a:srgbClr val="00B050"/>
                </a:solidFill>
                <a:effectLst/>
              </a:rPr>
              <a:t>M</a:t>
            </a:r>
            <a:r>
              <a:rPr lang="en-GB" sz="2800" b="1" dirty="0" smtClean="0">
                <a:solidFill>
                  <a:srgbClr val="00B050"/>
                </a:solidFill>
                <a:effectLst/>
              </a:rPr>
              <a:t>embranes</a:t>
            </a:r>
            <a:r>
              <a:rPr lang="en-GB" sz="2800" dirty="0" smtClean="0">
                <a:solidFill>
                  <a:srgbClr val="00B050"/>
                </a:solidFill>
              </a:rPr>
              <a:t> </a:t>
            </a:r>
            <a:r>
              <a:rPr lang="en-GB" sz="2800" dirty="0">
                <a:solidFill>
                  <a:srgbClr val="00B050"/>
                </a:solidFill>
              </a:rPr>
              <a:t/>
            </a:r>
            <a:br>
              <a:rPr lang="en-GB" sz="2800" dirty="0">
                <a:solidFill>
                  <a:srgbClr val="00B050"/>
                </a:solidFill>
              </a:rPr>
            </a:br>
            <a:endParaRPr lang="en-GB" sz="2800" dirty="0">
              <a:solidFill>
                <a:srgbClr val="00B050"/>
              </a:solidFill>
            </a:endParaRPr>
          </a:p>
        </p:txBody>
      </p:sp>
      <p:pic>
        <p:nvPicPr>
          <p:cNvPr id="6" name="Picture 5" descr="FG05_07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4" r="69469" b="4622"/>
          <a:stretch>
            <a:fillRect/>
          </a:stretch>
        </p:blipFill>
        <p:spPr bwMode="auto">
          <a:xfrm>
            <a:off x="8553691" y="208345"/>
            <a:ext cx="3379808" cy="3657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7" y="3865945"/>
            <a:ext cx="6888163" cy="2715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/>
          </p:cNvSpPr>
          <p:nvPr/>
        </p:nvSpPr>
        <p:spPr bwMode="auto">
          <a:xfrm>
            <a:off x="7179860" y="4039422"/>
            <a:ext cx="1709495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rIns="82296">
            <a:spAutoFit/>
          </a:bodyPr>
          <a:lstStyle/>
          <a:p>
            <a:pPr marL="36513" defTabSz="822325">
              <a:lnSpc>
                <a:spcPct val="90000"/>
              </a:lnSpc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lipid-soluble molecules</a:t>
            </a:r>
          </a:p>
          <a:p>
            <a:pPr marL="36513" defTabSz="822325">
              <a:lnSpc>
                <a:spcPct val="90000"/>
              </a:lnSpc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and O</a:t>
            </a:r>
            <a:r>
              <a:rPr lang="en-US" sz="1200" b="1" baseline="-25000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2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, CO</a:t>
            </a:r>
            <a:r>
              <a:rPr lang="en-US" sz="1200" b="1" baseline="-25000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2</a:t>
            </a:r>
          </a:p>
        </p:txBody>
      </p:sp>
      <p:sp>
        <p:nvSpPr>
          <p:cNvPr id="9" name="Rectangle 3"/>
          <p:cNvSpPr>
            <a:spLocks/>
          </p:cNvSpPr>
          <p:nvPr/>
        </p:nvSpPr>
        <p:spPr bwMode="auto">
          <a:xfrm>
            <a:off x="8553691" y="6018353"/>
            <a:ext cx="10384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82296">
            <a:spAutoFit/>
          </a:bodyPr>
          <a:lstStyle/>
          <a:p>
            <a:pPr marL="36513" algn="l" defTabSz="822325"/>
            <a:r>
              <a:rPr lang="en-US" b="1" dirty="0">
                <a:solidFill>
                  <a:srgbClr val="000000"/>
                </a:solidFill>
                <a:latin typeface="Arial Italic" charset="0"/>
                <a:cs typeface="Arial Italic" charset="0"/>
                <a:sym typeface="Arial Italic" charset="0"/>
              </a:rPr>
              <a:t>(cytosol)</a:t>
            </a:r>
          </a:p>
        </p:txBody>
      </p:sp>
      <p:sp>
        <p:nvSpPr>
          <p:cNvPr id="10" name="Rectangle 4"/>
          <p:cNvSpPr>
            <a:spLocks/>
          </p:cNvSpPr>
          <p:nvPr/>
        </p:nvSpPr>
        <p:spPr bwMode="auto">
          <a:xfrm>
            <a:off x="8747918" y="4074150"/>
            <a:ext cx="184159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82296">
            <a:spAutoFit/>
          </a:bodyPr>
          <a:lstStyle/>
          <a:p>
            <a:pPr marL="36513" algn="l" defTabSz="822325"/>
            <a:r>
              <a:rPr lang="en-US" sz="1600" b="1" dirty="0">
                <a:solidFill>
                  <a:srgbClr val="000000"/>
                </a:solidFill>
                <a:latin typeface="Arial Italic" charset="0"/>
                <a:cs typeface="Arial Italic" charset="0"/>
                <a:sym typeface="Arial Italic" charset="0"/>
              </a:rPr>
              <a:t>(extracellular fluid)</a:t>
            </a:r>
          </a:p>
        </p:txBody>
      </p:sp>
      <p:pic>
        <p:nvPicPr>
          <p:cNvPr id="11" name="Picture 2" descr="http://www.biologycorner.com/resources/diffusion-animated.gif"/>
          <p:cNvPicPr>
            <a:picLocks noChangeAspect="1" noChangeArrowheads="1" noCrop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41437" y="4180673"/>
            <a:ext cx="3554654" cy="2400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658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813" y="0"/>
            <a:ext cx="10826187" cy="868101"/>
          </a:xfrm>
        </p:spPr>
        <p:txBody>
          <a:bodyPr/>
          <a:lstStyle/>
          <a:p>
            <a:r>
              <a:rPr lang="en-GB" sz="4400" b="1" dirty="0">
                <a:solidFill>
                  <a:srgbClr val="00B050"/>
                </a:solidFill>
                <a:effectLst/>
              </a:rPr>
              <a:t>Transport </a:t>
            </a:r>
            <a:r>
              <a:rPr lang="en-GB" sz="4400" b="1" dirty="0" smtClean="0">
                <a:solidFill>
                  <a:srgbClr val="00B050"/>
                </a:solidFill>
                <a:effectLst/>
              </a:rPr>
              <a:t>Across </a:t>
            </a:r>
            <a:r>
              <a:rPr lang="en-GB" sz="4400" b="1" dirty="0">
                <a:solidFill>
                  <a:srgbClr val="00B050"/>
                </a:solidFill>
                <a:effectLst/>
              </a:rPr>
              <a:t>the </a:t>
            </a:r>
            <a:r>
              <a:rPr lang="en-GB" sz="4400" b="1" dirty="0" smtClean="0">
                <a:solidFill>
                  <a:srgbClr val="00B050"/>
                </a:solidFill>
                <a:effectLst/>
              </a:rPr>
              <a:t>Cell </a:t>
            </a:r>
            <a:r>
              <a:rPr lang="en-GB" sz="4400" b="1" dirty="0">
                <a:solidFill>
                  <a:srgbClr val="00B050"/>
                </a:solidFill>
                <a:effectLst/>
              </a:rPr>
              <a:t>M</a:t>
            </a:r>
            <a:r>
              <a:rPr lang="en-GB" sz="4400" b="1" dirty="0" smtClean="0">
                <a:solidFill>
                  <a:srgbClr val="00B050"/>
                </a:solidFill>
                <a:effectLst/>
              </a:rPr>
              <a:t>embranes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8962" y="775504"/>
            <a:ext cx="6805914" cy="5472896"/>
          </a:xfrm>
        </p:spPr>
        <p:txBody>
          <a:bodyPr/>
          <a:lstStyle/>
          <a:p>
            <a:pPr marL="82296" indent="0">
              <a:spcBef>
                <a:spcPct val="50000"/>
              </a:spcBef>
              <a:buNone/>
            </a:pP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Times New Roman" pitchFamily="18" charset="0"/>
              </a:rPr>
              <a:t>Facilitated Diffusion</a:t>
            </a:r>
            <a:endParaRPr lang="en-US" altLang="en-US" sz="2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sym typeface="Times New Roman" pitchFamily="18" charset="0"/>
            </a:endParaRP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000" b="1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Doesn’t 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require energy</a:t>
            </a:r>
            <a:endParaRPr lang="en-US" altLang="en-US" sz="2000" b="1" dirty="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  <a:p>
            <a:pPr>
              <a:spcBef>
                <a:spcPct val="50000"/>
              </a:spcBef>
              <a:buBlip>
                <a:blip r:embed="rId2"/>
              </a:buBlip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Uses </a:t>
            </a: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Times New Roman" pitchFamily="18" charset="0"/>
              </a:rPr>
              <a:t>Transport Proteins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to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move high to low concentration</a:t>
            </a:r>
            <a:endParaRPr lang="en-US" altLang="en-US" sz="2000" dirty="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  <a:p>
            <a:pPr>
              <a:buBlip>
                <a:blip r:embed="rId2"/>
              </a:buBlip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Examples: 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Glucose or </a:t>
            </a:r>
            <a:r>
              <a:rPr lang="en-US" sz="2000" b="1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Amino 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A</a:t>
            </a:r>
            <a:r>
              <a:rPr lang="en-US" sz="2000" b="1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cids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moving from 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B</a:t>
            </a:r>
            <a:r>
              <a:rPr lang="en-US" sz="2000" b="1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lood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into 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a C</a:t>
            </a:r>
            <a:r>
              <a:rPr lang="en-US" sz="2000" b="1" dirty="0" smtClean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ell</a:t>
            </a:r>
            <a:endParaRPr lang="en-US" altLang="en-US" sz="2000" dirty="0"/>
          </a:p>
          <a:p>
            <a:pPr marL="82296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  <p:pic>
        <p:nvPicPr>
          <p:cNvPr id="5" name="Picture 4" descr="FG05_07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4" t="4674" r="35985" b="4622"/>
          <a:stretch>
            <a:fillRect/>
          </a:stretch>
        </p:blipFill>
        <p:spPr bwMode="auto">
          <a:xfrm>
            <a:off x="8449519" y="1203768"/>
            <a:ext cx="3194613" cy="297469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084" y="4004842"/>
            <a:ext cx="616147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/>
          </p:cNvSpPr>
          <p:nvPr/>
        </p:nvSpPr>
        <p:spPr bwMode="auto">
          <a:xfrm>
            <a:off x="4449117" y="4323345"/>
            <a:ext cx="2518842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20" rIns="82296">
            <a:spAutoFit/>
          </a:bodyPr>
          <a:lstStyle/>
          <a:p>
            <a:pPr marL="36513" defTabSz="822325">
              <a:lnSpc>
                <a:spcPct val="90000"/>
              </a:lnSpc>
            </a:pPr>
            <a:r>
              <a:rPr lang="en-US" sz="1200" b="1" dirty="0">
                <a:solidFill>
                  <a:srgbClr val="FF0066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g</a:t>
            </a:r>
            <a:r>
              <a:rPr lang="en-US" sz="1200" b="1" dirty="0" smtClean="0">
                <a:solidFill>
                  <a:srgbClr val="FF0066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lucose, amino acids &amp;ions</a:t>
            </a:r>
            <a:endParaRPr lang="en-US" sz="1200" b="1" dirty="0">
              <a:solidFill>
                <a:srgbClr val="FF0066"/>
              </a:solidFill>
              <a:latin typeface="Arial" pitchFamily="34" charset="0"/>
              <a:cs typeface="Arial" pitchFamily="34" charset="0"/>
              <a:sym typeface="Arial" pitchFamily="34" charset="0"/>
            </a:endParaRPr>
          </a:p>
        </p:txBody>
      </p:sp>
      <p:pic>
        <p:nvPicPr>
          <p:cNvPr id="8" name="Picture 6" descr="pro5[1]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15400" y="4323345"/>
            <a:ext cx="2815542" cy="24846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6754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 noChangeArrowheads="1"/>
          </p:cNvSpPr>
          <p:nvPr>
            <p:ph idx="4294967295"/>
          </p:nvPr>
        </p:nvSpPr>
        <p:spPr bwMode="auto">
          <a:xfrm>
            <a:off x="1314694" y="960698"/>
            <a:ext cx="10877305" cy="589730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2296" indent="0">
              <a:buNone/>
            </a:pPr>
            <a:r>
              <a:rPr lang="en-US" altLang="zh-CN" dirty="0"/>
              <a:t>                   </a:t>
            </a:r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Times New Roman" pitchFamily="18" charset="0"/>
              </a:rPr>
              <a:t>Simple</a:t>
            </a:r>
            <a:r>
              <a:rPr lang="en-US" altLang="zh-CN" sz="3200" b="1" dirty="0" smtClean="0">
                <a:latin typeface="Times New Roman" pitchFamily="18" charset="0"/>
                <a:sym typeface="Times New Roman" pitchFamily="18" charset="0"/>
              </a:rPr>
              <a:t> </a:t>
            </a:r>
            <a:r>
              <a:rPr lang="en-US" altLang="zh-CN" sz="3200" b="1" dirty="0" err="1" smtClean="0">
                <a:latin typeface="Times New Roman" pitchFamily="18" charset="0"/>
                <a:sym typeface="Times New Roman" pitchFamily="18" charset="0"/>
              </a:rPr>
              <a:t>Vs</a:t>
            </a:r>
            <a:r>
              <a:rPr lang="en-US" altLang="zh-CN" sz="3200" b="1" dirty="0" smtClean="0">
                <a:latin typeface="Times New Roman" pitchFamily="18" charset="0"/>
                <a:sym typeface="Times New Roman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Times New Roman" pitchFamily="18" charset="0"/>
              </a:rPr>
              <a:t>Facilitated Diffusion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sym typeface="Times New Roman" pitchFamily="18" charset="0"/>
            </a:endParaRPr>
          </a:p>
        </p:txBody>
      </p:sp>
      <p:grpSp>
        <p:nvGrpSpPr>
          <p:cNvPr id="21507" name="Group 27"/>
          <p:cNvGrpSpPr>
            <a:grpSpLocks/>
          </p:cNvGrpSpPr>
          <p:nvPr/>
        </p:nvGrpSpPr>
        <p:grpSpPr bwMode="auto">
          <a:xfrm>
            <a:off x="1284790" y="3111500"/>
            <a:ext cx="5060977" cy="3581400"/>
            <a:chOff x="0" y="0"/>
            <a:chExt cx="2877" cy="2256"/>
          </a:xfrm>
        </p:grpSpPr>
        <p:pic>
          <p:nvPicPr>
            <p:cNvPr id="21508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04" t="49199" r="1056" b="7201"/>
            <a:stretch>
              <a:fillRect/>
            </a:stretch>
          </p:blipFill>
          <p:spPr bwMode="auto">
            <a:xfrm>
              <a:off x="0" y="288"/>
              <a:ext cx="2668" cy="1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09" name="Rectangle 6"/>
            <p:cNvSpPr>
              <a:spLocks noChangeArrowheads="1"/>
            </p:cNvSpPr>
            <p:nvPr/>
          </p:nvSpPr>
          <p:spPr bwMode="auto">
            <a:xfrm>
              <a:off x="9" y="124"/>
              <a:ext cx="2623" cy="233"/>
            </a:xfrm>
            <a:prstGeom prst="rect">
              <a:avLst/>
            </a:prstGeom>
            <a:solidFill>
              <a:srgbClr val="98D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US" b="1">
                  <a:solidFill>
                    <a:srgbClr val="0F116A"/>
                  </a:solidFill>
                  <a:latin typeface="Constantia" pitchFamily="18" charset="0"/>
                  <a:ea typeface="Constantia" pitchFamily="18" charset="0"/>
                  <a:cs typeface="Constantia" pitchFamily="18" charset="0"/>
                  <a:sym typeface="Constantia" pitchFamily="18" charset="0"/>
                </a:rPr>
                <a:t>inside cell</a:t>
              </a:r>
              <a:endParaRPr lang="en-US" altLang="en-US"/>
            </a:p>
          </p:txBody>
        </p:sp>
        <p:sp>
          <p:nvSpPr>
            <p:cNvPr id="21510" name="Rectangle 7"/>
            <p:cNvSpPr>
              <a:spLocks noChangeArrowheads="1"/>
            </p:cNvSpPr>
            <p:nvPr/>
          </p:nvSpPr>
          <p:spPr bwMode="auto">
            <a:xfrm>
              <a:off x="17" y="1660"/>
              <a:ext cx="2623" cy="233"/>
            </a:xfrm>
            <a:prstGeom prst="rect">
              <a:avLst/>
            </a:prstGeom>
            <a:solidFill>
              <a:srgbClr val="98D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US" b="1">
                  <a:solidFill>
                    <a:srgbClr val="0F116A"/>
                  </a:solidFill>
                  <a:latin typeface="Constantia" pitchFamily="18" charset="0"/>
                  <a:ea typeface="Constantia" pitchFamily="18" charset="0"/>
                  <a:cs typeface="Constantia" pitchFamily="18" charset="0"/>
                  <a:sym typeface="Constantia" pitchFamily="18" charset="0"/>
                </a:rPr>
                <a:t>outside cell</a:t>
              </a:r>
              <a:endParaRPr lang="en-US" altLang="en-US"/>
            </a:p>
          </p:txBody>
        </p:sp>
        <p:sp>
          <p:nvSpPr>
            <p:cNvPr id="21511" name="Rectangle 8"/>
            <p:cNvSpPr>
              <a:spLocks noChangeArrowheads="1"/>
            </p:cNvSpPr>
            <p:nvPr/>
          </p:nvSpPr>
          <p:spPr bwMode="auto">
            <a:xfrm>
              <a:off x="2637" y="0"/>
              <a:ext cx="240" cy="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endParaRPr>
            </a:p>
          </p:txBody>
        </p:sp>
      </p:grpSp>
      <p:sp>
        <p:nvSpPr>
          <p:cNvPr id="21512" name="Oval 10"/>
          <p:cNvSpPr>
            <a:spLocks noChangeArrowheads="1"/>
          </p:cNvSpPr>
          <p:nvPr/>
        </p:nvSpPr>
        <p:spPr bwMode="auto">
          <a:xfrm>
            <a:off x="3422651" y="2971800"/>
            <a:ext cx="711200" cy="533400"/>
          </a:xfrm>
          <a:prstGeom prst="ellipse">
            <a:avLst/>
          </a:prstGeom>
          <a:solidFill>
            <a:srgbClr val="FFEA18"/>
          </a:solidFill>
          <a:ln w="9525" cmpd="sng">
            <a:solidFill>
              <a:srgbClr val="FFCC18"/>
            </a:solidFill>
            <a:bevel/>
            <a:headEnd/>
            <a:tailEnd/>
          </a:ln>
        </p:spPr>
        <p:txBody>
          <a:bodyPr wrap="none" anchor="ctr"/>
          <a:lstStyle/>
          <a:p>
            <a:r>
              <a:rPr lang="en-US" b="1">
                <a:solidFill>
                  <a:srgbClr val="CC0000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rPr>
              <a:t>lipid</a:t>
            </a:r>
            <a:endParaRPr lang="en-US" sz="2800">
              <a:solidFill>
                <a:srgbClr val="000000"/>
              </a:solidFill>
              <a:latin typeface="Constantia" pitchFamily="18" charset="0"/>
              <a:ea typeface="Constantia" pitchFamily="18" charset="0"/>
              <a:cs typeface="Constantia" pitchFamily="18" charset="0"/>
              <a:sym typeface="Constantia" pitchFamily="18" charset="0"/>
            </a:endParaRPr>
          </a:p>
        </p:txBody>
      </p:sp>
      <p:grpSp>
        <p:nvGrpSpPr>
          <p:cNvPr id="21513" name="Group 28"/>
          <p:cNvGrpSpPr>
            <a:grpSpLocks/>
          </p:cNvGrpSpPr>
          <p:nvPr/>
        </p:nvGrpSpPr>
        <p:grpSpPr bwMode="auto">
          <a:xfrm>
            <a:off x="6584951" y="3241675"/>
            <a:ext cx="5266267" cy="2808288"/>
            <a:chOff x="0" y="28"/>
            <a:chExt cx="2668" cy="1769"/>
          </a:xfrm>
        </p:grpSpPr>
        <p:pic>
          <p:nvPicPr>
            <p:cNvPr id="21514" name="Picture 1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04" t="49199" r="1056" b="7201"/>
            <a:stretch>
              <a:fillRect/>
            </a:stretch>
          </p:blipFill>
          <p:spPr bwMode="auto">
            <a:xfrm>
              <a:off x="0" y="192"/>
              <a:ext cx="2668" cy="1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5" name="Rectangle 17"/>
            <p:cNvSpPr>
              <a:spLocks noChangeArrowheads="1"/>
            </p:cNvSpPr>
            <p:nvPr/>
          </p:nvSpPr>
          <p:spPr bwMode="auto">
            <a:xfrm>
              <a:off x="8" y="28"/>
              <a:ext cx="2632" cy="233"/>
            </a:xfrm>
            <a:prstGeom prst="rect">
              <a:avLst/>
            </a:prstGeom>
            <a:solidFill>
              <a:srgbClr val="98D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US" b="1">
                  <a:solidFill>
                    <a:srgbClr val="0F116A"/>
                  </a:solidFill>
                  <a:latin typeface="Constantia" pitchFamily="18" charset="0"/>
                  <a:ea typeface="Constantia" pitchFamily="18" charset="0"/>
                  <a:cs typeface="Constantia" pitchFamily="18" charset="0"/>
                  <a:sym typeface="Constantia" pitchFamily="18" charset="0"/>
                </a:rPr>
                <a:t>inside cell</a:t>
              </a:r>
              <a:endParaRPr lang="en-US" altLang="en-US"/>
            </a:p>
          </p:txBody>
        </p:sp>
        <p:sp>
          <p:nvSpPr>
            <p:cNvPr id="21516" name="Rectangle 18"/>
            <p:cNvSpPr>
              <a:spLocks noChangeArrowheads="1"/>
            </p:cNvSpPr>
            <p:nvPr/>
          </p:nvSpPr>
          <p:spPr bwMode="auto">
            <a:xfrm>
              <a:off x="0" y="1564"/>
              <a:ext cx="2640" cy="233"/>
            </a:xfrm>
            <a:prstGeom prst="rect">
              <a:avLst/>
            </a:prstGeom>
            <a:solidFill>
              <a:srgbClr val="98D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US" b="1">
                  <a:solidFill>
                    <a:srgbClr val="0F116A"/>
                  </a:solidFill>
                  <a:latin typeface="Constantia" pitchFamily="18" charset="0"/>
                  <a:ea typeface="Constantia" pitchFamily="18" charset="0"/>
                  <a:cs typeface="Constantia" pitchFamily="18" charset="0"/>
                  <a:sym typeface="Constantia" pitchFamily="18" charset="0"/>
                </a:rPr>
                <a:t>outside cell</a:t>
              </a:r>
              <a:endParaRPr lang="en-US" altLang="en-US"/>
            </a:p>
          </p:txBody>
        </p:sp>
        <p:sp>
          <p:nvSpPr>
            <p:cNvPr id="21517" name="AutoShape 20"/>
            <p:cNvSpPr>
              <a:spLocks noChangeArrowheads="1"/>
            </p:cNvSpPr>
            <p:nvPr/>
          </p:nvSpPr>
          <p:spPr bwMode="auto">
            <a:xfrm>
              <a:off x="1407" y="384"/>
              <a:ext cx="480" cy="1104"/>
            </a:xfrm>
            <a:prstGeom prst="flowChartMagneticDisk">
              <a:avLst/>
            </a:prstGeom>
            <a:solidFill>
              <a:schemeClr val="hlink"/>
            </a:solidFill>
            <a:ln w="9525" cmpd="sng">
              <a:solidFill>
                <a:schemeClr val="tx1"/>
              </a:solidFill>
              <a:bevel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endParaRPr>
            </a:p>
          </p:txBody>
        </p:sp>
      </p:grpSp>
      <p:sp>
        <p:nvSpPr>
          <p:cNvPr id="21518" name="Oval 24"/>
          <p:cNvSpPr>
            <a:spLocks noChangeArrowheads="1"/>
          </p:cNvSpPr>
          <p:nvPr/>
        </p:nvSpPr>
        <p:spPr bwMode="auto">
          <a:xfrm>
            <a:off x="9334500" y="3222625"/>
            <a:ext cx="1435100" cy="533400"/>
          </a:xfrm>
          <a:prstGeom prst="ellipse">
            <a:avLst/>
          </a:prstGeom>
          <a:solidFill>
            <a:srgbClr val="0F116A"/>
          </a:solidFill>
          <a:ln w="9525" cmpd="sng">
            <a:solidFill>
              <a:srgbClr val="1A158F"/>
            </a:solidFill>
            <a:bevel/>
            <a:headEnd/>
            <a:tailEnd/>
          </a:ln>
        </p:spPr>
        <p:txBody>
          <a:bodyPr wrap="none" anchor="ctr"/>
          <a:lstStyle/>
          <a:p>
            <a:r>
              <a:rPr lang="en-US" sz="2000" b="1" dirty="0" smtClean="0">
                <a:solidFill>
                  <a:schemeClr val="bg1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rPr>
              <a:t>Glucose </a:t>
            </a:r>
            <a:endParaRPr lang="en-US" sz="2800" dirty="0">
              <a:solidFill>
                <a:srgbClr val="000000"/>
              </a:solidFill>
              <a:latin typeface="Constantia" pitchFamily="18" charset="0"/>
              <a:ea typeface="Constantia" pitchFamily="18" charset="0"/>
              <a:cs typeface="Constantia" pitchFamily="18" charset="0"/>
              <a:sym typeface="Constantia" pitchFamily="18" charset="0"/>
            </a:endParaRPr>
          </a:p>
        </p:txBody>
      </p:sp>
      <p:sp>
        <p:nvSpPr>
          <p:cNvPr id="21519" name="AutoShape 29"/>
          <p:cNvSpPr>
            <a:spLocks noChangeArrowheads="1"/>
          </p:cNvSpPr>
          <p:nvPr/>
        </p:nvSpPr>
        <p:spPr bwMode="auto">
          <a:xfrm>
            <a:off x="2352903" y="2088932"/>
            <a:ext cx="3184702" cy="612934"/>
          </a:xfrm>
          <a:prstGeom prst="roundRect">
            <a:avLst>
              <a:gd name="adj" fmla="val 16667"/>
            </a:avLst>
          </a:prstGeom>
          <a:solidFill>
            <a:srgbClr val="FFEA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3000" b="1">
                <a:solidFill>
                  <a:srgbClr val="0F116A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rPr>
              <a:t>simple diffusion</a:t>
            </a:r>
            <a:endParaRPr lang="en-US" altLang="en-US"/>
          </a:p>
        </p:txBody>
      </p:sp>
      <p:sp>
        <p:nvSpPr>
          <p:cNvPr id="21520" name="AutoShape 30"/>
          <p:cNvSpPr>
            <a:spLocks noChangeArrowheads="1"/>
          </p:cNvSpPr>
          <p:nvPr/>
        </p:nvSpPr>
        <p:spPr bwMode="auto">
          <a:xfrm>
            <a:off x="6584951" y="1973185"/>
            <a:ext cx="3825825" cy="612934"/>
          </a:xfrm>
          <a:prstGeom prst="roundRect">
            <a:avLst>
              <a:gd name="adj" fmla="val 16667"/>
            </a:avLst>
          </a:prstGeom>
          <a:solidFill>
            <a:srgbClr val="FFEA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3000" b="1">
                <a:solidFill>
                  <a:srgbClr val="0F116A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rPr>
              <a:t>facilitated diffusion</a:t>
            </a:r>
            <a:endParaRPr lang="en-US" altLang="en-US"/>
          </a:p>
        </p:txBody>
      </p:sp>
      <p:sp>
        <p:nvSpPr>
          <p:cNvPr id="21521" name="Oval 31"/>
          <p:cNvSpPr>
            <a:spLocks noChangeArrowheads="1"/>
          </p:cNvSpPr>
          <p:nvPr/>
        </p:nvSpPr>
        <p:spPr bwMode="auto">
          <a:xfrm>
            <a:off x="10208871" y="5437188"/>
            <a:ext cx="1271929" cy="533400"/>
          </a:xfrm>
          <a:prstGeom prst="ellipse">
            <a:avLst/>
          </a:prstGeom>
          <a:solidFill>
            <a:srgbClr val="0F116A"/>
          </a:solidFill>
          <a:ln w="9525" cmpd="sng">
            <a:solidFill>
              <a:srgbClr val="1A158F"/>
            </a:solidFill>
            <a:bevel/>
            <a:headEnd/>
            <a:tailEnd/>
          </a:ln>
        </p:spPr>
        <p:txBody>
          <a:bodyPr wrap="none" anchor="ctr"/>
          <a:lstStyle/>
          <a:p>
            <a:r>
              <a:rPr lang="en-US" sz="2000" b="1" dirty="0">
                <a:solidFill>
                  <a:schemeClr val="bg1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rPr>
              <a:t>Glucose </a:t>
            </a:r>
            <a:endParaRPr lang="en-US" sz="2800" dirty="0">
              <a:solidFill>
                <a:srgbClr val="000000"/>
              </a:solidFill>
              <a:latin typeface="Constantia" pitchFamily="18" charset="0"/>
              <a:ea typeface="Constantia" pitchFamily="18" charset="0"/>
              <a:cs typeface="Constantia" pitchFamily="18" charset="0"/>
              <a:sym typeface="Constantia" pitchFamily="18" charset="0"/>
            </a:endParaRPr>
          </a:p>
        </p:txBody>
      </p:sp>
      <p:sp>
        <p:nvSpPr>
          <p:cNvPr id="21522" name="AutoShape 32"/>
          <p:cNvSpPr>
            <a:spLocks noChangeArrowheads="1"/>
          </p:cNvSpPr>
          <p:nvPr/>
        </p:nvSpPr>
        <p:spPr bwMode="auto">
          <a:xfrm>
            <a:off x="8119534" y="4550609"/>
            <a:ext cx="2328965" cy="374571"/>
          </a:xfrm>
          <a:prstGeom prst="roundRect">
            <a:avLst>
              <a:gd name="adj" fmla="val 16667"/>
            </a:avLst>
          </a:prstGeom>
          <a:solidFill>
            <a:srgbClr val="FFEA1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onstantia" pitchFamily="18" charset="0"/>
                <a:ea typeface="Constantia" pitchFamily="18" charset="0"/>
                <a:cs typeface="Constantia" pitchFamily="18" charset="0"/>
                <a:sym typeface="Constantia" pitchFamily="18" charset="0"/>
              </a:rPr>
              <a:t>protein channel</a:t>
            </a:r>
            <a:endParaRPr lang="en-US" sz="3000" b="1" dirty="0">
              <a:solidFill>
                <a:srgbClr val="000000"/>
              </a:solidFill>
              <a:latin typeface="Constantia" pitchFamily="18" charset="0"/>
              <a:ea typeface="Constantia" pitchFamily="18" charset="0"/>
              <a:cs typeface="Constantia" pitchFamily="18" charset="0"/>
              <a:sym typeface="Constantia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14694" y="0"/>
            <a:ext cx="108773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50"/>
                </a:solidFill>
              </a:rPr>
              <a:t>Transport </a:t>
            </a:r>
            <a:r>
              <a:rPr lang="en-GB" sz="3200" b="1" dirty="0" smtClean="0">
                <a:solidFill>
                  <a:srgbClr val="00B050"/>
                </a:solidFill>
              </a:rPr>
              <a:t>Across </a:t>
            </a:r>
            <a:r>
              <a:rPr lang="en-GB" sz="3200" b="1" dirty="0">
                <a:solidFill>
                  <a:srgbClr val="00B050"/>
                </a:solidFill>
              </a:rPr>
              <a:t>the </a:t>
            </a:r>
            <a:r>
              <a:rPr lang="en-GB" sz="3200" b="1" dirty="0" smtClean="0">
                <a:solidFill>
                  <a:srgbClr val="00B050"/>
                </a:solidFill>
              </a:rPr>
              <a:t>Cell </a:t>
            </a:r>
            <a:r>
              <a:rPr lang="en-GB" sz="3200" b="1" dirty="0">
                <a:solidFill>
                  <a:srgbClr val="00B050"/>
                </a:solidFill>
              </a:rPr>
              <a:t>M</a:t>
            </a:r>
            <a:r>
              <a:rPr lang="en-GB" sz="3200" b="1" dirty="0" smtClean="0">
                <a:solidFill>
                  <a:srgbClr val="00B050"/>
                </a:solidFill>
              </a:rPr>
              <a:t>embranes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7037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3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0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5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2" grpId="0" bldLvl="0" animBg="1" autoUpdateAnimBg="0"/>
      <p:bldP spid="21518" grpId="0" bldLvl="0" animBg="1" autoUpdateAnimBg="0"/>
      <p:bldP spid="21519" grpId="0" bldLvl="0" animBg="1" autoUpdateAnimBg="0"/>
      <p:bldP spid="21520" grpId="0" bldLvl="0" animBg="1" autoUpdateAnimBg="0"/>
      <p:bldP spid="21521" grpId="0" bldLvl="0" animBg="1" autoUpdateAnimBg="0"/>
      <p:bldP spid="21522" grpId="0" bldLvl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813" y="0"/>
            <a:ext cx="10826187" cy="729205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00B050"/>
                </a:solidFill>
              </a:rPr>
              <a:t>Transport across the cell membranes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813" y="798653"/>
            <a:ext cx="6539696" cy="5449747"/>
          </a:xfrm>
        </p:spPr>
        <p:txBody>
          <a:bodyPr/>
          <a:lstStyle/>
          <a:p>
            <a:pPr marL="82296" indent="0">
              <a:buNone/>
              <a:defRPr/>
            </a:pP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Osmosis</a:t>
            </a:r>
            <a:r>
              <a:rPr lang="en-US" altLang="en-US" b="1" dirty="0"/>
              <a:t>:</a:t>
            </a:r>
            <a:r>
              <a:rPr lang="en-US" altLang="en-US" dirty="0"/>
              <a:t> </a:t>
            </a:r>
            <a:endParaRPr lang="en-US" altLang="en-US" dirty="0" smtClean="0"/>
          </a:p>
          <a:p>
            <a:pPr marL="236538" lvl="1" indent="-236538">
              <a:buBlip>
                <a:blip r:embed="rId2"/>
              </a:buBlip>
              <a:defRPr/>
            </a:pPr>
            <a:r>
              <a:rPr lang="en-US" altLang="en-US" sz="2000" dirty="0" smtClean="0"/>
              <a:t> The </a:t>
            </a:r>
            <a:r>
              <a:rPr lang="en-US" altLang="en-US" sz="2000" dirty="0"/>
              <a:t>diffusion of water through a selectively permeable </a:t>
            </a:r>
            <a:r>
              <a:rPr lang="en-US" altLang="en-US" sz="2000" dirty="0" smtClean="0"/>
              <a:t>membrane</a:t>
            </a:r>
            <a:endParaRPr lang="en-US" altLang="en-US" sz="2000" dirty="0"/>
          </a:p>
          <a:p>
            <a:pPr marL="236538" lvl="1" indent="-236538">
              <a:buBlip>
                <a:blip r:embed="rId2"/>
              </a:buBlip>
              <a:defRPr/>
            </a:pPr>
            <a:r>
              <a:rPr lang="en-US" altLang="en-US" sz="2000" dirty="0"/>
              <a:t>Passive transport</a:t>
            </a:r>
          </a:p>
          <a:p>
            <a:pPr marL="236538" lvl="1" indent="-236538">
              <a:buBlip>
                <a:blip r:embed="rId2"/>
              </a:buBlip>
              <a:defRPr/>
            </a:pPr>
            <a:r>
              <a:rPr lang="en-US" altLang="en-US" sz="2000" dirty="0" smtClean="0"/>
              <a:t>Water molecules move from a higher concentration of WATER to a lower concentration of WATER </a:t>
            </a:r>
          </a:p>
          <a:p>
            <a:pPr marL="236538" lvl="1" indent="-236538">
              <a:buBlip>
                <a:blip r:embed="rId2"/>
              </a:buBlip>
              <a:defRPr/>
            </a:pPr>
            <a:r>
              <a:rPr lang="en-US" altLang="en-US" sz="2000" dirty="0" smtClean="0"/>
              <a:t>Water </a:t>
            </a:r>
            <a:r>
              <a:rPr lang="en-US" altLang="en-US" sz="2000" dirty="0"/>
              <a:t>will move to where there is a greater amount of solute because there is less water there 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  <p:pic>
        <p:nvPicPr>
          <p:cNvPr id="5" name="Picture 1" descr="http://www.stjohn.ac.th/Department/school/bio_pix/osmosi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3463" y="1365813"/>
            <a:ext cx="4606724" cy="4635662"/>
          </a:xfrm>
          <a:prstGeom prst="rect">
            <a:avLst/>
          </a:prstGeom>
          <a:noFill/>
        </p:spPr>
      </p:pic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10058400" y="293225"/>
            <a:ext cx="2291787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66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rPr>
              <a:t>Semi-permeable membrane is permeable to water, but not to sugar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FF0066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7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65812" y="0"/>
            <a:ext cx="10511047" cy="6572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Cells in Solutions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5813" y="657225"/>
            <a:ext cx="6254188" cy="5895975"/>
          </a:xfrm>
        </p:spPr>
        <p:txBody>
          <a:bodyPr>
            <a:normAutofit/>
          </a:bodyPr>
          <a:lstStyle/>
          <a:p>
            <a:pPr marL="82296" indent="0" eaLnBrk="1" hangingPunct="1">
              <a:lnSpc>
                <a:spcPct val="90000"/>
              </a:lnSpc>
              <a:buNone/>
            </a:pPr>
            <a:r>
              <a:rPr lang="en-US" sz="2800" b="1" dirty="0" smtClean="0">
                <a:solidFill>
                  <a:srgbClr val="FF0000"/>
                </a:solidFill>
              </a:rPr>
              <a:t>Isotonic</a:t>
            </a:r>
          </a:p>
          <a:p>
            <a:pPr marL="292100" lvl="1" indent="-236538" eaLnBrk="1" hangingPunct="1">
              <a:lnSpc>
                <a:spcPct val="90000"/>
              </a:lnSpc>
              <a:buBlip>
                <a:blip r:embed="rId2"/>
              </a:buBlip>
            </a:pPr>
            <a:r>
              <a:rPr lang="en-US" sz="2000" dirty="0" smtClean="0">
                <a:solidFill>
                  <a:srgbClr val="3333CC"/>
                </a:solidFill>
              </a:rPr>
              <a:t> A solution whose </a:t>
            </a:r>
            <a:r>
              <a:rPr lang="en-US" sz="20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Solute Concentration Is the Same </a:t>
            </a:r>
            <a:r>
              <a:rPr lang="en-US" sz="2000" dirty="0" smtClean="0">
                <a:solidFill>
                  <a:srgbClr val="3333CC"/>
                </a:solidFill>
              </a:rPr>
              <a:t>as the solute concentration inside the cell </a:t>
            </a:r>
          </a:p>
          <a:p>
            <a:pPr marL="55562" lvl="1" indent="0" eaLnBrk="1" hangingPunct="1">
              <a:lnSpc>
                <a:spcPct val="90000"/>
              </a:lnSpc>
              <a:buNone/>
            </a:pPr>
            <a:endParaRPr lang="en-US" sz="2000" dirty="0" smtClean="0">
              <a:solidFill>
                <a:srgbClr val="3333CC"/>
              </a:solidFill>
            </a:endParaRPr>
          </a:p>
          <a:p>
            <a:pPr marL="82296" indent="0" eaLnBrk="1" hangingPunct="1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Hypotonic </a:t>
            </a:r>
          </a:p>
          <a:p>
            <a:pPr eaLnBrk="1" hangingPunct="1">
              <a:lnSpc>
                <a:spcPct val="90000"/>
              </a:lnSpc>
              <a:buBlip>
                <a:blip r:embed="rId2"/>
              </a:buBlip>
            </a:pPr>
            <a:r>
              <a:rPr lang="en-US" sz="2000" dirty="0" smtClean="0">
                <a:solidFill>
                  <a:srgbClr val="3333CC"/>
                </a:solidFill>
              </a:rPr>
              <a:t>A solution whose </a:t>
            </a:r>
            <a:r>
              <a:rPr lang="en-US" sz="200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olute </a:t>
            </a:r>
            <a:r>
              <a:rPr lang="en-US" sz="200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oncentration is Lower </a:t>
            </a:r>
            <a:r>
              <a:rPr lang="en-US" sz="2000" dirty="0" smtClean="0">
                <a:solidFill>
                  <a:srgbClr val="3333CC"/>
                </a:solidFill>
              </a:rPr>
              <a:t>than the solute concentration inside a cell </a:t>
            </a:r>
          </a:p>
          <a:p>
            <a:pPr marL="82296" indent="0" eaLnBrk="1" hangingPunct="1">
              <a:lnSpc>
                <a:spcPct val="90000"/>
              </a:lnSpc>
              <a:buNone/>
            </a:pPr>
            <a:endParaRPr lang="en-US" sz="2000" dirty="0" smtClean="0">
              <a:solidFill>
                <a:srgbClr val="3333CC"/>
              </a:solidFill>
            </a:endParaRPr>
          </a:p>
          <a:p>
            <a:pPr marL="82296" indent="0" eaLnBrk="1" hangingPunct="1">
              <a:lnSpc>
                <a:spcPct val="90000"/>
              </a:lnSpc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Hypertonic</a:t>
            </a:r>
          </a:p>
          <a:p>
            <a:pPr eaLnBrk="1" hangingPunct="1">
              <a:lnSpc>
                <a:spcPct val="90000"/>
              </a:lnSpc>
              <a:buBlip>
                <a:blip r:embed="rId2"/>
              </a:buBlip>
            </a:pPr>
            <a:r>
              <a:rPr lang="en-US" sz="2000" dirty="0" smtClean="0">
                <a:solidFill>
                  <a:srgbClr val="3333CC"/>
                </a:solidFill>
              </a:rPr>
              <a:t>A solution whose </a:t>
            </a:r>
            <a:r>
              <a:rPr lang="en-US" sz="20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Solute </a:t>
            </a:r>
            <a:r>
              <a:rPr lang="en-US" sz="2000" dirty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oncentration is Higher </a:t>
            </a:r>
            <a:r>
              <a:rPr lang="en-US" sz="2000" dirty="0" smtClean="0">
                <a:solidFill>
                  <a:srgbClr val="3333CC"/>
                </a:solidFill>
              </a:rPr>
              <a:t>than the solute concentration inside a cell.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304800"/>
            <a:ext cx="22098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1" y="1066800"/>
            <a:ext cx="23495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801" y="1066801"/>
            <a:ext cx="12827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2819400"/>
            <a:ext cx="147320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895600"/>
            <a:ext cx="19812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4648201"/>
            <a:ext cx="23114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4800601"/>
            <a:ext cx="16002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688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54238" y="152400"/>
            <a:ext cx="10837762" cy="48420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 b="1" dirty="0" smtClean="0">
                <a:solidFill>
                  <a:srgbClr val="FF0000"/>
                </a:solidFill>
              </a:rPr>
              <a:t>Hypertonic Solution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354238" y="795419"/>
            <a:ext cx="10556247" cy="1382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Hypertonic</a:t>
            </a:r>
            <a:r>
              <a:rPr lang="en-US" sz="2800" dirty="0">
                <a:solidFill>
                  <a:srgbClr val="FF0066"/>
                </a:solidFill>
              </a:rPr>
              <a:t>:  </a:t>
            </a:r>
            <a:r>
              <a:rPr lang="en-US" sz="2800" dirty="0"/>
              <a:t>The solution has a higher concentration of </a:t>
            </a:r>
            <a:r>
              <a:rPr lang="en-US" sz="2800" dirty="0" smtClean="0"/>
              <a:t>solutes            </a:t>
            </a:r>
            <a:r>
              <a:rPr lang="en-US" sz="2800" dirty="0"/>
              <a:t>and a lower concentration of water than inside the </a:t>
            </a:r>
            <a:r>
              <a:rPr lang="en-US" sz="2800" dirty="0" smtClean="0"/>
              <a:t>cell           </a:t>
            </a:r>
            <a:r>
              <a:rPr lang="en-US" sz="2800" dirty="0" smtClean="0">
                <a:solidFill>
                  <a:schemeClr val="tx2"/>
                </a:solidFill>
              </a:rPr>
              <a:t>               </a:t>
            </a:r>
            <a:r>
              <a:rPr lang="en-US" sz="2800" b="1" dirty="0" smtClean="0">
                <a:solidFill>
                  <a:schemeClr val="hlink"/>
                </a:solidFill>
              </a:rPr>
              <a:t>(</a:t>
            </a:r>
            <a:r>
              <a:rPr lang="en-US" sz="2800" b="1" dirty="0">
                <a:solidFill>
                  <a:schemeClr val="hlink"/>
                </a:solidFill>
              </a:rPr>
              <a:t>High </a:t>
            </a:r>
            <a:r>
              <a:rPr lang="en-US" sz="2800" b="1" dirty="0" smtClean="0">
                <a:solidFill>
                  <a:schemeClr val="hlink"/>
                </a:solidFill>
              </a:rPr>
              <a:t>Solute</a:t>
            </a:r>
            <a:r>
              <a:rPr lang="en-US" sz="2800" b="1" dirty="0">
                <a:solidFill>
                  <a:schemeClr val="hlink"/>
                </a:solidFill>
              </a:rPr>
              <a:t>,</a:t>
            </a:r>
            <a:r>
              <a:rPr lang="en-US" sz="2800" b="1" dirty="0" smtClean="0">
                <a:solidFill>
                  <a:schemeClr val="hlink"/>
                </a:solidFill>
              </a:rPr>
              <a:t> Low </a:t>
            </a:r>
            <a:r>
              <a:rPr lang="en-US" sz="2800" b="1" dirty="0">
                <a:solidFill>
                  <a:schemeClr val="hlink"/>
                </a:solidFill>
              </a:rPr>
              <a:t>W</a:t>
            </a:r>
            <a:r>
              <a:rPr lang="en-US" sz="2800" b="1" dirty="0" smtClean="0">
                <a:solidFill>
                  <a:schemeClr val="hlink"/>
                </a:solidFill>
              </a:rPr>
              <a:t>ater</a:t>
            </a:r>
            <a:r>
              <a:rPr lang="en-US" sz="2800" b="1" dirty="0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1373529" y="5564188"/>
            <a:ext cx="10818471" cy="1292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u="sng" dirty="0">
                <a:solidFill>
                  <a:srgbClr val="FF0000"/>
                </a:solidFill>
                <a:latin typeface="Albertus MT Lt" pitchFamily="2" charset="0"/>
              </a:rPr>
              <a:t>Result</a:t>
            </a:r>
            <a:r>
              <a:rPr lang="en-US" sz="2400" dirty="0">
                <a:solidFill>
                  <a:srgbClr val="FF0000"/>
                </a:solidFill>
                <a:latin typeface="Albertus MT Lt" pitchFamily="2" charset="0"/>
              </a:rPr>
              <a:t>: </a:t>
            </a:r>
            <a:r>
              <a:rPr lang="en-US" sz="2400" dirty="0">
                <a:latin typeface="Albertus MT Lt" pitchFamily="2" charset="0"/>
              </a:rPr>
              <a:t>Water moves from inside the cell  into the </a:t>
            </a:r>
            <a:r>
              <a:rPr lang="en-US" sz="2400" dirty="0" smtClean="0">
                <a:latin typeface="Albertus MT Lt" pitchFamily="2" charset="0"/>
              </a:rPr>
              <a:t>solution                                     </a:t>
            </a:r>
            <a:r>
              <a:rPr lang="en-US" sz="2400" b="1" dirty="0" smtClean="0">
                <a:latin typeface="Albertus MT Lt" pitchFamily="2" charset="0"/>
              </a:rPr>
              <a:t>Cell Shrinks </a:t>
            </a:r>
            <a:r>
              <a:rPr lang="en-US" sz="2400" dirty="0">
                <a:solidFill>
                  <a:srgbClr val="FF0000"/>
                </a:solidFill>
                <a:latin typeface="Albertus MT Lt" pitchFamily="2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Albertus MT Lt" pitchFamily="2" charset="0"/>
              </a:rPr>
              <a:t>(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bertus MT Lt" pitchFamily="2" charset="0"/>
              </a:rPr>
              <a:t>Plasmolysis</a:t>
            </a:r>
            <a:r>
              <a:rPr lang="en-US" sz="2400" dirty="0" smtClean="0">
                <a:solidFill>
                  <a:srgbClr val="FF0000"/>
                </a:solidFill>
                <a:latin typeface="Albertus MT Lt" pitchFamily="2" charset="0"/>
              </a:rPr>
              <a:t>)! </a:t>
            </a:r>
            <a:r>
              <a:rPr lang="en-US" sz="2400" dirty="0" smtClean="0">
                <a:latin typeface="Albertus MT Lt" pitchFamily="2" charset="0"/>
              </a:rPr>
              <a:t>This </a:t>
            </a:r>
            <a:r>
              <a:rPr lang="en-US" sz="2400" dirty="0">
                <a:latin typeface="Albertus MT Lt" pitchFamily="2" charset="0"/>
              </a:rPr>
              <a:t>is  why you get thirsty after eating something </a:t>
            </a:r>
            <a:r>
              <a:rPr lang="en-US" sz="2400" dirty="0" smtClean="0">
                <a:latin typeface="Albertus MT Lt" pitchFamily="2" charset="0"/>
              </a:rPr>
              <a:t>salty</a:t>
            </a:r>
            <a:endParaRPr lang="en-US" sz="2000" dirty="0">
              <a:solidFill>
                <a:srgbClr val="FFF597"/>
              </a:solidFill>
            </a:endParaRPr>
          </a:p>
          <a:p>
            <a:pPr>
              <a:spcBef>
                <a:spcPct val="50000"/>
              </a:spcBef>
            </a:pPr>
            <a:endParaRPr lang="en-US" sz="2000" dirty="0">
              <a:solidFill>
                <a:srgbClr val="FFF597"/>
              </a:solidFill>
            </a:endParaRPr>
          </a:p>
        </p:txBody>
      </p:sp>
      <p:pic>
        <p:nvPicPr>
          <p:cNvPr id="22533" name="Picture 6" descr="hyperton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238" y="2514601"/>
            <a:ext cx="3217761" cy="290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7" descr="RBC in hypertoni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0" t="19800"/>
          <a:stretch>
            <a:fillRect/>
          </a:stretch>
        </p:blipFill>
        <p:spPr bwMode="auto">
          <a:xfrm>
            <a:off x="9734552" y="3124200"/>
            <a:ext cx="2457449" cy="143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Line 9"/>
          <p:cNvSpPr>
            <a:spLocks noChangeShapeType="1"/>
          </p:cNvSpPr>
          <p:nvPr/>
        </p:nvSpPr>
        <p:spPr bwMode="auto">
          <a:xfrm flipH="1" flipV="1">
            <a:off x="10566400" y="4191000"/>
            <a:ext cx="4064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22537" name="Picture 10" descr="turg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0" y="2514601"/>
            <a:ext cx="497840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8" name="Line 11"/>
          <p:cNvSpPr>
            <a:spLocks noChangeShapeType="1"/>
          </p:cNvSpPr>
          <p:nvPr/>
        </p:nvSpPr>
        <p:spPr bwMode="auto">
          <a:xfrm flipH="1" flipV="1">
            <a:off x="8940800" y="4572000"/>
            <a:ext cx="12192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10363200" y="48006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dirty="0"/>
              <a:t>shrinks</a:t>
            </a:r>
          </a:p>
        </p:txBody>
      </p:sp>
      <p:sp>
        <p:nvSpPr>
          <p:cNvPr id="22540" name="Line 13"/>
          <p:cNvSpPr>
            <a:spLocks noChangeShapeType="1"/>
          </p:cNvSpPr>
          <p:nvPr/>
        </p:nvSpPr>
        <p:spPr bwMode="auto">
          <a:xfrm>
            <a:off x="6502400" y="3505200"/>
            <a:ext cx="1320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8273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0188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 b="1" dirty="0" smtClean="0">
                <a:solidFill>
                  <a:srgbClr val="FF0000"/>
                </a:solidFill>
              </a:rPr>
              <a:t>Hypotonic Solution</a:t>
            </a:r>
          </a:p>
        </p:txBody>
      </p:sp>
      <p:pic>
        <p:nvPicPr>
          <p:cNvPr id="24579" name="Picture 4" descr="hypoton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536" y="2635251"/>
            <a:ext cx="2870521" cy="232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400536" y="717630"/>
            <a:ext cx="10509949" cy="1384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Hypotonic</a:t>
            </a:r>
            <a:r>
              <a:rPr lang="en-US" sz="2800" dirty="0">
                <a:solidFill>
                  <a:srgbClr val="FF0066"/>
                </a:solidFill>
              </a:rPr>
              <a:t>:  </a:t>
            </a:r>
            <a:r>
              <a:rPr lang="en-US" sz="2800" dirty="0"/>
              <a:t>The solution has a lower concentration of solutes and a higher concentration of water than inside the </a:t>
            </a:r>
            <a:r>
              <a:rPr lang="en-US" sz="2800" dirty="0" smtClean="0"/>
              <a:t>cell</a:t>
            </a:r>
            <a:r>
              <a:rPr lang="en-US" sz="2800" dirty="0"/>
              <a:t> </a:t>
            </a:r>
            <a:r>
              <a:rPr lang="en-US" sz="2800" dirty="0" smtClean="0"/>
              <a:t>         </a:t>
            </a:r>
            <a:r>
              <a:rPr lang="en-US" sz="2800" b="1" dirty="0" smtClean="0">
                <a:solidFill>
                  <a:schemeClr val="hlink"/>
                </a:solidFill>
              </a:rPr>
              <a:t>(Low Solute</a:t>
            </a:r>
            <a:r>
              <a:rPr lang="en-US" sz="2800" b="1" dirty="0">
                <a:solidFill>
                  <a:schemeClr val="hlink"/>
                </a:solidFill>
              </a:rPr>
              <a:t>,</a:t>
            </a:r>
            <a:r>
              <a:rPr lang="en-US" sz="2800" b="1" dirty="0" smtClean="0">
                <a:solidFill>
                  <a:schemeClr val="hlink"/>
                </a:solidFill>
              </a:rPr>
              <a:t> </a:t>
            </a:r>
            <a:r>
              <a:rPr lang="en-US" sz="2800" b="1" dirty="0">
                <a:solidFill>
                  <a:schemeClr val="hlink"/>
                </a:solidFill>
              </a:rPr>
              <a:t>High </a:t>
            </a:r>
            <a:r>
              <a:rPr lang="en-US" sz="2800" b="1" dirty="0" smtClean="0">
                <a:solidFill>
                  <a:schemeClr val="hlink"/>
                </a:solidFill>
              </a:rPr>
              <a:t>Water</a:t>
            </a:r>
            <a:r>
              <a:rPr lang="en-US" sz="2800" b="1" dirty="0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400536" y="5564189"/>
            <a:ext cx="10539582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1" u="sng" dirty="0">
                <a:solidFill>
                  <a:srgbClr val="FF0066"/>
                </a:solidFill>
              </a:rPr>
              <a:t>Result</a:t>
            </a:r>
            <a:r>
              <a:rPr lang="en-US" sz="2800" b="1" dirty="0">
                <a:solidFill>
                  <a:srgbClr val="FF0066"/>
                </a:solidFill>
              </a:rPr>
              <a:t>: </a:t>
            </a:r>
            <a:r>
              <a:rPr lang="en-US" sz="2800" dirty="0"/>
              <a:t>Water moves from the solution to inside the </a:t>
            </a:r>
            <a:r>
              <a:rPr lang="en-US" sz="2800" dirty="0" smtClean="0"/>
              <a:t>cell</a:t>
            </a:r>
            <a:r>
              <a:rPr lang="en-US" sz="2800" dirty="0"/>
              <a:t> </a:t>
            </a:r>
            <a:r>
              <a:rPr lang="en-US" sz="2800" dirty="0" smtClean="0"/>
              <a:t>        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 Swells </a:t>
            </a:r>
            <a:r>
              <a:rPr lang="en-US" sz="2800" dirty="0"/>
              <a:t>and 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Bursts Open </a:t>
            </a:r>
            <a:r>
              <a:rPr lang="en-US" sz="2800" dirty="0" smtClean="0">
                <a:solidFill>
                  <a:srgbClr val="FF0066"/>
                </a:solidFill>
              </a:rPr>
              <a:t>(</a:t>
            </a:r>
            <a:r>
              <a:rPr lang="en-US" sz="2800" b="1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Cytolysis</a:t>
            </a:r>
            <a:r>
              <a:rPr lang="en-US" sz="2800" dirty="0" smtClean="0">
                <a:solidFill>
                  <a:srgbClr val="FF0066"/>
                </a:solidFill>
              </a:rPr>
              <a:t>)!</a:t>
            </a:r>
            <a:endParaRPr lang="en-US" sz="2800" dirty="0">
              <a:solidFill>
                <a:srgbClr val="FF0066"/>
              </a:solidFill>
            </a:endParaRPr>
          </a:p>
        </p:txBody>
      </p:sp>
      <p:pic>
        <p:nvPicPr>
          <p:cNvPr id="48135" name="Picture 7" descr="rbc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149" y="2814638"/>
            <a:ext cx="329790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6" name="Picture 8" descr="RBC in hypoton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484" y="2840038"/>
            <a:ext cx="3547533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8059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095544" cy="62503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 b="1" dirty="0" smtClean="0">
                <a:solidFill>
                  <a:srgbClr val="FF0000"/>
                </a:solidFill>
              </a:rPr>
              <a:t>Isotonic Solution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365813" y="656523"/>
            <a:ext cx="10544672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Isotonic: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/>
              <a:t>The concentration of solutes in the solution is equal to the concentration of solutes inside the </a:t>
            </a:r>
            <a:r>
              <a:rPr lang="en-US" sz="2800" dirty="0" smtClean="0"/>
              <a:t>cell</a:t>
            </a:r>
            <a:endParaRPr lang="en-US" sz="2800" dirty="0"/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365813" y="5384567"/>
            <a:ext cx="10729731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u="sng" dirty="0">
                <a:solidFill>
                  <a:srgbClr val="FF0066"/>
                </a:solidFill>
              </a:rPr>
              <a:t>Result</a:t>
            </a:r>
            <a:r>
              <a:rPr lang="en-US" sz="2400" dirty="0">
                <a:solidFill>
                  <a:srgbClr val="FF0066"/>
                </a:solidFill>
              </a:rPr>
              <a:t>:</a:t>
            </a:r>
            <a:r>
              <a:rPr lang="en-US" sz="2400" dirty="0"/>
              <a:t>  Water moves equally in both directions and </a:t>
            </a:r>
            <a:r>
              <a:rPr lang="en-US" sz="2400" dirty="0" smtClean="0"/>
              <a:t>                                     The </a:t>
            </a: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 Remains Same Size</a:t>
            </a:r>
            <a:r>
              <a:rPr lang="en-US" sz="2400" dirty="0" smtClean="0"/>
              <a:t>! </a:t>
            </a:r>
            <a:r>
              <a:rPr lang="en-US" sz="2400" dirty="0">
                <a:solidFill>
                  <a:srgbClr val="FF0066"/>
                </a:solidFill>
              </a:rPr>
              <a:t>(</a:t>
            </a:r>
            <a:r>
              <a:rPr lang="en-US" sz="24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Equilibrium</a:t>
            </a:r>
            <a:r>
              <a:rPr lang="en-US" sz="2400" dirty="0">
                <a:solidFill>
                  <a:srgbClr val="FF0066"/>
                </a:solidFill>
              </a:rPr>
              <a:t>)</a:t>
            </a:r>
          </a:p>
        </p:txBody>
      </p:sp>
      <p:pic>
        <p:nvPicPr>
          <p:cNvPr id="26629" name="Picture 6" descr="isoton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094" y="2381249"/>
            <a:ext cx="3810000" cy="232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7" descr="red blood cell iin isotonic solu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451" y="2320926"/>
            <a:ext cx="2633133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6653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5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9" t="12601" r="9599" b="3600"/>
          <a:stretch>
            <a:fillRect/>
          </a:stretch>
        </p:blipFill>
        <p:spPr bwMode="auto">
          <a:xfrm>
            <a:off x="1493134" y="625033"/>
            <a:ext cx="10577332" cy="5212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6"/>
          <p:cNvSpPr txBox="1">
            <a:spLocks noChangeArrowheads="1"/>
          </p:cNvSpPr>
          <p:nvPr/>
        </p:nvSpPr>
        <p:spPr bwMode="auto">
          <a:xfrm>
            <a:off x="0" y="0"/>
            <a:ext cx="120704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type of solution are these cells in?</a:t>
            </a:r>
          </a:p>
        </p:txBody>
      </p:sp>
      <p:sp>
        <p:nvSpPr>
          <p:cNvPr id="27652" name="Text Box 7"/>
          <p:cNvSpPr txBox="1">
            <a:spLocks noChangeArrowheads="1"/>
          </p:cNvSpPr>
          <p:nvPr/>
        </p:nvSpPr>
        <p:spPr bwMode="auto">
          <a:xfrm>
            <a:off x="3860800" y="2819400"/>
            <a:ext cx="812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>
                <a:solidFill>
                  <a:schemeClr val="bg2"/>
                </a:solidFill>
              </a:rPr>
              <a:t>A</a:t>
            </a:r>
          </a:p>
        </p:txBody>
      </p:sp>
      <p:sp>
        <p:nvSpPr>
          <p:cNvPr id="27653" name="Text Box 8"/>
          <p:cNvSpPr txBox="1">
            <a:spLocks noChangeArrowheads="1"/>
          </p:cNvSpPr>
          <p:nvPr/>
        </p:nvSpPr>
        <p:spPr bwMode="auto">
          <a:xfrm>
            <a:off x="8839200" y="2743200"/>
            <a:ext cx="812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>
                <a:solidFill>
                  <a:schemeClr val="bg2"/>
                </a:solidFill>
              </a:rPr>
              <a:t>C</a:t>
            </a:r>
          </a:p>
        </p:txBody>
      </p:sp>
      <p:sp>
        <p:nvSpPr>
          <p:cNvPr id="27654" name="Text Box 9"/>
          <p:cNvSpPr txBox="1">
            <a:spLocks noChangeArrowheads="1"/>
          </p:cNvSpPr>
          <p:nvPr/>
        </p:nvSpPr>
        <p:spPr bwMode="auto">
          <a:xfrm>
            <a:off x="6299200" y="2743200"/>
            <a:ext cx="812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>
                <a:solidFill>
                  <a:schemeClr val="bg2"/>
                </a:solidFill>
              </a:rPr>
              <a:t>B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4307710" y="5715000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Hypertonic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7637362" y="5837825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Isotonic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9733666" y="5837825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Hypotonic</a:t>
            </a:r>
          </a:p>
        </p:txBody>
      </p:sp>
    </p:spTree>
    <p:extLst>
      <p:ext uri="{BB962C8B-B14F-4D97-AF65-F5344CB8AC3E}">
        <p14:creationId xmlns:p14="http://schemas.microsoft.com/office/powerpoint/2010/main" val="221077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" grpId="0"/>
      <p:bldP spid="11275" grpId="0"/>
      <p:bldP spid="1127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74638"/>
            <a:ext cx="12192000" cy="859681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>
                <a:solidFill>
                  <a:srgbClr val="00B050"/>
                </a:solidFill>
              </a:rPr>
              <a:t>Transport </a:t>
            </a:r>
            <a:r>
              <a:rPr lang="en-GB" sz="3200" b="1" dirty="0" smtClean="0">
                <a:solidFill>
                  <a:srgbClr val="00B050"/>
                </a:solidFill>
              </a:rPr>
              <a:t>Across </a:t>
            </a:r>
            <a:r>
              <a:rPr lang="en-GB" sz="3200" b="1" dirty="0">
                <a:solidFill>
                  <a:srgbClr val="00B050"/>
                </a:solidFill>
              </a:rPr>
              <a:t>the </a:t>
            </a:r>
            <a:r>
              <a:rPr lang="en-GB" sz="3200" b="1" dirty="0" smtClean="0">
                <a:solidFill>
                  <a:srgbClr val="00B050"/>
                </a:solidFill>
              </a:rPr>
              <a:t>Cell </a:t>
            </a:r>
            <a:r>
              <a:rPr lang="en-GB" sz="3200" b="1" dirty="0">
                <a:solidFill>
                  <a:srgbClr val="00B050"/>
                </a:solidFill>
              </a:rPr>
              <a:t>M</a:t>
            </a:r>
            <a:r>
              <a:rPr lang="en-GB" sz="3200" b="1" dirty="0" smtClean="0">
                <a:solidFill>
                  <a:srgbClr val="00B050"/>
                </a:solidFill>
              </a:rPr>
              <a:t>embranes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089" y="995423"/>
            <a:ext cx="10860911" cy="5862577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Active Transport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</a:pP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Active transport is the movement of molecules from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LOW to HIGH </a:t>
            </a: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concentration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 </a:t>
            </a:r>
            <a:endParaRPr lang="en-US" sz="2400" dirty="0" smtClean="0">
              <a:latin typeface="Calibri" pitchFamily="34" charset="0"/>
              <a:ea typeface="Times New Roman" pitchFamily="18" charset="0"/>
              <a:cs typeface="Arial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</a:pP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Energy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is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Required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as molecules must be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Pumped Against</a:t>
            </a:r>
            <a:r>
              <a:rPr 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the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concentration </a:t>
            </a: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gradient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</a:pP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Proteins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that work as pumps are called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Protein Pumps</a:t>
            </a:r>
            <a:endParaRPr lang="en-US" sz="24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</a:pP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Ex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lang="en-US" sz="2400" b="1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Body cells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must </a:t>
            </a:r>
            <a:r>
              <a:rPr lang="en-US" sz="2400" b="1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pump carbon dioxide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out into the surrounding blood vessels to be carried to the 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Lungs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for E</a:t>
            </a:r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ea typeface="Times New Roman" pitchFamily="18" charset="0"/>
                <a:cs typeface="Arial" pitchFamily="34" charset="0"/>
              </a:rPr>
              <a:t>xhale</a:t>
            </a: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</a:pPr>
            <a:r>
              <a:rPr lang="en-US" sz="2400" b="1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Blood </a:t>
            </a:r>
            <a:r>
              <a:rPr lang="en-US" sz="2400" b="1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vessels are high in carbon dioxide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compared to the </a:t>
            </a:r>
            <a:r>
              <a:rPr lang="en-US" sz="2400" b="1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cells</a:t>
            </a: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 r:embed="rId2"/>
              </a:buBlip>
            </a:pPr>
            <a:r>
              <a:rPr lang="en-US" sz="2400" b="1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so </a:t>
            </a:r>
            <a:r>
              <a:rPr lang="en-US" sz="2400" b="1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energy is required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to </a:t>
            </a:r>
            <a:r>
              <a:rPr lang="en-US" sz="2400" b="1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move the carbon dioxide </a:t>
            </a:r>
            <a:r>
              <a:rPr lang="en-US" sz="2400" dirty="0">
                <a:latin typeface="Calibri" pitchFamily="34" charset="0"/>
                <a:ea typeface="Times New Roman" pitchFamily="18" charset="0"/>
                <a:cs typeface="Arial" pitchFamily="34" charset="0"/>
              </a:rPr>
              <a:t>across the cell membrane from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LOW to HIGH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400" dirty="0" smtClean="0">
                <a:latin typeface="Calibri" pitchFamily="34" charset="0"/>
                <a:ea typeface="Times New Roman" pitchFamily="18" charset="0"/>
                <a:cs typeface="Arial" pitchFamily="34" charset="0"/>
              </a:rPr>
              <a:t>concentration</a:t>
            </a:r>
          </a:p>
          <a:p>
            <a:pPr marL="82296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4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 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12191999" cy="685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3900" smtClean="0">
                <a:solidFill>
                  <a:schemeClr val="bg1"/>
                </a:solidFill>
                <a:latin typeface="Algerian" pitchFamily="82" charset="0"/>
              </a:rPr>
              <a:t>Thank you!!!</a:t>
            </a:r>
            <a:r>
              <a:rPr lang="en-GB" sz="19900" smtClean="0">
                <a:solidFill>
                  <a:schemeClr val="bg1"/>
                </a:solidFill>
              </a:rPr>
              <a:t> </a:t>
            </a:r>
            <a:endParaRPr lang="en-US" sz="19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6790</TotalTime>
  <Words>1710</Words>
  <Application>Microsoft Office PowerPoint</Application>
  <PresentationFormat>Custom</PresentationFormat>
  <Paragraphs>282</Paragraphs>
  <Slides>28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Solstice</vt:lpstr>
      <vt:lpstr>1_Solstice</vt:lpstr>
      <vt:lpstr>PowerPoint Presentation</vt:lpstr>
      <vt:lpstr>Outline </vt:lpstr>
      <vt:lpstr>Cell and Cell Theory  </vt:lpstr>
      <vt:lpstr>PowerPoint Presentation</vt:lpstr>
      <vt:lpstr>PowerPoint Presentation</vt:lpstr>
      <vt:lpstr>Two Types of Cells </vt:lpstr>
      <vt:lpstr>Cell Structures and Functions </vt:lpstr>
      <vt:lpstr>Cell Structures and Functions </vt:lpstr>
      <vt:lpstr>Cell Structures and Functions </vt:lpstr>
      <vt:lpstr>Cell Structures and Functions </vt:lpstr>
      <vt:lpstr>Cell Structures and Functions </vt:lpstr>
      <vt:lpstr>Cell Structures and Functions </vt:lpstr>
      <vt:lpstr>Cell structures and functions </vt:lpstr>
      <vt:lpstr>Cell Structures and Functions</vt:lpstr>
      <vt:lpstr>Cell Structures and Functions </vt:lpstr>
      <vt:lpstr>Cellular Diversity </vt:lpstr>
      <vt:lpstr> Transport across the cell membranes  </vt:lpstr>
      <vt:lpstr> Transport Across the Cell Membranes  </vt:lpstr>
      <vt:lpstr>Transport Across the Cell Membranes</vt:lpstr>
      <vt:lpstr>PowerPoint Presentation</vt:lpstr>
      <vt:lpstr>Transport across the cell membranes</vt:lpstr>
      <vt:lpstr>Cells in Solutions</vt:lpstr>
      <vt:lpstr>Hypertonic Solution</vt:lpstr>
      <vt:lpstr>Hypotonic Solution</vt:lpstr>
      <vt:lpstr>Isotonic Solution</vt:lpstr>
      <vt:lpstr>PowerPoint Presentation</vt:lpstr>
      <vt:lpstr>Transport Across the Cell Membranes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 to the cell</dc:title>
  <dc:creator>Teddy</dc:creator>
  <cp:lastModifiedBy>ismail - [2010]</cp:lastModifiedBy>
  <cp:revision>506</cp:revision>
  <dcterms:created xsi:type="dcterms:W3CDTF">2015-07-12T17:25:30Z</dcterms:created>
  <dcterms:modified xsi:type="dcterms:W3CDTF">2026-02-26T23:43:53Z</dcterms:modified>
</cp:coreProperties>
</file>