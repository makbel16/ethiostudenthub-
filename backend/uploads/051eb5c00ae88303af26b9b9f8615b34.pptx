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6" r:id="rId3"/>
    <p:sldId id="284" r:id="rId4"/>
    <p:sldId id="261" r:id="rId5"/>
    <p:sldId id="263" r:id="rId6"/>
    <p:sldId id="265" r:id="rId7"/>
    <p:sldId id="269" r:id="rId8"/>
    <p:sldId id="287" r:id="rId9"/>
    <p:sldId id="270" r:id="rId10"/>
    <p:sldId id="271" r:id="rId11"/>
    <p:sldId id="272" r:id="rId12"/>
    <p:sldId id="273" r:id="rId13"/>
    <p:sldId id="275" r:id="rId14"/>
    <p:sldId id="277" r:id="rId15"/>
    <p:sldId id="278" r:id="rId16"/>
    <p:sldId id="288" r:id="rId17"/>
    <p:sldId id="289" r:id="rId18"/>
    <p:sldId id="291" r:id="rId19"/>
    <p:sldId id="292" r:id="rId20"/>
    <p:sldId id="282" r:id="rId21"/>
    <p:sldId id="293" r:id="rId22"/>
    <p:sldId id="29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110" autoAdjust="0"/>
  </p:normalViewPr>
  <p:slideViewPr>
    <p:cSldViewPr>
      <p:cViewPr varScale="1">
        <p:scale>
          <a:sx n="92" d="100"/>
          <a:sy n="92" d="100"/>
        </p:scale>
        <p:origin x="134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0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9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0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1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76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1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6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4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8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898E2-CBFB-43ED-8BFB-FE6F25BB42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E3700-436D-4D9F-BA9F-15874B22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5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81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 algn="ctr">
              <a:lnSpc>
                <a:spcPct val="170000"/>
              </a:lnSpc>
              <a:buNone/>
            </a:pPr>
            <a:r>
              <a:rPr lang="en-US" sz="6600" b="1" dirty="0" smtClean="0">
                <a:solidFill>
                  <a:srgbClr val="FF0000"/>
                </a:solidFill>
                <a:latin typeface="Apple Chancery" pitchFamily="66" charset="0"/>
              </a:rPr>
              <a:t>Life Science Foundation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sz="6600" b="1" dirty="0" smtClean="0">
                <a:solidFill>
                  <a:srgbClr val="FF0000"/>
                </a:solidFill>
                <a:latin typeface="Apple Chancery" pitchFamily="66" charset="0"/>
              </a:rPr>
              <a:t> </a:t>
            </a:r>
            <a:r>
              <a:rPr lang="en-US" sz="6600" b="1" dirty="0">
                <a:solidFill>
                  <a:srgbClr val="FF0000"/>
                </a:solidFill>
                <a:latin typeface="Apple Chancery" pitchFamily="66" charset="0"/>
              </a:rPr>
              <a:t>(Biol. 1012</a:t>
            </a:r>
            <a:r>
              <a:rPr lang="en-US" sz="6600" b="1" dirty="0" smtClean="0">
                <a:solidFill>
                  <a:srgbClr val="FF0000"/>
                </a:solidFill>
                <a:latin typeface="Apple Chancery" pitchFamily="66" charset="0"/>
              </a:rPr>
              <a:t>)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sz="6600" b="1" dirty="0" smtClean="0">
                <a:solidFill>
                  <a:srgbClr val="FF0000"/>
                </a:solidFill>
                <a:latin typeface="Apple Chancery" pitchFamily="66" charset="0"/>
              </a:rPr>
              <a:t>For Computer Science students 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sz="7800" b="1" dirty="0" smtClean="0">
                <a:solidFill>
                  <a:srgbClr val="FF0000"/>
                </a:solidFill>
                <a:latin typeface="Apple Chancery" pitchFamily="66" charset="0"/>
              </a:rPr>
              <a:t>2024/25</a:t>
            </a:r>
            <a:r>
              <a:rPr lang="en-US" sz="6600" b="1" dirty="0" smtClean="0">
                <a:solidFill>
                  <a:srgbClr val="FF0000"/>
                </a:solidFill>
                <a:latin typeface="Apple Chancery" pitchFamily="66" charset="0"/>
              </a:rPr>
              <a:t> : Academic year</a:t>
            </a:r>
            <a:r>
              <a:rPr lang="en-US" sz="6600" dirty="0">
                <a:solidFill>
                  <a:srgbClr val="FF0000"/>
                </a:solidFill>
                <a:latin typeface="Brush Script MT" panose="03060802040406070304" pitchFamily="66" charset="0"/>
              </a:rPr>
              <a:t/>
            </a:r>
            <a:br>
              <a:rPr lang="en-US" sz="6600" dirty="0">
                <a:solidFill>
                  <a:srgbClr val="FF0000"/>
                </a:solidFill>
                <a:latin typeface="Brush Script MT" panose="03060802040406070304" pitchFamily="66" charset="0"/>
              </a:rPr>
            </a:br>
            <a:endParaRPr lang="en-US" sz="66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8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b="1" dirty="0">
                <a:solidFill>
                  <a:srgbClr val="0070C0"/>
                </a:solidFill>
                <a:latin typeface="Algerian" pitchFamily="82" charset="0"/>
                <a:ea typeface="+mn-ea"/>
                <a:cs typeface="Times New Roman" pitchFamily="18" charset="0"/>
              </a:rPr>
              <a:t>Chapter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724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b="1" dirty="0">
                <a:latin typeface="Albertus MT Lt" pitchFamily="2" charset="0"/>
              </a:rPr>
              <a:t>At the end of this chapter you will be able to:</a:t>
            </a:r>
          </a:p>
          <a:p>
            <a:pPr lvl="1" algn="just">
              <a:lnSpc>
                <a:spcPct val="150000"/>
              </a:lnSpc>
              <a:buBlip>
                <a:blip r:embed="rId3"/>
              </a:buBlip>
            </a:pPr>
            <a:r>
              <a:rPr lang="en-US" sz="3200" b="1" dirty="0" smtClean="0">
                <a:latin typeface="Albertus MT Lt" pitchFamily="2" charset="0"/>
              </a:rPr>
              <a:t> Define </a:t>
            </a:r>
            <a:r>
              <a:rPr lang="en-US" sz="3200" b="1" dirty="0">
                <a:latin typeface="Albertus MT Lt" pitchFamily="2" charset="0"/>
              </a:rPr>
              <a:t>the term B</a:t>
            </a:r>
            <a:r>
              <a:rPr lang="en-US" sz="3200" b="1" dirty="0" smtClean="0">
                <a:latin typeface="Albertus MT Lt" pitchFamily="2" charset="0"/>
              </a:rPr>
              <a:t>iology</a:t>
            </a:r>
          </a:p>
          <a:p>
            <a:pPr lvl="1" algn="just">
              <a:lnSpc>
                <a:spcPct val="150000"/>
              </a:lnSpc>
              <a:buBlip>
                <a:blip r:embed="rId3"/>
              </a:buBlip>
            </a:pPr>
            <a:r>
              <a:rPr lang="en-US" sz="3200" b="1" dirty="0">
                <a:latin typeface="Albertus MT Lt" pitchFamily="2" charset="0"/>
              </a:rPr>
              <a:t> </a:t>
            </a:r>
            <a:r>
              <a:rPr lang="en-US" sz="3200" b="1" dirty="0" smtClean="0">
                <a:latin typeface="Albertus MT Lt" pitchFamily="2" charset="0"/>
              </a:rPr>
              <a:t>Explain </a:t>
            </a:r>
            <a:r>
              <a:rPr lang="en-US" sz="3200" b="1" dirty="0">
                <a:latin typeface="Albertus MT Lt" pitchFamily="2" charset="0"/>
              </a:rPr>
              <a:t>the scientific methods </a:t>
            </a:r>
            <a:r>
              <a:rPr lang="en-US" sz="3200" b="1" dirty="0" smtClean="0">
                <a:latin typeface="Albertus MT Lt" pitchFamily="2" charset="0"/>
              </a:rPr>
              <a:t>briefly</a:t>
            </a:r>
          </a:p>
          <a:p>
            <a:pPr lvl="1" algn="just">
              <a:lnSpc>
                <a:spcPct val="150000"/>
              </a:lnSpc>
              <a:buBlip>
                <a:blip r:embed="rId3"/>
              </a:buBlip>
            </a:pPr>
            <a:r>
              <a:rPr lang="en-US" sz="3200" b="1" dirty="0">
                <a:latin typeface="Albertus MT Lt" pitchFamily="2" charset="0"/>
              </a:rPr>
              <a:t> </a:t>
            </a:r>
            <a:r>
              <a:rPr lang="en-US" sz="3200" b="1" dirty="0" smtClean="0">
                <a:latin typeface="Albertus MT Lt" pitchFamily="2" charset="0"/>
              </a:rPr>
              <a:t>Explain </a:t>
            </a:r>
            <a:r>
              <a:rPr lang="en-US" sz="3200" b="1" dirty="0">
                <a:latin typeface="Albertus MT Lt" pitchFamily="2" charset="0"/>
              </a:rPr>
              <a:t>the origin and nature of life</a:t>
            </a:r>
          </a:p>
        </p:txBody>
      </p:sp>
    </p:spTree>
    <p:extLst>
      <p:ext uri="{BB962C8B-B14F-4D97-AF65-F5344CB8AC3E}">
        <p14:creationId xmlns:p14="http://schemas.microsoft.com/office/powerpoint/2010/main" val="26957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134143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bertus Extra Bold" pitchFamily="34" charset="0"/>
              </a:rPr>
              <a:t>The </a:t>
            </a:r>
            <a:r>
              <a:rPr lang="en-US" dirty="0" smtClean="0">
                <a:latin typeface="Albertus Extra Bold" pitchFamily="34" charset="0"/>
              </a:rPr>
              <a:t>Meaning </a:t>
            </a:r>
            <a:r>
              <a:rPr lang="en-US" dirty="0">
                <a:latin typeface="Albertus Extra Bold" pitchFamily="34" charset="0"/>
              </a:rPr>
              <a:t>and </a:t>
            </a:r>
            <a:r>
              <a:rPr lang="en-US" dirty="0" smtClean="0">
                <a:latin typeface="Albertus Extra Bold" pitchFamily="34" charset="0"/>
              </a:rPr>
              <a:t>Scope </a:t>
            </a:r>
            <a:r>
              <a:rPr lang="en-US" dirty="0">
                <a:latin typeface="Albertus Extra Bold" pitchFamily="34" charset="0"/>
              </a:rPr>
              <a:t>of </a:t>
            </a:r>
            <a:r>
              <a:rPr lang="en-US" dirty="0" smtClean="0">
                <a:latin typeface="Albertus Extra Bold" pitchFamily="34" charset="0"/>
              </a:rPr>
              <a:t>Biology</a:t>
            </a:r>
            <a:endParaRPr lang="en-US" dirty="0">
              <a:latin typeface="Albertus Extra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452596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dirty="0" smtClean="0">
                <a:latin typeface="Albertus MT" pitchFamily="34" charset="0"/>
              </a:rPr>
              <a:t> What is meant by Biology/Biological sci.? 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dirty="0" smtClean="0">
                <a:latin typeface="Albertus MT" pitchFamily="34" charset="0"/>
              </a:rPr>
              <a:t> Who </a:t>
            </a:r>
            <a:r>
              <a:rPr lang="en-US" dirty="0">
                <a:latin typeface="Albertus MT" pitchFamily="34" charset="0"/>
              </a:rPr>
              <a:t>C</a:t>
            </a:r>
            <a:r>
              <a:rPr lang="en-US" dirty="0" smtClean="0">
                <a:latin typeface="Albertus MT" pitchFamily="34" charset="0"/>
              </a:rPr>
              <a:t>oined the Term?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dirty="0" smtClean="0">
                <a:latin typeface="Albertus MT" pitchFamily="34" charset="0"/>
              </a:rPr>
              <a:t> What is the Scope of Biology?</a:t>
            </a:r>
          </a:p>
          <a:p>
            <a:pPr>
              <a:buBlip>
                <a:blip r:embed="rId2"/>
              </a:buBlip>
            </a:pPr>
            <a:endParaRPr lang="en-US" sz="3600" dirty="0">
              <a:latin typeface="Albertu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82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914400"/>
          </a:xfrm>
          <a:noFill/>
        </p:spPr>
        <p:txBody>
          <a:bodyPr>
            <a:normAutofit/>
          </a:bodyPr>
          <a:lstStyle/>
          <a:p>
            <a:r>
              <a:rPr lang="en-US" sz="3200" b="1" dirty="0" smtClean="0">
                <a:latin typeface="Albertus Extra Bold" pitchFamily="34" charset="0"/>
              </a:rPr>
              <a:t>1.1. The Meaning and Scope of Biology</a:t>
            </a:r>
            <a:endParaRPr lang="en-US" b="1" dirty="0">
              <a:latin typeface="Albertus Extra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067800" cy="5943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b="1" dirty="0">
                <a:latin typeface="Albertus MT" pitchFamily="34" charset="0"/>
              </a:rPr>
              <a:t>Biological Sciences </a:t>
            </a:r>
            <a:r>
              <a:rPr lang="en-US" sz="2400" dirty="0">
                <a:latin typeface="Albertus MT" pitchFamily="34" charset="0"/>
              </a:rPr>
              <a:t>is the study of life and living </a:t>
            </a:r>
            <a:r>
              <a:rPr lang="en-US" sz="2400" dirty="0" smtClean="0">
                <a:latin typeface="Albertus MT" pitchFamily="34" charset="0"/>
              </a:rPr>
              <a:t>organisms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b="1" dirty="0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Biology (Gk., </a:t>
            </a:r>
            <a:r>
              <a:rPr lang="en-US" sz="2400" b="1" i="1" dirty="0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bios</a:t>
            </a:r>
            <a:r>
              <a:rPr lang="en-US" sz="2400" b="1" dirty="0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Albertus MT" pitchFamily="34" charset="0"/>
                <a:cs typeface="Times New Roman" pitchFamily="18" charset="0"/>
              </a:rPr>
              <a:t>life</a:t>
            </a:r>
            <a:r>
              <a:rPr lang="en-US" sz="2400" b="1" dirty="0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; </a:t>
            </a:r>
            <a:r>
              <a:rPr lang="en-US" sz="2400" b="1" i="1" dirty="0" err="1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logous</a:t>
            </a:r>
            <a:r>
              <a:rPr lang="en-US" sz="2400" b="1" dirty="0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Albertus MT" pitchFamily="34" charset="0"/>
                <a:cs typeface="Times New Roman" pitchFamily="18" charset="0"/>
              </a:rPr>
              <a:t>study</a:t>
            </a:r>
            <a:r>
              <a:rPr lang="en-US" sz="2400" b="1" dirty="0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) is the study of living </a:t>
            </a:r>
            <a:r>
              <a:rPr lang="en-US" sz="2400" b="1" dirty="0" smtClean="0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beings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b="1" dirty="0" smtClean="0">
                <a:solidFill>
                  <a:srgbClr val="0070C0"/>
                </a:solidFill>
                <a:latin typeface="Albertus MT" pitchFamily="34" charset="0"/>
                <a:cs typeface="Times New Roman" pitchFamily="18" charset="0"/>
              </a:rPr>
              <a:t>Also called </a:t>
            </a:r>
            <a:r>
              <a:rPr lang="en-US" sz="2400" b="1" i="1" dirty="0">
                <a:latin typeface="Albertus MT" pitchFamily="34" charset="0"/>
              </a:rPr>
              <a:t>Life Science</a:t>
            </a:r>
            <a:endParaRPr lang="en-US" sz="2400" b="1" dirty="0" smtClean="0">
              <a:solidFill>
                <a:srgbClr val="FF0000"/>
              </a:solidFill>
              <a:latin typeface="Albertus MT" pitchFamily="34" charset="0"/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dirty="0" smtClean="0">
                <a:latin typeface="Albertus MT" pitchFamily="34" charset="0"/>
              </a:rPr>
              <a:t>The term biology was coined by </a:t>
            </a:r>
            <a:r>
              <a:rPr lang="en-US" sz="2400" dirty="0">
                <a:solidFill>
                  <a:srgbClr val="FF0000"/>
                </a:solidFill>
                <a:latin typeface="Albertus MT" pitchFamily="34" charset="0"/>
              </a:rPr>
              <a:t>Pierre-Antoine de Monet </a:t>
            </a:r>
            <a:r>
              <a:rPr lang="en-US" sz="2400" dirty="0">
                <a:latin typeface="Albertus MT" pitchFamily="34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Albertus MT" pitchFamily="34" charset="0"/>
              </a:rPr>
              <a:t>Jean-Baptiste de Lamarck </a:t>
            </a:r>
            <a:r>
              <a:rPr lang="en-US" sz="2400" dirty="0" smtClean="0">
                <a:latin typeface="Albertus MT" pitchFamily="34" charset="0"/>
              </a:rPr>
              <a:t>in </a:t>
            </a:r>
            <a:r>
              <a:rPr lang="en-US" sz="2400" dirty="0">
                <a:latin typeface="Albertus MT" pitchFamily="34" charset="0"/>
              </a:rPr>
              <a:t>the late </a:t>
            </a:r>
            <a:r>
              <a:rPr lang="en-US" sz="2400" dirty="0" smtClean="0">
                <a:latin typeface="Albertus MT" pitchFamily="34" charset="0"/>
              </a:rPr>
              <a:t>1700s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dirty="0" smtClean="0">
                <a:latin typeface="Albertus MT" pitchFamily="34" charset="0"/>
              </a:rPr>
              <a:t>Earlier </a:t>
            </a:r>
            <a:r>
              <a:rPr lang="en-US" sz="2400" dirty="0">
                <a:latin typeface="Albertus MT" pitchFamily="34" charset="0"/>
              </a:rPr>
              <a:t>study of living things was restricted to the </a:t>
            </a:r>
            <a:r>
              <a:rPr lang="en-US" sz="2400" b="1" dirty="0">
                <a:latin typeface="Albertus MT" pitchFamily="34" charset="0"/>
              </a:rPr>
              <a:t>pure Science </a:t>
            </a:r>
            <a:r>
              <a:rPr lang="en-US" sz="2400" dirty="0">
                <a:latin typeface="Albertus MT" pitchFamily="34" charset="0"/>
              </a:rPr>
              <a:t>like </a:t>
            </a:r>
            <a:r>
              <a:rPr lang="en-US" sz="2400" dirty="0">
                <a:solidFill>
                  <a:srgbClr val="FF0000"/>
                </a:solidFill>
                <a:latin typeface="Albertus MT" pitchFamily="34" charset="0"/>
              </a:rPr>
              <a:t>Botany</a:t>
            </a:r>
            <a:r>
              <a:rPr lang="en-US" sz="2400" dirty="0">
                <a:latin typeface="Albertus MT" pitchFamily="34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Albertus MT" pitchFamily="34" charset="0"/>
              </a:rPr>
              <a:t>Zoology</a:t>
            </a:r>
            <a:r>
              <a:rPr lang="en-US" sz="2400" dirty="0">
                <a:latin typeface="Albertus MT" pitchFamily="34" charset="0"/>
              </a:rPr>
              <a:t> that together comprise the Biology, but as the time passed new branches </a:t>
            </a:r>
            <a:r>
              <a:rPr lang="en-US" sz="2400" dirty="0" smtClean="0">
                <a:latin typeface="Albertus MT" pitchFamily="34" charset="0"/>
              </a:rPr>
              <a:t>evolved</a:t>
            </a:r>
            <a:r>
              <a:rPr lang="en-US" sz="2400" dirty="0">
                <a:latin typeface="Albertus MT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102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  <a:noFill/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latin typeface="Albertus Extra Bold" pitchFamily="34" charset="0"/>
              </a:rPr>
              <a:t>Scope of Biology </a:t>
            </a:r>
            <a:endParaRPr lang="en-US" b="1" dirty="0">
              <a:latin typeface="Albertus Extra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96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300" b="1" dirty="0">
                <a:latin typeface="Albertus MT Lt" pitchFamily="2" charset="0"/>
              </a:rPr>
              <a:t>Biological Sciences </a:t>
            </a:r>
            <a:r>
              <a:rPr lang="en-US" sz="2300" dirty="0">
                <a:latin typeface="Albertus MT Lt" pitchFamily="2" charset="0"/>
              </a:rPr>
              <a:t>is an extensive study  covering the </a:t>
            </a:r>
            <a:r>
              <a:rPr lang="en-US" sz="2300" b="1" dirty="0">
                <a:solidFill>
                  <a:srgbClr val="FF0000"/>
                </a:solidFill>
                <a:latin typeface="Albertus MT Lt" pitchFamily="2" charset="0"/>
              </a:rPr>
              <a:t>minute workings </a:t>
            </a:r>
            <a:r>
              <a:rPr lang="en-US" sz="2300" b="1" dirty="0" smtClean="0">
                <a:solidFill>
                  <a:srgbClr val="FF0000"/>
                </a:solidFill>
                <a:latin typeface="Albertus MT Lt" pitchFamily="2" charset="0"/>
              </a:rPr>
              <a:t>of  </a:t>
            </a:r>
            <a:r>
              <a:rPr lang="en-US" sz="2300" b="1" dirty="0">
                <a:solidFill>
                  <a:srgbClr val="FF0000"/>
                </a:solidFill>
                <a:latin typeface="Albertus MT Lt" pitchFamily="2" charset="0"/>
              </a:rPr>
              <a:t>chemical  substances</a:t>
            </a:r>
            <a:r>
              <a:rPr lang="en-US" sz="2300" dirty="0">
                <a:latin typeface="Albertus MT Lt" pitchFamily="2" charset="0"/>
              </a:rPr>
              <a:t>  inside  living  cells  to  the  broad  scale  concepts  of  </a:t>
            </a:r>
            <a:r>
              <a:rPr lang="en-US" sz="2300" dirty="0">
                <a:solidFill>
                  <a:srgbClr val="FF0000"/>
                </a:solidFill>
                <a:latin typeface="Albertus MT Lt" pitchFamily="2" charset="0"/>
              </a:rPr>
              <a:t>ecosystems</a:t>
            </a:r>
            <a:r>
              <a:rPr lang="en-US" sz="2300" dirty="0">
                <a:latin typeface="Albertus MT Lt" pitchFamily="2" charset="0"/>
              </a:rPr>
              <a:t>  and </a:t>
            </a:r>
            <a:r>
              <a:rPr lang="en-US" sz="2300" dirty="0" smtClean="0">
                <a:solidFill>
                  <a:srgbClr val="FF0000"/>
                </a:solidFill>
                <a:latin typeface="Albertus MT Lt" pitchFamily="2" charset="0"/>
              </a:rPr>
              <a:t>global </a:t>
            </a:r>
            <a:r>
              <a:rPr lang="en-US" sz="2300" dirty="0">
                <a:solidFill>
                  <a:srgbClr val="FF0000"/>
                </a:solidFill>
                <a:latin typeface="Albertus MT Lt" pitchFamily="2" charset="0"/>
              </a:rPr>
              <a:t>environmental </a:t>
            </a:r>
            <a:r>
              <a:rPr lang="en-US" sz="2300" dirty="0" smtClean="0">
                <a:solidFill>
                  <a:srgbClr val="FF0000"/>
                </a:solidFill>
                <a:latin typeface="Albertus MT Lt" pitchFamily="2" charset="0"/>
              </a:rPr>
              <a:t>changes</a:t>
            </a:r>
            <a:endParaRPr lang="en-US" sz="2300" dirty="0">
              <a:solidFill>
                <a:srgbClr val="FF0000"/>
              </a:solidFill>
              <a:latin typeface="Albertus MT Lt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667000"/>
            <a:ext cx="6705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685800"/>
          </a:xfrm>
          <a:noFill/>
        </p:spPr>
        <p:txBody>
          <a:bodyPr>
            <a:normAutofit/>
          </a:bodyPr>
          <a:lstStyle/>
          <a:p>
            <a:r>
              <a:rPr lang="en-US" sz="3200" b="1" dirty="0" smtClean="0">
                <a:latin typeface="Albertus Extra Bold" pitchFamily="34" charset="0"/>
              </a:rPr>
              <a:t>1.2. The 0rigin and Nature of Life</a:t>
            </a:r>
            <a:endParaRPr lang="en-US" b="1" dirty="0">
              <a:latin typeface="Albertus Extra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991600" cy="6019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b="1" dirty="0" smtClean="0">
                <a:latin typeface="Albertus MT Lt" pitchFamily="2" charset="0"/>
              </a:rPr>
              <a:t>What is life?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dirty="0">
                <a:latin typeface="Albertus MT Lt" pitchFamily="2" charset="0"/>
              </a:rPr>
              <a:t>One of the biggest and most important of emergent phenomena is that of the </a:t>
            </a:r>
            <a:r>
              <a:rPr lang="en-US" sz="2400" dirty="0">
                <a:solidFill>
                  <a:srgbClr val="FF0000"/>
                </a:solidFill>
                <a:latin typeface="Albertus MT Lt" pitchFamily="2" charset="0"/>
              </a:rPr>
              <a:t>origin or emergence of </a:t>
            </a:r>
            <a:r>
              <a:rPr lang="en-US" sz="2400" dirty="0" smtClean="0">
                <a:solidFill>
                  <a:srgbClr val="FF0000"/>
                </a:solidFill>
                <a:latin typeface="Albertus MT Lt" pitchFamily="2" charset="0"/>
              </a:rPr>
              <a:t>life</a:t>
            </a:r>
            <a:r>
              <a:rPr lang="en-US" sz="2400" dirty="0">
                <a:latin typeface="Albertus MT Lt" pitchFamily="2" charset="0"/>
              </a:rPr>
              <a:t> </a:t>
            </a:r>
            <a:endParaRPr lang="en-US" sz="2400" dirty="0" smtClean="0">
              <a:latin typeface="Albertus MT Lt" pitchFamily="2" charset="0"/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dirty="0" smtClean="0">
                <a:latin typeface="Albertus MT Lt" pitchFamily="2" charset="0"/>
              </a:rPr>
              <a:t>The </a:t>
            </a:r>
            <a:r>
              <a:rPr lang="en-US" sz="2400" dirty="0">
                <a:latin typeface="Albertus MT Lt" pitchFamily="2" charset="0"/>
              </a:rPr>
              <a:t>mystery of life's origin is still </a:t>
            </a:r>
            <a:r>
              <a:rPr lang="en-US" sz="2400" b="1" dirty="0">
                <a:latin typeface="Albertus MT Lt" pitchFamily="2" charset="0"/>
              </a:rPr>
              <a:t>a big debating issue</a:t>
            </a:r>
            <a:r>
              <a:rPr lang="en-US" sz="2400" dirty="0">
                <a:latin typeface="Albertus MT Lt" pitchFamily="2" charset="0"/>
              </a:rPr>
              <a:t> in </a:t>
            </a:r>
            <a:r>
              <a:rPr lang="en-US" sz="2400" dirty="0" smtClean="0">
                <a:latin typeface="Albertus MT Lt" pitchFamily="2" charset="0"/>
              </a:rPr>
              <a:t>science</a:t>
            </a:r>
            <a:r>
              <a:rPr lang="en-US" sz="2400" dirty="0">
                <a:latin typeface="Albertus MT Lt" pitchFamily="2" charset="0"/>
              </a:rPr>
              <a:t> </a:t>
            </a:r>
            <a:endParaRPr lang="en-US" sz="2400" dirty="0" smtClean="0">
              <a:latin typeface="Albertus MT Lt" pitchFamily="2" charset="0"/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dirty="0">
                <a:latin typeface="Albertus MT Lt" pitchFamily="2" charset="0"/>
              </a:rPr>
              <a:t>There are a number of theories about the origin of </a:t>
            </a:r>
            <a:r>
              <a:rPr lang="en-US" sz="2400" dirty="0" smtClean="0">
                <a:latin typeface="Albertus MT Lt" pitchFamily="2" charset="0"/>
              </a:rPr>
              <a:t>life</a:t>
            </a:r>
            <a:r>
              <a:rPr lang="en-US" sz="2400" dirty="0">
                <a:latin typeface="Albertus MT Lt" pitchFamily="2" charset="0"/>
              </a:rPr>
              <a:t> </a:t>
            </a:r>
            <a:endParaRPr lang="en-US" sz="2400" dirty="0" smtClean="0">
              <a:latin typeface="Albertus MT Lt" pitchFamily="2" charset="0"/>
            </a:endParaRPr>
          </a:p>
          <a:p>
            <a:pPr lvl="4" algn="just">
              <a:lnSpc>
                <a:spcPct val="150000"/>
              </a:lnSpc>
              <a:buBlip>
                <a:blip r:embed="rId3"/>
              </a:buBlip>
            </a:pPr>
            <a:r>
              <a:rPr lang="en-US" b="1" i="1" dirty="0">
                <a:latin typeface="Albertus MT Lt" pitchFamily="2" charset="0"/>
              </a:rPr>
              <a:t>Special </a:t>
            </a:r>
            <a:r>
              <a:rPr lang="en-US" b="1" i="1" dirty="0" smtClean="0">
                <a:latin typeface="Albertus MT Lt" pitchFamily="2" charset="0"/>
              </a:rPr>
              <a:t>Creationism</a:t>
            </a:r>
          </a:p>
          <a:p>
            <a:pPr lvl="4" algn="just">
              <a:lnSpc>
                <a:spcPct val="150000"/>
              </a:lnSpc>
              <a:buBlip>
                <a:blip r:embed="rId3"/>
              </a:buBlip>
            </a:pPr>
            <a:r>
              <a:rPr lang="en-US" b="1" i="1" dirty="0" smtClean="0">
                <a:latin typeface="Albertus MT Lt" pitchFamily="2" charset="0"/>
              </a:rPr>
              <a:t>Spontaneous Generation </a:t>
            </a:r>
          </a:p>
          <a:p>
            <a:pPr lvl="4" algn="just">
              <a:lnSpc>
                <a:spcPct val="150000"/>
              </a:lnSpc>
              <a:buBlip>
                <a:blip r:embed="rId3"/>
              </a:buBlip>
            </a:pPr>
            <a:r>
              <a:rPr lang="en-US" b="1" i="1" dirty="0">
                <a:latin typeface="Albertus MT Lt" pitchFamily="2" charset="0"/>
              </a:rPr>
              <a:t>Theory of Catastrophism</a:t>
            </a:r>
            <a:endParaRPr lang="en-US" b="1" i="1" dirty="0" smtClean="0">
              <a:latin typeface="Albertus MT Lt" pitchFamily="2" charset="0"/>
            </a:endParaRPr>
          </a:p>
          <a:p>
            <a:pPr lvl="4" algn="just">
              <a:lnSpc>
                <a:spcPct val="150000"/>
              </a:lnSpc>
              <a:buBlip>
                <a:blip r:embed="rId3"/>
              </a:buBlip>
            </a:pPr>
            <a:r>
              <a:rPr lang="en-US" b="1" i="1" dirty="0">
                <a:latin typeface="Albertus MT Lt" pitchFamily="2" charset="0"/>
              </a:rPr>
              <a:t>Cosmozoic Theory (Theory of Panspermia</a:t>
            </a:r>
            <a:r>
              <a:rPr lang="en-US" b="1" i="1" dirty="0" smtClean="0">
                <a:latin typeface="Albertus MT Lt" pitchFamily="2" charset="0"/>
              </a:rPr>
              <a:t>)</a:t>
            </a:r>
          </a:p>
          <a:p>
            <a:pPr lvl="4" algn="just">
              <a:lnSpc>
                <a:spcPct val="150000"/>
              </a:lnSpc>
              <a:buBlip>
                <a:blip r:embed="rId3"/>
              </a:buBlip>
            </a:pPr>
            <a:r>
              <a:rPr lang="en-US" b="1" i="1" dirty="0" smtClean="0">
                <a:latin typeface="Albertus MT Lt" pitchFamily="2" charset="0"/>
              </a:rPr>
              <a:t>Chemical Evolution </a:t>
            </a:r>
            <a:endParaRPr lang="en-US" dirty="0" smtClean="0">
              <a:latin typeface="Albertus MT Lt" pitchFamily="2" charset="0"/>
            </a:endParaRPr>
          </a:p>
          <a:p>
            <a:pPr algn="just">
              <a:lnSpc>
                <a:spcPct val="150000"/>
              </a:lnSpc>
            </a:pPr>
            <a:endParaRPr lang="en-US" sz="2400" b="1" i="1" dirty="0" smtClean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037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latin typeface="Albertus Extra Bold" pitchFamily="34" charset="0"/>
              </a:rPr>
              <a:t>1.2 The origin and nature….Cont’d</a:t>
            </a:r>
            <a:endParaRPr lang="en-US" b="1" dirty="0">
              <a:latin typeface="Albertus Extra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1"/>
            <a:ext cx="9067800" cy="1752600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b="1" i="1" dirty="0" smtClean="0">
                <a:latin typeface="Albertus MT" pitchFamily="34" charset="0"/>
              </a:rPr>
              <a:t>Theory </a:t>
            </a:r>
            <a:r>
              <a:rPr lang="en-US" sz="2400" b="1" i="1" dirty="0">
                <a:latin typeface="Albertus MT" pitchFamily="34" charset="0"/>
              </a:rPr>
              <a:t>of Special Creation</a:t>
            </a:r>
            <a:r>
              <a:rPr lang="en-US" sz="2400" dirty="0">
                <a:latin typeface="Albertus MT" pitchFamily="34" charset="0"/>
              </a:rPr>
              <a:t>: according to this theory, all the different forms of life that occur today on planet earth have been created by </a:t>
            </a:r>
            <a:r>
              <a:rPr lang="en-US" sz="2000" b="1" dirty="0">
                <a:solidFill>
                  <a:srgbClr val="FF0000"/>
                </a:solidFill>
                <a:latin typeface="Albertus MT" pitchFamily="34" charset="0"/>
                <a:cs typeface="Times New Roman" pitchFamily="18" charset="0"/>
              </a:rPr>
              <a:t>God, the </a:t>
            </a:r>
            <a:r>
              <a:rPr lang="en-US" sz="2000" b="1" dirty="0" smtClean="0">
                <a:solidFill>
                  <a:srgbClr val="FF0000"/>
                </a:solidFill>
                <a:latin typeface="Albertus MT" pitchFamily="34" charset="0"/>
                <a:cs typeface="Times New Roman" pitchFamily="18" charset="0"/>
              </a:rPr>
              <a:t>almighty </a:t>
            </a:r>
            <a:endParaRPr lang="en-US" sz="2000" b="1" dirty="0">
              <a:solidFill>
                <a:srgbClr val="FF0000"/>
              </a:solidFill>
              <a:latin typeface="Albertus MT" pitchFamily="34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13" name="Picture 2" descr="use my DIVINE power and mystic psyche to positively effect and influence you or a loved 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34" y="2895600"/>
            <a:ext cx="318106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encrypted-tbn0.gstatic.com/images?q=tbn:ANd9GcQCdtyniFPc9N07nhOl6kewVY0ilHO1rowjDP2UlpRaG_GqEITYLQ&amp;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895600"/>
            <a:ext cx="26193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https://www.fthinking.org/wp-content/uploads/2017/12/Creation-Science-1-750x42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895600"/>
            <a:ext cx="22098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32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2500"/>
            <a:ext cx="9143999" cy="36957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900" b="1" i="1" dirty="0" smtClean="0">
                <a:latin typeface="Albertus Medium" pitchFamily="34" charset="0"/>
              </a:rPr>
              <a:t>2 . Theory </a:t>
            </a:r>
            <a:r>
              <a:rPr lang="en-US" sz="2900" b="1" i="1" dirty="0">
                <a:latin typeface="Albertus Medium" pitchFamily="34" charset="0"/>
              </a:rPr>
              <a:t>of Spontaneous Generation</a:t>
            </a:r>
            <a:r>
              <a:rPr lang="en-US" sz="2900" dirty="0">
                <a:latin typeface="Albertus Medium" pitchFamily="34" charset="0"/>
              </a:rPr>
              <a:t>: </a:t>
            </a:r>
          </a:p>
          <a:p>
            <a:pPr lvl="1" algn="just">
              <a:lnSpc>
                <a:spcPct val="150000"/>
              </a:lnSpc>
              <a:buBlip>
                <a:blip r:embed="rId2"/>
              </a:buBlip>
            </a:pPr>
            <a:r>
              <a:rPr lang="en-US" sz="2600" dirty="0">
                <a:latin typeface="Albertus Medium" pitchFamily="34" charset="0"/>
              </a:rPr>
              <a:t>T</a:t>
            </a:r>
            <a:r>
              <a:rPr lang="en-US" sz="2600" dirty="0" smtClean="0">
                <a:latin typeface="Albertus Medium" pitchFamily="34" charset="0"/>
              </a:rPr>
              <a:t>his </a:t>
            </a:r>
            <a:r>
              <a:rPr lang="en-US" sz="2600" dirty="0">
                <a:latin typeface="Albertus Medium" pitchFamily="34" charset="0"/>
              </a:rPr>
              <a:t>theory assumed that living organisms could arise </a:t>
            </a:r>
            <a:r>
              <a:rPr lang="en-US" sz="2600" b="1" u="sng" dirty="0">
                <a:solidFill>
                  <a:srgbClr val="0070C0"/>
                </a:solidFill>
                <a:latin typeface="Albertus Medium" pitchFamily="34" charset="0"/>
                <a:cs typeface="Times New Roman" pitchFamily="18" charset="0"/>
              </a:rPr>
              <a:t>suddenly</a:t>
            </a:r>
            <a:r>
              <a:rPr lang="en-US" sz="2600" b="1" dirty="0">
                <a:solidFill>
                  <a:srgbClr val="0070C0"/>
                </a:solidFill>
                <a:latin typeface="Albertus Medium" pitchFamily="34" charset="0"/>
                <a:cs typeface="Times New Roman" pitchFamily="18" charset="0"/>
              </a:rPr>
              <a:t> and </a:t>
            </a:r>
            <a:r>
              <a:rPr lang="en-US" sz="2600" b="1" u="sng" dirty="0">
                <a:solidFill>
                  <a:srgbClr val="0070C0"/>
                </a:solidFill>
                <a:latin typeface="Albertus Medium" pitchFamily="34" charset="0"/>
                <a:cs typeface="Times New Roman" pitchFamily="18" charset="0"/>
              </a:rPr>
              <a:t>spontaneously</a:t>
            </a:r>
            <a:r>
              <a:rPr lang="en-US" sz="2600" b="1" dirty="0">
                <a:latin typeface="Albertus Medium" pitchFamily="34" charset="0"/>
              </a:rPr>
              <a:t> </a:t>
            </a:r>
            <a:r>
              <a:rPr lang="en-US" sz="2600" dirty="0">
                <a:latin typeface="Albertus Medium" pitchFamily="34" charset="0"/>
              </a:rPr>
              <a:t>from any kind of </a:t>
            </a:r>
            <a:r>
              <a:rPr lang="en-US" sz="2600" b="1" u="sng" dirty="0">
                <a:solidFill>
                  <a:srgbClr val="FF0000"/>
                </a:solidFill>
                <a:latin typeface="Albertus Medium" pitchFamily="34" charset="0"/>
              </a:rPr>
              <a:t>non-living matter</a:t>
            </a:r>
            <a:r>
              <a:rPr lang="en-US" sz="2600" b="1" dirty="0">
                <a:solidFill>
                  <a:srgbClr val="FF0000"/>
                </a:solidFill>
                <a:latin typeface="Albertus Medium" pitchFamily="34" charset="0"/>
              </a:rPr>
              <a:t>.</a:t>
            </a:r>
            <a:r>
              <a:rPr lang="en-US" sz="2600" dirty="0">
                <a:solidFill>
                  <a:srgbClr val="FF0000"/>
                </a:solidFill>
                <a:latin typeface="Albertus Medium" pitchFamily="34" charset="0"/>
              </a:rPr>
              <a:t> </a:t>
            </a:r>
          </a:p>
          <a:p>
            <a:pPr lvl="1" algn="just">
              <a:lnSpc>
                <a:spcPct val="150000"/>
              </a:lnSpc>
              <a:buBlip>
                <a:blip r:embed="rId2"/>
              </a:buBlip>
            </a:pPr>
            <a:r>
              <a:rPr lang="en-US" sz="2600" dirty="0">
                <a:latin typeface="Albertus Medium" pitchFamily="34" charset="0"/>
              </a:rPr>
              <a:t>One of the firm believers in spontaneous generation was </a:t>
            </a:r>
            <a:r>
              <a:rPr lang="en-US" sz="2600" b="1" dirty="0">
                <a:solidFill>
                  <a:srgbClr val="0070C0"/>
                </a:solidFill>
                <a:latin typeface="Albertus Medium" pitchFamily="34" charset="0"/>
                <a:cs typeface="Times New Roman" pitchFamily="18" charset="0"/>
              </a:rPr>
              <a:t>Aristotle</a:t>
            </a:r>
            <a:r>
              <a:rPr lang="en-US" sz="2600" dirty="0">
                <a:latin typeface="Albertus Medium" pitchFamily="34" charset="0"/>
              </a:rPr>
              <a:t>, the Greek </a:t>
            </a:r>
            <a:r>
              <a:rPr lang="en-US" sz="2600" dirty="0" smtClean="0">
                <a:latin typeface="Albertus Medium" pitchFamily="34" charset="0"/>
              </a:rPr>
              <a:t>philosopher</a:t>
            </a:r>
          </a:p>
          <a:p>
            <a:pPr lvl="1" algn="just">
              <a:lnSpc>
                <a:spcPct val="150000"/>
              </a:lnSpc>
              <a:buBlip>
                <a:blip r:embed="rId2"/>
              </a:buBlip>
            </a:pPr>
            <a:r>
              <a:rPr lang="en-US" sz="2600" b="1" dirty="0">
                <a:solidFill>
                  <a:srgbClr val="000000"/>
                </a:solidFill>
                <a:latin typeface="Albertus Medium" pitchFamily="34" charset="0"/>
              </a:rPr>
              <a:t>Francesco </a:t>
            </a:r>
            <a:r>
              <a:rPr lang="en-US" sz="2600" b="1" dirty="0" err="1" smtClean="0">
                <a:solidFill>
                  <a:srgbClr val="000000"/>
                </a:solidFill>
                <a:latin typeface="Albertus Medium" pitchFamily="34" charset="0"/>
              </a:rPr>
              <a:t>Redi</a:t>
            </a:r>
            <a:r>
              <a:rPr lang="en-US" sz="2600" b="1" dirty="0" smtClean="0">
                <a:solidFill>
                  <a:srgbClr val="000000"/>
                </a:solidFill>
                <a:latin typeface="Albertus Medium" pitchFamily="34" charset="0"/>
              </a:rPr>
              <a:t> and </a:t>
            </a:r>
            <a:r>
              <a:rPr lang="en-US" sz="2600" b="1" dirty="0">
                <a:solidFill>
                  <a:srgbClr val="000000"/>
                </a:solidFill>
                <a:latin typeface="Albertus Medium" pitchFamily="34" charset="0"/>
              </a:rPr>
              <a:t>Louis </a:t>
            </a:r>
            <a:r>
              <a:rPr lang="en-US" sz="2600" b="1" dirty="0" smtClean="0">
                <a:solidFill>
                  <a:srgbClr val="000000"/>
                </a:solidFill>
                <a:latin typeface="Albertus Medium" pitchFamily="34" charset="0"/>
              </a:rPr>
              <a:t>Pasteur </a:t>
            </a:r>
            <a:r>
              <a:rPr lang="en-US" sz="2600" dirty="0" smtClean="0">
                <a:solidFill>
                  <a:srgbClr val="000000"/>
                </a:solidFill>
                <a:latin typeface="Albertus Medium" pitchFamily="34" charset="0"/>
              </a:rPr>
              <a:t>disproved spontaneous generation  and they suggested that life came from pre-existing life</a:t>
            </a:r>
          </a:p>
          <a:p>
            <a:pPr lvl="1" algn="just">
              <a:lnSpc>
                <a:spcPct val="150000"/>
              </a:lnSpc>
              <a:buBlip>
                <a:blip r:embed="rId2"/>
              </a:buBlip>
            </a:pPr>
            <a:r>
              <a:rPr lang="en-US" sz="2600" dirty="0" smtClean="0">
                <a:solidFill>
                  <a:srgbClr val="000000"/>
                </a:solidFill>
                <a:latin typeface="Albertus Medium" pitchFamily="34" charset="0"/>
              </a:rPr>
              <a:t>Thus, they are </a:t>
            </a:r>
            <a:r>
              <a:rPr lang="en-US" sz="2600" b="1" dirty="0" smtClean="0">
                <a:solidFill>
                  <a:srgbClr val="000000"/>
                </a:solidFill>
                <a:latin typeface="Albertus Medium" pitchFamily="34" charset="0"/>
              </a:rPr>
              <a:t>biogenesists  </a:t>
            </a:r>
            <a:endParaRPr lang="en-US" sz="2600" dirty="0" smtClean="0">
              <a:latin typeface="Albertus Medium" pitchFamily="34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noFill/>
        </p:spPr>
        <p:txBody>
          <a:bodyPr>
            <a:normAutofit fontScale="90000"/>
          </a:bodyPr>
          <a:lstStyle/>
          <a:p>
            <a:r>
              <a:rPr lang="en-US" sz="3200" dirty="0" smtClean="0"/>
              <a:t>1.2 The origin and nature of life</a:t>
            </a:r>
            <a:endParaRPr lang="en-US" dirty="0"/>
          </a:p>
        </p:txBody>
      </p:sp>
      <p:pic>
        <p:nvPicPr>
          <p:cNvPr id="3074" name="Picture 2" descr="https://encrypted-tbn0.gstatic.com/images?q=tbn:ANd9GcRxcK7ZoO_HiC7HUNznMlLjt2FB2cXZtteMi6fTx00AtAlPBD1d&amp;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0"/>
            <a:ext cx="2179494" cy="196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6" descr="https://upload.wikimedia.org/wikipedia/commons/thumb/a/a6/Louis_Pasteur%2C_foto_av_Paul_Nadar%2C_Crisco_edit.jpg/1200px-Louis_Pasteur%2C_foto_av_Paul_Nadar%2C_Crisco_edit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Image result for francesko redi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4572000"/>
            <a:ext cx="2264373" cy="16828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49314" y="6254853"/>
            <a:ext cx="2879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Louis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Pasteur</a:t>
            </a:r>
            <a:r>
              <a:rPr lang="en-US" dirty="0"/>
              <a:t> </a:t>
            </a:r>
            <a:r>
              <a:rPr lang="en-US" dirty="0" smtClean="0"/>
              <a:t>1822-</a:t>
            </a:r>
            <a:r>
              <a:rPr lang="en-US" dirty="0"/>
              <a:t> 1895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5755" y="6442159"/>
            <a:ext cx="2382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Aristotle</a:t>
            </a:r>
            <a:r>
              <a:rPr lang="en-US" dirty="0"/>
              <a:t> (384-322 BC). </a:t>
            </a:r>
            <a:endParaRPr lang="en-US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448" y="4572000"/>
            <a:ext cx="2474830" cy="168285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965257" y="6338689"/>
            <a:ext cx="30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Francesco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Redi-</a:t>
            </a:r>
            <a:r>
              <a:rPr lang="en-US" dirty="0" smtClean="0"/>
              <a:t>1626-</a:t>
            </a:r>
            <a:r>
              <a:rPr lang="en-US" dirty="0"/>
              <a:t> 1697</a:t>
            </a:r>
          </a:p>
        </p:txBody>
      </p:sp>
    </p:spTree>
    <p:extLst>
      <p:ext uri="{BB962C8B-B14F-4D97-AF65-F5344CB8AC3E}">
        <p14:creationId xmlns:p14="http://schemas.microsoft.com/office/powerpoint/2010/main" val="254827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  <a:noFill/>
        </p:spPr>
        <p:txBody>
          <a:bodyPr>
            <a:normAutofit fontScale="90000"/>
          </a:bodyPr>
          <a:lstStyle/>
          <a:p>
            <a:r>
              <a:rPr lang="en-US" sz="3200" dirty="0"/>
              <a:t>1.2 The origin and nature….Cont’d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1" y="762000"/>
            <a:ext cx="5029200" cy="5867400"/>
          </a:xfrm>
        </p:spPr>
        <p:txBody>
          <a:bodyPr>
            <a:normAutofit fontScale="92500"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1" i="1" dirty="0" smtClean="0"/>
              <a:t>Theory </a:t>
            </a:r>
            <a:r>
              <a:rPr lang="en-US" sz="2400" b="1" i="1" dirty="0"/>
              <a:t>of Catastrophism</a:t>
            </a:r>
            <a:r>
              <a:rPr lang="en-US" sz="2400" dirty="0" smtClean="0"/>
              <a:t>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smtClean="0"/>
              <a:t> </a:t>
            </a:r>
            <a:r>
              <a:rPr lang="en-US" sz="2200" dirty="0">
                <a:latin typeface="Albertus MT" pitchFamily="34" charset="0"/>
              </a:rPr>
              <a:t>It is simply a modification of the theory of Special </a:t>
            </a:r>
            <a:r>
              <a:rPr lang="en-US" sz="2200" dirty="0" smtClean="0">
                <a:latin typeface="Albertus MT" pitchFamily="34" charset="0"/>
              </a:rPr>
              <a:t>Creation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Albertus MT" pitchFamily="34" charset="0"/>
              </a:rPr>
              <a:t>It </a:t>
            </a:r>
            <a:r>
              <a:rPr lang="en-US" sz="2200" dirty="0">
                <a:latin typeface="Albertus MT" pitchFamily="34" charset="0"/>
              </a:rPr>
              <a:t>states that there have been several creations of life by God, each preceded by </a:t>
            </a:r>
            <a:r>
              <a:rPr lang="en-US" sz="2200" b="1" dirty="0">
                <a:latin typeface="Albertus MT" pitchFamily="34" charset="0"/>
              </a:rPr>
              <a:t>a catastrophe</a:t>
            </a:r>
            <a:r>
              <a:rPr lang="en-US" sz="2200" dirty="0">
                <a:latin typeface="Albertus MT" pitchFamily="34" charset="0"/>
              </a:rPr>
              <a:t> resulting from some kind of geological </a:t>
            </a:r>
            <a:r>
              <a:rPr lang="en-US" sz="2200" dirty="0" smtClean="0">
                <a:latin typeface="Albertus MT" pitchFamily="34" charset="0"/>
              </a:rPr>
              <a:t>disturbance</a:t>
            </a:r>
            <a:r>
              <a:rPr lang="en-US" sz="2200" dirty="0">
                <a:latin typeface="Albertus MT" pitchFamily="34" charset="0"/>
              </a:rPr>
              <a:t> </a:t>
            </a:r>
            <a:endParaRPr lang="en-US" sz="2200" dirty="0" smtClean="0">
              <a:latin typeface="Albertus MT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Albertus MT" pitchFamily="34" charset="0"/>
              </a:rPr>
              <a:t>E</a:t>
            </a:r>
            <a:r>
              <a:rPr lang="en-US" sz="2200" dirty="0" smtClean="0">
                <a:latin typeface="Albertus MT" pitchFamily="34" charset="0"/>
              </a:rPr>
              <a:t>ach </a:t>
            </a:r>
            <a:r>
              <a:rPr lang="en-US" sz="2200" b="1" dirty="0">
                <a:latin typeface="Albertus MT" pitchFamily="34" charset="0"/>
              </a:rPr>
              <a:t>catastrophe</a:t>
            </a:r>
            <a:r>
              <a:rPr lang="en-US" sz="2200" dirty="0">
                <a:latin typeface="Albertus MT" pitchFamily="34" charset="0"/>
              </a:rPr>
              <a:t> completely destroyed the </a:t>
            </a:r>
            <a:r>
              <a:rPr lang="en-US" sz="2200" b="1" dirty="0">
                <a:solidFill>
                  <a:srgbClr val="FF0000"/>
                </a:solidFill>
                <a:latin typeface="Albertus MT" pitchFamily="34" charset="0"/>
              </a:rPr>
              <a:t>existing life</a:t>
            </a:r>
            <a:r>
              <a:rPr lang="en-US" sz="2200" dirty="0">
                <a:latin typeface="Albertus MT" pitchFamily="34" charset="0"/>
              </a:rPr>
              <a:t>, each </a:t>
            </a:r>
            <a:r>
              <a:rPr lang="en-US" sz="2200" dirty="0">
                <a:solidFill>
                  <a:srgbClr val="FF0000"/>
                </a:solidFill>
                <a:latin typeface="Albertus MT" pitchFamily="34" charset="0"/>
              </a:rPr>
              <a:t>new creation</a:t>
            </a:r>
            <a:r>
              <a:rPr lang="en-US" sz="2200" dirty="0">
                <a:latin typeface="Albertus MT" pitchFamily="34" charset="0"/>
              </a:rPr>
              <a:t> consisted of life form different from that of previous </a:t>
            </a:r>
            <a:r>
              <a:rPr lang="en-US" sz="2200" dirty="0" smtClean="0">
                <a:latin typeface="Albertus MT" pitchFamily="34" charset="0"/>
              </a:rPr>
              <a:t>ones</a:t>
            </a:r>
            <a:endParaRPr lang="en-US" sz="2200" dirty="0">
              <a:latin typeface="Albertus MT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/>
          </a:p>
        </p:txBody>
      </p:sp>
      <p:pic>
        <p:nvPicPr>
          <p:cNvPr id="5" name="Picture 4" descr="https://encrypted-tbn0.gstatic.com/images?q=tbn:ANd9GcRrnPpXxMojQ12i0sWGwIklIDjaxoddUJFgO90Uj5d5a6ndmBPl7Q&amp;s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6" y="2539704"/>
            <a:ext cx="3686174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6" y="762000"/>
            <a:ext cx="3686174" cy="17777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6" y="4317408"/>
            <a:ext cx="3686174" cy="231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2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1.2 The origin and nature….Cont’d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5257800" cy="571500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i="1" dirty="0" smtClean="0">
                <a:latin typeface="Albertus MT" pitchFamily="34" charset="0"/>
              </a:rPr>
              <a:t>Cosmozoic </a:t>
            </a:r>
            <a:r>
              <a:rPr lang="en-US" sz="2000" b="1" i="1" dirty="0">
                <a:latin typeface="Albertus MT" pitchFamily="34" charset="0"/>
              </a:rPr>
              <a:t>Theory (Theory of Panspermia)</a:t>
            </a:r>
            <a:r>
              <a:rPr lang="en-US" sz="2000" dirty="0">
                <a:latin typeface="Albertus MT" pitchFamily="34" charset="0"/>
              </a:rPr>
              <a:t>: </a:t>
            </a:r>
            <a:endParaRPr lang="en-US" sz="2000" dirty="0" smtClean="0">
              <a:latin typeface="Albertus MT" pitchFamily="34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lbertus MT" pitchFamily="34" charset="0"/>
              </a:rPr>
              <a:t>life </a:t>
            </a:r>
            <a:r>
              <a:rPr lang="en-US" sz="2000" dirty="0">
                <a:latin typeface="Albertus MT" pitchFamily="34" charset="0"/>
              </a:rPr>
              <a:t>has reached this planet Earth from other heavenly bodies such as </a:t>
            </a:r>
            <a:r>
              <a:rPr lang="en-US" sz="2000" b="1" dirty="0">
                <a:latin typeface="Albertus MT" pitchFamily="34" charset="0"/>
              </a:rPr>
              <a:t>meteorites</a:t>
            </a:r>
            <a:r>
              <a:rPr lang="en-US" sz="2000" dirty="0">
                <a:latin typeface="Albertus MT" pitchFamily="34" charset="0"/>
              </a:rPr>
              <a:t>, in the form of highly </a:t>
            </a:r>
            <a:r>
              <a:rPr lang="en-US" sz="2000" b="1" dirty="0">
                <a:solidFill>
                  <a:srgbClr val="FF0000"/>
                </a:solidFill>
                <a:latin typeface="Albertus MT" pitchFamily="34" charset="0"/>
              </a:rPr>
              <a:t>resistance spores </a:t>
            </a:r>
            <a:r>
              <a:rPr lang="en-US" sz="2000" dirty="0">
                <a:latin typeface="Albertus MT" pitchFamily="34" charset="0"/>
              </a:rPr>
              <a:t>of some organisms. </a:t>
            </a:r>
            <a:endParaRPr lang="en-US" sz="2000" dirty="0" smtClean="0">
              <a:latin typeface="Albertus MT" pitchFamily="34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lbertus MT" pitchFamily="34" charset="0"/>
              </a:rPr>
              <a:t>This </a:t>
            </a:r>
            <a:r>
              <a:rPr lang="en-US" sz="2000" dirty="0">
                <a:latin typeface="Albertus MT" pitchFamily="34" charset="0"/>
              </a:rPr>
              <a:t>idea was proposed by </a:t>
            </a:r>
            <a:r>
              <a:rPr lang="en-US" sz="2000" b="1" dirty="0">
                <a:latin typeface="Albertus MT" pitchFamily="34" charset="0"/>
              </a:rPr>
              <a:t>Richter in 1865</a:t>
            </a:r>
            <a:r>
              <a:rPr lang="en-US" sz="2000" dirty="0">
                <a:latin typeface="Albertus MT" pitchFamily="34" charset="0"/>
              </a:rPr>
              <a:t> and supported by </a:t>
            </a:r>
            <a:r>
              <a:rPr lang="en-US" sz="2000" b="1" dirty="0">
                <a:latin typeface="Albertus MT" pitchFamily="34" charset="0"/>
              </a:rPr>
              <a:t>Arrhenius (1908</a:t>
            </a:r>
            <a:r>
              <a:rPr lang="en-US" sz="2000" b="1" dirty="0" smtClean="0">
                <a:latin typeface="Albertus MT" pitchFamily="34" charset="0"/>
              </a:rPr>
              <a:t>)</a:t>
            </a:r>
            <a:r>
              <a:rPr lang="en-US" sz="2000" dirty="0" smtClean="0">
                <a:latin typeface="Albertus MT" pitchFamily="34" charset="0"/>
              </a:rPr>
              <a:t>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lbertus MT" pitchFamily="34" charset="0"/>
              </a:rPr>
              <a:t>The </a:t>
            </a:r>
            <a:r>
              <a:rPr lang="en-US" sz="2000" dirty="0">
                <a:latin typeface="Albertus MT" pitchFamily="34" charset="0"/>
              </a:rPr>
              <a:t>theory </a:t>
            </a:r>
            <a:r>
              <a:rPr lang="en-US" sz="2000" b="1" dirty="0">
                <a:latin typeface="Albertus MT" pitchFamily="34" charset="0"/>
              </a:rPr>
              <a:t>did not gain any support</a:t>
            </a:r>
            <a:r>
              <a:rPr lang="en-US" sz="2000" dirty="0">
                <a:latin typeface="Albertus MT" pitchFamily="34" charset="0"/>
              </a:rPr>
              <a:t>. </a:t>
            </a:r>
            <a:endParaRPr lang="en-US" sz="2000" dirty="0" smtClean="0">
              <a:latin typeface="Albertus MT" pitchFamily="34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lbertus MT" pitchFamily="34" charset="0"/>
              </a:rPr>
              <a:t>This </a:t>
            </a:r>
            <a:r>
              <a:rPr lang="en-US" sz="2000" dirty="0">
                <a:latin typeface="Albertus MT" pitchFamily="34" charset="0"/>
              </a:rPr>
              <a:t>theory lacks evidence, hence it was </a:t>
            </a:r>
            <a:r>
              <a:rPr lang="en-US" sz="2000" dirty="0" smtClean="0">
                <a:latin typeface="Albertus MT" pitchFamily="34" charset="0"/>
              </a:rPr>
              <a:t>discarded</a:t>
            </a:r>
            <a:endParaRPr lang="en-US" sz="2000" dirty="0">
              <a:latin typeface="Albertus MT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90601"/>
            <a:ext cx="2895601" cy="18287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1" y="3058237"/>
            <a:ext cx="2895600" cy="2102995"/>
          </a:xfrm>
          <a:prstGeom prst="rect">
            <a:avLst/>
          </a:prstGeom>
        </p:spPr>
      </p:pic>
      <p:pic>
        <p:nvPicPr>
          <p:cNvPr id="7" name="Picture 6" descr="C:\Users\Adex\Desktop\220px-Arrhenius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5353050"/>
            <a:ext cx="15811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5505450" y="6553200"/>
            <a:ext cx="18389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Svante</a:t>
            </a: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Arrhenius-</a:t>
            </a: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en-US" sz="1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wedish </a:t>
            </a:r>
            <a:endParaRPr lang="en-US" sz="1000" dirty="0"/>
          </a:p>
        </p:txBody>
      </p:sp>
      <p:pic>
        <p:nvPicPr>
          <p:cNvPr id="8" name="Picture 7" descr="C:\Users\Adex\Desktop\220px-Elise_Richter_(Wiener_Bilder_1907)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353050"/>
            <a:ext cx="11430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7543801" y="6430089"/>
            <a:ext cx="16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Elise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</a:rPr>
              <a:t>Richter-Australia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2097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5375223" cy="609600"/>
          </a:xfrm>
          <a:noFill/>
        </p:spPr>
        <p:txBody>
          <a:bodyPr>
            <a:normAutofit fontScale="90000"/>
          </a:bodyPr>
          <a:lstStyle/>
          <a:p>
            <a:r>
              <a:rPr lang="en-US" sz="3200" dirty="0"/>
              <a:t>1.2 The origin and nature….Cont’d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5527624" cy="6172200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5"/>
            </a:pPr>
            <a:r>
              <a:rPr lang="en-US" sz="2200" b="1" i="1" dirty="0">
                <a:latin typeface="Albertus MT" pitchFamily="34" charset="0"/>
              </a:rPr>
              <a:t>Theory of Chemical Evolution</a:t>
            </a:r>
            <a:r>
              <a:rPr lang="en-US" sz="2200" dirty="0">
                <a:latin typeface="Albertus MT" pitchFamily="34" charset="0"/>
              </a:rPr>
              <a:t>: </a:t>
            </a:r>
            <a:endParaRPr lang="en-US" sz="2200" dirty="0" smtClean="0">
              <a:latin typeface="Albertus MT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lbertus MT" pitchFamily="34" charset="0"/>
              </a:rPr>
              <a:t>A</a:t>
            </a:r>
            <a:r>
              <a:rPr lang="en-US" sz="2200" dirty="0" smtClean="0">
                <a:latin typeface="Albertus MT" pitchFamily="34" charset="0"/>
              </a:rPr>
              <a:t>lso known </a:t>
            </a:r>
            <a:r>
              <a:rPr lang="en-US" sz="2200" dirty="0">
                <a:latin typeface="Albertus MT" pitchFamily="34" charset="0"/>
              </a:rPr>
              <a:t>as </a:t>
            </a:r>
            <a:r>
              <a:rPr lang="en-US" sz="2200" b="1" dirty="0">
                <a:latin typeface="Albertus MT" pitchFamily="34" charset="0"/>
              </a:rPr>
              <a:t>Materialistic Theory </a:t>
            </a:r>
            <a:r>
              <a:rPr lang="en-US" sz="2200" dirty="0">
                <a:latin typeface="Albertus MT" pitchFamily="34" charset="0"/>
              </a:rPr>
              <a:t>or </a:t>
            </a:r>
            <a:r>
              <a:rPr lang="en-US" sz="2200" b="1" dirty="0" err="1">
                <a:latin typeface="Albertus MT" pitchFamily="34" charset="0"/>
              </a:rPr>
              <a:t>Physico</a:t>
            </a:r>
            <a:r>
              <a:rPr lang="en-US" sz="2200" b="1" dirty="0">
                <a:latin typeface="Albertus MT" pitchFamily="34" charset="0"/>
              </a:rPr>
              <a:t>-chemical </a:t>
            </a:r>
            <a:r>
              <a:rPr lang="en-US" sz="2200" b="1" dirty="0" smtClean="0">
                <a:latin typeface="Albertus MT" pitchFamily="34" charset="0"/>
              </a:rPr>
              <a:t>Theory</a:t>
            </a:r>
            <a:r>
              <a:rPr lang="en-US" sz="2200" dirty="0">
                <a:latin typeface="Albertus MT" pitchFamily="34" charset="0"/>
              </a:rPr>
              <a:t> </a:t>
            </a:r>
            <a:endParaRPr lang="en-US" sz="2200" dirty="0" smtClean="0">
              <a:latin typeface="Albertus MT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lbertus MT" pitchFamily="34" charset="0"/>
              </a:rPr>
              <a:t> O</a:t>
            </a:r>
            <a:r>
              <a:rPr lang="en-US" sz="2200" dirty="0" smtClean="0">
                <a:latin typeface="Albertus MT" pitchFamily="34" charset="0"/>
              </a:rPr>
              <a:t>parin and Haldane theory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Albertus MT" pitchFamily="34" charset="0"/>
              </a:rPr>
              <a:t>Origin </a:t>
            </a:r>
            <a:r>
              <a:rPr lang="en-US" sz="2200" dirty="0">
                <a:latin typeface="Albertus MT" pitchFamily="34" charset="0"/>
              </a:rPr>
              <a:t>of life on earth is the result of a slow and </a:t>
            </a:r>
            <a:r>
              <a:rPr lang="en-US" sz="2200" b="1" dirty="0">
                <a:solidFill>
                  <a:srgbClr val="FF0000"/>
                </a:solidFill>
                <a:latin typeface="Albertus MT" pitchFamily="34" charset="0"/>
              </a:rPr>
              <a:t>gradual process of chemical evolution </a:t>
            </a:r>
            <a:r>
              <a:rPr lang="en-US" sz="2200" dirty="0">
                <a:latin typeface="Albertus MT" pitchFamily="34" charset="0"/>
              </a:rPr>
              <a:t>that probably occurred about 3.8 billion </a:t>
            </a:r>
            <a:r>
              <a:rPr lang="en-US" sz="2200">
                <a:latin typeface="Albertus MT" pitchFamily="34" charset="0"/>
              </a:rPr>
              <a:t>years </a:t>
            </a:r>
            <a:r>
              <a:rPr lang="en-US" sz="2200" smtClean="0">
                <a:latin typeface="Albertus MT" pitchFamily="34" charset="0"/>
              </a:rPr>
              <a:t>ago </a:t>
            </a:r>
            <a:endParaRPr lang="en-US" sz="2200" dirty="0">
              <a:latin typeface="Albertus MT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Albertus MT" pitchFamily="34" charset="0"/>
              </a:rPr>
              <a:t>This </a:t>
            </a:r>
            <a:r>
              <a:rPr lang="en-US" sz="2200" dirty="0">
                <a:latin typeface="Albertus MT" pitchFamily="34" charset="0"/>
              </a:rPr>
              <a:t>theory was proposed independently by two scientists - A</a:t>
            </a:r>
            <a:r>
              <a:rPr lang="en-US" sz="2200" dirty="0" smtClean="0">
                <a:latin typeface="Albertus MT" pitchFamily="34" charset="0"/>
              </a:rPr>
              <a:t>. I. </a:t>
            </a:r>
            <a:r>
              <a:rPr lang="en-US" sz="2200" b="1" dirty="0" smtClean="0">
                <a:latin typeface="Albertus MT" pitchFamily="34" charset="0"/>
              </a:rPr>
              <a:t>Oparin</a:t>
            </a:r>
            <a:r>
              <a:rPr lang="en-US" sz="2200" dirty="0">
                <a:latin typeface="Albertus MT" pitchFamily="34" charset="0"/>
              </a:rPr>
              <a:t>, a Russian scientist in 1923 and J.B.S </a:t>
            </a:r>
            <a:r>
              <a:rPr lang="en-US" sz="2200" b="1" dirty="0">
                <a:latin typeface="Albertus MT" pitchFamily="34" charset="0"/>
              </a:rPr>
              <a:t>Haldane</a:t>
            </a:r>
            <a:r>
              <a:rPr lang="en-US" sz="2200" dirty="0">
                <a:latin typeface="Albertus MT" pitchFamily="34" charset="0"/>
              </a:rPr>
              <a:t>, an English scientist, in 1928</a:t>
            </a:r>
            <a:r>
              <a:rPr lang="en-US" sz="2200" dirty="0" smtClean="0">
                <a:latin typeface="Albertus MT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Albertus MT" pitchFamily="34" charset="0"/>
              </a:rPr>
              <a:t>The entire process of chemical evolution can be divided in the following steps/ways</a:t>
            </a:r>
            <a:endParaRPr lang="en-US" sz="2200" dirty="0">
              <a:latin typeface="Albertus MT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817" y="-8917"/>
            <a:ext cx="2353997" cy="20574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23204" y="2025292"/>
            <a:ext cx="3155191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/>
              <a:t>Origin of earth and primitive ATM 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5723204" y="2930292"/>
            <a:ext cx="3155191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Formation of NH4, CO2 and H2O vapor </a:t>
            </a:r>
          </a:p>
        </p:txBody>
      </p:sp>
      <p:sp>
        <p:nvSpPr>
          <p:cNvPr id="7" name="Rectangle 6"/>
          <p:cNvSpPr/>
          <p:nvPr/>
        </p:nvSpPr>
        <p:spPr>
          <a:xfrm>
            <a:off x="5705007" y="3828781"/>
            <a:ext cx="3191656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Synthesis of simple OCs </a:t>
            </a:r>
          </a:p>
        </p:txBody>
      </p:sp>
      <p:sp>
        <p:nvSpPr>
          <p:cNvPr id="8" name="Rectangle 7"/>
          <p:cNvSpPr/>
          <p:nvPr/>
        </p:nvSpPr>
        <p:spPr>
          <a:xfrm>
            <a:off x="5705007" y="4428721"/>
            <a:ext cx="3204990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Synthesis of complex OCs </a:t>
            </a:r>
          </a:p>
        </p:txBody>
      </p:sp>
      <p:sp>
        <p:nvSpPr>
          <p:cNvPr id="9" name="Rectangle 8"/>
          <p:cNvSpPr/>
          <p:nvPr/>
        </p:nvSpPr>
        <p:spPr>
          <a:xfrm>
            <a:off x="5705007" y="5018716"/>
            <a:ext cx="3204990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Formation of nucleic acids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0023" y="5601399"/>
            <a:ext cx="3216640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Formation of 1st cell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80024" y="6229400"/>
            <a:ext cx="3229974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Biological evolution   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953500" y="2715764"/>
            <a:ext cx="484632" cy="220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6968424" y="3608122"/>
            <a:ext cx="484632" cy="220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6973513" y="4226798"/>
            <a:ext cx="484632" cy="220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6976073" y="4805365"/>
            <a:ext cx="484632" cy="220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6976073" y="5388048"/>
            <a:ext cx="484632" cy="220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6976073" y="6008741"/>
            <a:ext cx="484632" cy="2206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2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  <a:noFill/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Albertus MT" pitchFamily="34" charset="0"/>
              </a:rPr>
              <a:t>Nature and Characteristics of Life</a:t>
            </a:r>
            <a:endParaRPr lang="en-US" b="1" dirty="0">
              <a:latin typeface="Albertus MT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067800" cy="58674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b="1" dirty="0">
                <a:latin typeface="Albertus MT" pitchFamily="34" charset="0"/>
              </a:rPr>
              <a:t>Life</a:t>
            </a:r>
            <a:r>
              <a:rPr lang="en-US" sz="2800" dirty="0">
                <a:latin typeface="Albertus MT" pitchFamily="34" charset="0"/>
              </a:rPr>
              <a:t> is defined as a "</a:t>
            </a:r>
            <a:r>
              <a:rPr lang="en-US" sz="2800" dirty="0">
                <a:solidFill>
                  <a:srgbClr val="FF0000"/>
                </a:solidFill>
                <a:latin typeface="Algerian" pitchFamily="82" charset="0"/>
              </a:rPr>
              <a:t>condition</a:t>
            </a:r>
            <a:r>
              <a:rPr lang="en-US" sz="2800" dirty="0">
                <a:latin typeface="Albertus MT" pitchFamily="34" charset="0"/>
              </a:rPr>
              <a:t>" that distinguishes </a:t>
            </a:r>
            <a:r>
              <a:rPr lang="en-US" sz="2800" b="1" dirty="0" smtClean="0">
                <a:latin typeface="Albertus MT" pitchFamily="34" charset="0"/>
              </a:rPr>
              <a:t>Animals</a:t>
            </a:r>
            <a:r>
              <a:rPr lang="en-US" sz="2800" dirty="0" smtClean="0">
                <a:latin typeface="Albertus MT" pitchFamily="34" charset="0"/>
              </a:rPr>
              <a:t> and </a:t>
            </a:r>
            <a:r>
              <a:rPr lang="en-US" sz="2800" b="1" dirty="0" smtClean="0">
                <a:latin typeface="Albertus MT" pitchFamily="34" charset="0"/>
              </a:rPr>
              <a:t>Plants</a:t>
            </a:r>
            <a:r>
              <a:rPr lang="en-US" sz="2800" dirty="0" smtClean="0">
                <a:latin typeface="Albertus MT" pitchFamily="34" charset="0"/>
              </a:rPr>
              <a:t> from </a:t>
            </a:r>
            <a:r>
              <a:rPr lang="en-US" sz="2800" b="1" dirty="0">
                <a:latin typeface="Albertus MT" pitchFamily="34" charset="0"/>
              </a:rPr>
              <a:t>inorganic materials and dead </a:t>
            </a:r>
            <a:r>
              <a:rPr lang="en-US" sz="2800" b="1" dirty="0" smtClean="0">
                <a:latin typeface="Albertus MT" pitchFamily="34" charset="0"/>
              </a:rPr>
              <a:t>organisms</a:t>
            </a:r>
            <a:r>
              <a:rPr lang="en-US" sz="2800" dirty="0" smtClean="0">
                <a:latin typeface="Albertus MT" pitchFamily="34" charset="0"/>
              </a:rPr>
              <a:t>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dirty="0">
                <a:latin typeface="Albertus MT" pitchFamily="34" charset="0"/>
              </a:rPr>
              <a:t>An individual living creature is called an </a:t>
            </a:r>
            <a:r>
              <a:rPr lang="en-US" sz="2800" b="1" dirty="0" smtClean="0">
                <a:latin typeface="Albertus MT" pitchFamily="34" charset="0"/>
              </a:rPr>
              <a:t>Organism</a:t>
            </a:r>
            <a:r>
              <a:rPr lang="en-US" sz="2800" dirty="0" smtClean="0">
                <a:latin typeface="Albertus MT" pitchFamily="34" charset="0"/>
              </a:rPr>
              <a:t>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dirty="0" smtClean="0">
                <a:latin typeface="Albertus MT" pitchFamily="34" charset="0"/>
              </a:rPr>
              <a:t>There </a:t>
            </a:r>
            <a:r>
              <a:rPr lang="en-US" sz="2800" dirty="0">
                <a:latin typeface="Albertus MT" pitchFamily="34" charset="0"/>
              </a:rPr>
              <a:t>are many characteristics that living organisms </a:t>
            </a:r>
            <a:r>
              <a:rPr lang="en-US" sz="2800" dirty="0" smtClean="0">
                <a:latin typeface="Albertus MT" pitchFamily="34" charset="0"/>
              </a:rPr>
              <a:t>share, </a:t>
            </a:r>
            <a:r>
              <a:rPr lang="en-US" sz="2800" dirty="0">
                <a:latin typeface="Albertus MT" pitchFamily="34" charset="0"/>
              </a:rPr>
              <a:t>They all</a:t>
            </a:r>
            <a:r>
              <a:rPr lang="en-US" sz="2800" b="1" dirty="0">
                <a:latin typeface="Albertus MT" pitchFamily="34" charset="0"/>
              </a:rPr>
              <a:t>: </a:t>
            </a:r>
            <a:endParaRPr lang="en-US" sz="2800" dirty="0">
              <a:latin typeface="Albertus MT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en-US" sz="2800" b="1" dirty="0">
                <a:solidFill>
                  <a:srgbClr val="FF0000"/>
                </a:solidFill>
                <a:latin typeface="Albertus MT" pitchFamily="34" charset="0"/>
              </a:rPr>
              <a:t>Irritability</a:t>
            </a:r>
            <a:r>
              <a:rPr lang="en-US" sz="2800" dirty="0">
                <a:solidFill>
                  <a:srgbClr val="FF0000"/>
                </a:solidFill>
                <a:latin typeface="Albertus MT" pitchFamily="34" charset="0"/>
              </a:rPr>
              <a:t>: </a:t>
            </a:r>
            <a:r>
              <a:rPr lang="en-US" sz="2800" dirty="0">
                <a:latin typeface="Albertus MT" pitchFamily="34" charset="0"/>
              </a:rPr>
              <a:t>the ability to be excited or detect stimuli and to respond </a:t>
            </a:r>
            <a:r>
              <a:rPr lang="en-US" sz="2800" dirty="0" smtClean="0">
                <a:latin typeface="Albertus MT" pitchFamily="34" charset="0"/>
              </a:rPr>
              <a:t>to </a:t>
            </a:r>
            <a:r>
              <a:rPr lang="en-US" sz="2800" b="1" dirty="0" smtClean="0"/>
              <a:t>changes </a:t>
            </a:r>
            <a:r>
              <a:rPr lang="en-US" sz="2800" b="1" dirty="0"/>
              <a:t>in their </a:t>
            </a:r>
            <a:r>
              <a:rPr lang="en-US" sz="2800" b="1" dirty="0" smtClean="0"/>
              <a:t>environment </a:t>
            </a:r>
            <a:endParaRPr lang="en-US" sz="2800" dirty="0">
              <a:latin typeface="Albertus MT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lphaUcPeriod" startAt="2"/>
            </a:pPr>
            <a:r>
              <a:rPr lang="en-US" sz="2800" b="1" dirty="0">
                <a:solidFill>
                  <a:srgbClr val="FF0000"/>
                </a:solidFill>
                <a:latin typeface="Albertus MT" pitchFamily="34" charset="0"/>
              </a:rPr>
              <a:t>Growth and </a:t>
            </a:r>
            <a:r>
              <a:rPr lang="en-US" sz="2800" b="1" dirty="0" smtClean="0">
                <a:solidFill>
                  <a:srgbClr val="FF0000"/>
                </a:solidFill>
                <a:latin typeface="Albertus MT" pitchFamily="34" charset="0"/>
              </a:rPr>
              <a:t>Reproduction</a:t>
            </a:r>
            <a:r>
              <a:rPr lang="en-US" sz="2800" dirty="0">
                <a:solidFill>
                  <a:srgbClr val="FF0000"/>
                </a:solidFill>
                <a:latin typeface="Albertus MT" pitchFamily="34" charset="0"/>
              </a:rPr>
              <a:t>: </a:t>
            </a:r>
            <a:r>
              <a:rPr lang="en-US" sz="2800" dirty="0">
                <a:latin typeface="Albertus MT" pitchFamily="34" charset="0"/>
              </a:rPr>
              <a:t>this consists of the power of multiplication and duplication, regeneration and differentiation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800" dirty="0">
              <a:latin typeface="Albertus MT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3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Nature and characteristics…Cont’d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96000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lphaUcPeriod" startAt="3"/>
            </a:pPr>
            <a:r>
              <a:rPr lang="en-US" sz="2400" b="1" dirty="0">
                <a:solidFill>
                  <a:srgbClr val="FF0000"/>
                </a:solidFill>
                <a:latin typeface="Albertus MT" pitchFamily="34" charset="0"/>
              </a:rPr>
              <a:t>Adaptability</a:t>
            </a:r>
            <a:r>
              <a:rPr lang="en-US" sz="2400" dirty="0">
                <a:solidFill>
                  <a:srgbClr val="FF0000"/>
                </a:solidFill>
                <a:latin typeface="Albertus MT" pitchFamily="34" charset="0"/>
              </a:rPr>
              <a:t>: </a:t>
            </a:r>
            <a:r>
              <a:rPr lang="en-US" sz="2400" dirty="0">
                <a:latin typeface="Albertus MT" pitchFamily="34" charset="0"/>
              </a:rPr>
              <a:t>permitting both change and maintenance of balances (homeostasis)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UcPeriod" startAt="4"/>
            </a:pPr>
            <a:r>
              <a:rPr lang="en-US" sz="2400" b="1" dirty="0" smtClean="0">
                <a:solidFill>
                  <a:srgbClr val="FF0000"/>
                </a:solidFill>
                <a:latin typeface="Albertus MT" pitchFamily="34" charset="0"/>
              </a:rPr>
              <a:t>Metabolism</a:t>
            </a:r>
            <a:r>
              <a:rPr lang="en-US" sz="2400" dirty="0">
                <a:solidFill>
                  <a:srgbClr val="FF0000"/>
                </a:solidFill>
                <a:latin typeface="Albertus MT" pitchFamily="34" charset="0"/>
              </a:rPr>
              <a:t>: </a:t>
            </a:r>
            <a:r>
              <a:rPr lang="en-US" sz="2400" dirty="0">
                <a:latin typeface="Albertus MT" pitchFamily="34" charset="0"/>
              </a:rPr>
              <a:t>the transformation of energy and the use of </a:t>
            </a:r>
            <a:r>
              <a:rPr lang="en-US" sz="2400" dirty="0" smtClean="0">
                <a:latin typeface="Albertus MT" pitchFamily="34" charset="0"/>
              </a:rPr>
              <a:t>materials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UcPeriod" startAt="4"/>
            </a:pPr>
            <a:r>
              <a:rPr lang="en-US" sz="2400" b="1" i="1" dirty="0" smtClean="0">
                <a:solidFill>
                  <a:srgbClr val="FF0000"/>
                </a:solidFill>
                <a:latin typeface="Albertus MT" pitchFamily="34" charset="0"/>
              </a:rPr>
              <a:t>Excretion</a:t>
            </a:r>
            <a:r>
              <a:rPr lang="en-US" sz="2400" i="1" dirty="0" smtClean="0">
                <a:solidFill>
                  <a:srgbClr val="FF0000"/>
                </a:solidFill>
                <a:latin typeface="Albertus MT" pitchFamily="34" charset="0"/>
              </a:rPr>
              <a:t>: </a:t>
            </a:r>
            <a:r>
              <a:rPr lang="en-US" sz="2400" i="1" dirty="0" smtClean="0">
                <a:latin typeface="Albertus MT" pitchFamily="34" charset="0"/>
              </a:rPr>
              <a:t>the </a:t>
            </a:r>
            <a:r>
              <a:rPr lang="en-US" sz="2400" i="1" dirty="0">
                <a:latin typeface="Albertus MT" pitchFamily="34" charset="0"/>
              </a:rPr>
              <a:t>removal of waste products from the cell </a:t>
            </a:r>
            <a:r>
              <a:rPr lang="en-US" sz="2400" i="1" dirty="0" smtClean="0">
                <a:latin typeface="Albertus MT" pitchFamily="34" charset="0"/>
              </a:rPr>
              <a:t>of </a:t>
            </a:r>
            <a:r>
              <a:rPr lang="en-US" sz="2400" i="1" dirty="0">
                <a:latin typeface="Albertus MT" pitchFamily="34" charset="0"/>
              </a:rPr>
              <a:t>metabolism. In plant cells the major excretory products are oxygen from photosynthesis and carbon dioxide from cell </a:t>
            </a:r>
            <a:r>
              <a:rPr lang="en-US" sz="2400" i="1" dirty="0" smtClean="0">
                <a:latin typeface="Albertus MT" pitchFamily="34" charset="0"/>
              </a:rPr>
              <a:t>respiration</a:t>
            </a:r>
            <a:r>
              <a:rPr lang="en-US" sz="2400" i="1" dirty="0">
                <a:latin typeface="Albertus MT" pitchFamily="34" charset="0"/>
              </a:rPr>
              <a:t> </a:t>
            </a:r>
            <a:r>
              <a:rPr lang="en-US" sz="2400" i="1" dirty="0" smtClean="0">
                <a:latin typeface="Albertus MT" pitchFamily="34" charset="0"/>
              </a:rPr>
              <a:t> </a:t>
            </a:r>
            <a:endParaRPr lang="en-US" sz="2400" dirty="0">
              <a:latin typeface="Albertus MT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115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  <a:noFill/>
        </p:spPr>
        <p:txBody>
          <a:bodyPr>
            <a:normAutofit/>
          </a:bodyPr>
          <a:lstStyle/>
          <a:p>
            <a:r>
              <a:rPr lang="en-US" sz="3200" b="1" dirty="0" smtClean="0">
                <a:latin typeface="Algerian" pitchFamily="82" charset="0"/>
              </a:rPr>
              <a:t>1.3.  Scientific Methods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b="1" dirty="0" smtClean="0">
                <a:latin typeface="Albertus MT" pitchFamily="34" charset="0"/>
              </a:rPr>
              <a:t>What is a scientific method?</a:t>
            </a:r>
          </a:p>
          <a:p>
            <a:pPr lvl="1" algn="just"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>
                <a:latin typeface="Albertus MT" pitchFamily="34" charset="0"/>
              </a:rPr>
              <a:t>It is </a:t>
            </a:r>
            <a:r>
              <a:rPr lang="en-US" sz="2400" dirty="0">
                <a:latin typeface="Albertus MT" pitchFamily="34" charset="0"/>
              </a:rPr>
              <a:t>a process for experimentation that is used to explore observations and answer </a:t>
            </a:r>
            <a:r>
              <a:rPr lang="en-US" sz="2400" dirty="0" smtClean="0">
                <a:latin typeface="Albertus MT" pitchFamily="34" charset="0"/>
              </a:rPr>
              <a:t>questions </a:t>
            </a:r>
            <a:endParaRPr lang="en-US" sz="2400" dirty="0">
              <a:latin typeface="Albertus MT" pitchFamily="34" charset="0"/>
            </a:endParaRPr>
          </a:p>
          <a:p>
            <a:pPr lvl="1" algn="just"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>
                <a:latin typeface="Albertus MT" pitchFamily="34" charset="0"/>
              </a:rPr>
              <a:t>It </a:t>
            </a:r>
            <a:r>
              <a:rPr lang="en-US" sz="2400" dirty="0">
                <a:latin typeface="Albertus MT" pitchFamily="34" charset="0"/>
              </a:rPr>
              <a:t>is also the technique used in the construction and </a:t>
            </a:r>
            <a:r>
              <a:rPr lang="en-US" sz="2400" dirty="0" smtClean="0">
                <a:latin typeface="Albertus MT" pitchFamily="34" charset="0"/>
              </a:rPr>
              <a:t>testing </a:t>
            </a:r>
            <a:r>
              <a:rPr lang="en-US" sz="2400" dirty="0">
                <a:latin typeface="Albertus MT" pitchFamily="34" charset="0"/>
              </a:rPr>
              <a:t>of a </a:t>
            </a:r>
            <a:r>
              <a:rPr lang="en-US" sz="2400" b="1" dirty="0">
                <a:latin typeface="Albertus MT" pitchFamily="34" charset="0"/>
              </a:rPr>
              <a:t>scientific hypothesis. </a:t>
            </a:r>
            <a:endParaRPr lang="en-US" sz="2400" b="1" dirty="0" smtClean="0">
              <a:latin typeface="Albertus MT" pitchFamily="34" charset="0"/>
            </a:endParaRPr>
          </a:p>
          <a:p>
            <a:pPr>
              <a:buBlip>
                <a:blip r:embed="rId2"/>
              </a:buBlip>
            </a:pPr>
            <a:r>
              <a:rPr lang="en-US" sz="2400" dirty="0">
                <a:latin typeface="Albertus MT" pitchFamily="34" charset="0"/>
              </a:rPr>
              <a:t>The scientific method has </a:t>
            </a:r>
            <a:r>
              <a:rPr lang="en-US" sz="2400" b="1" dirty="0" smtClean="0">
                <a:solidFill>
                  <a:srgbClr val="FF0000"/>
                </a:solidFill>
                <a:latin typeface="Albertus MT" pitchFamily="34" charset="0"/>
              </a:rPr>
              <a:t>Five Basic Steps</a:t>
            </a:r>
            <a:r>
              <a:rPr lang="en-US" sz="2400" dirty="0" smtClean="0">
                <a:latin typeface="Albertus MT" pitchFamily="34" charset="0"/>
              </a:rPr>
              <a:t>, </a:t>
            </a:r>
            <a:r>
              <a:rPr lang="en-US" sz="2400" dirty="0">
                <a:latin typeface="Albertus MT" pitchFamily="34" charset="0"/>
              </a:rPr>
              <a:t>plus </a:t>
            </a:r>
            <a:r>
              <a:rPr lang="en-US" sz="2400" dirty="0" smtClean="0">
                <a:solidFill>
                  <a:srgbClr val="FF0000"/>
                </a:solidFill>
                <a:latin typeface="Albertus MT" pitchFamily="34" charset="0"/>
              </a:rPr>
              <a:t>One Feedback Step</a:t>
            </a:r>
            <a:r>
              <a:rPr lang="en-US" sz="2400" dirty="0" smtClean="0">
                <a:latin typeface="Albertus MT" pitchFamily="34" charset="0"/>
              </a:rPr>
              <a:t>: </a:t>
            </a:r>
          </a:p>
          <a:p>
            <a:pPr lvl="3">
              <a:lnSpc>
                <a:spcPct val="160000"/>
              </a:lnSpc>
              <a:buBlip>
                <a:blip r:embed="rId4"/>
              </a:buBlip>
            </a:pPr>
            <a:r>
              <a:rPr lang="en-US" sz="1600" b="1" dirty="0" smtClean="0">
                <a:solidFill>
                  <a:srgbClr val="FF0000"/>
                </a:solidFill>
                <a:latin typeface="Albertus MT" pitchFamily="34" charset="0"/>
              </a:rPr>
              <a:t>Observation </a:t>
            </a:r>
          </a:p>
          <a:p>
            <a:pPr lvl="3">
              <a:lnSpc>
                <a:spcPct val="160000"/>
              </a:lnSpc>
              <a:buBlip>
                <a:blip r:embed="rId4"/>
              </a:buBlip>
            </a:pPr>
            <a:r>
              <a:rPr lang="en-US" sz="1600" b="1" dirty="0" smtClean="0">
                <a:solidFill>
                  <a:srgbClr val="FF0000"/>
                </a:solidFill>
                <a:latin typeface="Albertus MT" pitchFamily="34" charset="0"/>
              </a:rPr>
              <a:t>Question or problem </a:t>
            </a:r>
          </a:p>
          <a:p>
            <a:pPr lvl="3">
              <a:lnSpc>
                <a:spcPct val="160000"/>
              </a:lnSpc>
              <a:buBlip>
                <a:blip r:embed="rId4"/>
              </a:buBlip>
            </a:pPr>
            <a:r>
              <a:rPr lang="en-US" sz="1600" b="1" dirty="0" smtClean="0">
                <a:solidFill>
                  <a:srgbClr val="FF0000"/>
                </a:solidFill>
                <a:latin typeface="Albertus MT" pitchFamily="34" charset="0"/>
              </a:rPr>
              <a:t>Hypothesis </a:t>
            </a:r>
          </a:p>
          <a:p>
            <a:pPr lvl="3">
              <a:lnSpc>
                <a:spcPct val="160000"/>
              </a:lnSpc>
              <a:buBlip>
                <a:blip r:embed="rId4"/>
              </a:buBlip>
            </a:pPr>
            <a:r>
              <a:rPr lang="en-US" sz="1600" b="1" dirty="0" smtClean="0">
                <a:solidFill>
                  <a:srgbClr val="FF0000"/>
                </a:solidFill>
                <a:latin typeface="Albertus MT" pitchFamily="34" charset="0"/>
              </a:rPr>
              <a:t>Experiment </a:t>
            </a:r>
          </a:p>
          <a:p>
            <a:pPr lvl="3">
              <a:lnSpc>
                <a:spcPct val="160000"/>
              </a:lnSpc>
              <a:buBlip>
                <a:blip r:embed="rId4"/>
              </a:buBlip>
            </a:pPr>
            <a:r>
              <a:rPr lang="en-US" sz="1600" b="1" dirty="0" smtClean="0">
                <a:solidFill>
                  <a:srgbClr val="FF0000"/>
                </a:solidFill>
                <a:latin typeface="Albertus MT" pitchFamily="34" charset="0"/>
              </a:rPr>
              <a:t>Results/conclusions </a:t>
            </a:r>
          </a:p>
          <a:p>
            <a:pPr lvl="3">
              <a:lnSpc>
                <a:spcPct val="160000"/>
              </a:lnSpc>
              <a:buBlip>
                <a:blip r:embed="rId4"/>
              </a:buBlip>
            </a:pPr>
            <a:r>
              <a:rPr lang="en-US" sz="1600" b="1" dirty="0" smtClean="0">
                <a:solidFill>
                  <a:srgbClr val="FF0000"/>
                </a:solidFill>
                <a:latin typeface="Albertus MT" pitchFamily="34" charset="0"/>
              </a:rPr>
              <a:t>Recommendations</a:t>
            </a:r>
            <a:endParaRPr lang="en-US" sz="1600" b="1" dirty="0">
              <a:solidFill>
                <a:srgbClr val="FF0000"/>
              </a:solidFill>
              <a:latin typeface="Albertus MT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210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1.3 Scientific </a:t>
            </a:r>
            <a:r>
              <a:rPr lang="en-US" sz="3200" dirty="0" smtClean="0"/>
              <a:t>Methods…Cont’d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1447799"/>
          </a:xfrm>
        </p:spPr>
        <p:txBody>
          <a:bodyPr>
            <a:normAutofit fontScale="47500" lnSpcReduction="20000"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5100" b="1" dirty="0" smtClean="0">
                <a:solidFill>
                  <a:srgbClr val="FF0000"/>
                </a:solidFill>
                <a:latin typeface="Albertus MT" pitchFamily="34" charset="0"/>
              </a:rPr>
              <a:t>Observation-</a:t>
            </a:r>
            <a:r>
              <a:rPr lang="en-US" sz="5100" dirty="0" smtClean="0">
                <a:latin typeface="Albertus MT" pitchFamily="34" charset="0"/>
              </a:rPr>
              <a:t> </a:t>
            </a:r>
            <a:r>
              <a:rPr lang="en-US" sz="5100" dirty="0">
                <a:latin typeface="Albertus MT" pitchFamily="34" charset="0"/>
              </a:rPr>
              <a:t>You observe something </a:t>
            </a:r>
            <a:r>
              <a:rPr lang="en-US" sz="5100" dirty="0" smtClean="0">
                <a:latin typeface="Albertus MT" pitchFamily="34" charset="0"/>
              </a:rPr>
              <a:t>using </a:t>
            </a:r>
            <a:r>
              <a:rPr lang="en-US" sz="5100" dirty="0">
                <a:latin typeface="Albertus MT" pitchFamily="34" charset="0"/>
              </a:rPr>
              <a:t>your </a:t>
            </a:r>
            <a:r>
              <a:rPr lang="en-US" sz="5100" dirty="0" smtClean="0">
                <a:latin typeface="Albertus MT" pitchFamily="34" charset="0"/>
              </a:rPr>
              <a:t>senses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5100" dirty="0">
                <a:latin typeface="Albertus MT" pitchFamily="34" charset="0"/>
              </a:rPr>
              <a:t> </a:t>
            </a:r>
            <a:r>
              <a:rPr lang="en-US" sz="5100" dirty="0" smtClean="0">
                <a:latin typeface="Albertus MT" pitchFamily="34" charset="0"/>
              </a:rPr>
              <a:t>           </a:t>
            </a:r>
            <a:r>
              <a:rPr lang="en-US" sz="5100" dirty="0">
                <a:latin typeface="Albertus MT" pitchFamily="34" charset="0"/>
              </a:rPr>
              <a:t>What you see </a:t>
            </a:r>
            <a:r>
              <a:rPr lang="en-US" sz="5100" dirty="0" smtClean="0">
                <a:latin typeface="Albertus MT" pitchFamily="34" charset="0"/>
              </a:rPr>
              <a:t>makes </a:t>
            </a:r>
            <a:r>
              <a:rPr lang="en-US" sz="5100" dirty="0">
                <a:latin typeface="Albertus MT" pitchFamily="34" charset="0"/>
              </a:rPr>
              <a:t>you ask a question or state a </a:t>
            </a:r>
            <a:r>
              <a:rPr lang="en-US" sz="5100" dirty="0" smtClean="0">
                <a:latin typeface="Albertus MT" pitchFamily="34" charset="0"/>
              </a:rPr>
              <a:t>problem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71800"/>
            <a:ext cx="306705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534" y="2722666"/>
            <a:ext cx="4419600" cy="319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8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1"/>
            <a:ext cx="9144000" cy="152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2. </a:t>
            </a:r>
            <a:r>
              <a:rPr lang="en-US" sz="2400" dirty="0" smtClean="0">
                <a:solidFill>
                  <a:srgbClr val="FF0000"/>
                </a:solidFill>
                <a:latin typeface="Albertus MT" pitchFamily="34" charset="0"/>
              </a:rPr>
              <a:t>Problem </a:t>
            </a:r>
            <a:r>
              <a:rPr lang="en-US" sz="2400" dirty="0">
                <a:solidFill>
                  <a:srgbClr val="FF0000"/>
                </a:solidFill>
                <a:latin typeface="Albertus MT" pitchFamily="34" charset="0"/>
              </a:rPr>
              <a:t>or Question: </a:t>
            </a:r>
            <a:r>
              <a:rPr lang="en-US" sz="2400" dirty="0">
                <a:latin typeface="Albertus MT" pitchFamily="34" charset="0"/>
              </a:rPr>
              <a:t>You ask a question about </a:t>
            </a:r>
            <a:r>
              <a:rPr lang="en-US" sz="2400" dirty="0" smtClean="0">
                <a:latin typeface="Albertus MT" pitchFamily="34" charset="0"/>
              </a:rPr>
              <a:t>what </a:t>
            </a:r>
            <a:r>
              <a:rPr lang="en-US" sz="2400" dirty="0">
                <a:latin typeface="Albertus MT" pitchFamily="34" charset="0"/>
              </a:rPr>
              <a:t>is being </a:t>
            </a:r>
            <a:r>
              <a:rPr lang="en-US" sz="2400" dirty="0" smtClean="0">
                <a:latin typeface="Albertus MT" pitchFamily="34" charset="0"/>
              </a:rPr>
              <a:t>observed,  </a:t>
            </a:r>
            <a:r>
              <a:rPr lang="en-US" sz="2400" dirty="0">
                <a:latin typeface="Albertus MT" pitchFamily="34" charset="0"/>
              </a:rPr>
              <a:t>State </a:t>
            </a:r>
            <a:r>
              <a:rPr lang="en-US" sz="2400" dirty="0" smtClean="0">
                <a:latin typeface="Albertus MT" pitchFamily="34" charset="0"/>
              </a:rPr>
              <a:t>the </a:t>
            </a:r>
            <a:r>
              <a:rPr lang="en-US" sz="2400" dirty="0">
                <a:latin typeface="Albertus MT" pitchFamily="34" charset="0"/>
              </a:rPr>
              <a:t>problem or </a:t>
            </a:r>
            <a:r>
              <a:rPr lang="en-US" sz="2400" dirty="0" smtClean="0">
                <a:latin typeface="Albertus MT" pitchFamily="34" charset="0"/>
              </a:rPr>
              <a:t>question</a:t>
            </a:r>
            <a:endParaRPr lang="en-US" sz="2400" dirty="0">
              <a:latin typeface="Albertus MT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1.3 Scientific </a:t>
            </a:r>
            <a:r>
              <a:rPr lang="en-US" sz="3200" dirty="0" smtClean="0"/>
              <a:t>Methods…Cont’d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362200"/>
            <a:ext cx="3200400" cy="422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7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82879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sz="2600" dirty="0">
                <a:solidFill>
                  <a:srgbClr val="FF0000"/>
                </a:solidFill>
                <a:latin typeface="Albertus MT" pitchFamily="34" charset="0"/>
              </a:rPr>
              <a:t>Hypothesis-</a:t>
            </a:r>
            <a:r>
              <a:rPr lang="en-US" sz="2600" dirty="0">
                <a:latin typeface="Albertus MT" pitchFamily="34" charset="0"/>
              </a:rPr>
              <a:t>You</a:t>
            </a:r>
            <a:r>
              <a:rPr lang="en-US" sz="2600" dirty="0">
                <a:solidFill>
                  <a:srgbClr val="FF0000"/>
                </a:solidFill>
                <a:latin typeface="Albertus MT" pitchFamily="34" charset="0"/>
              </a:rPr>
              <a:t> </a:t>
            </a:r>
            <a:r>
              <a:rPr lang="en-US" sz="2600" dirty="0">
                <a:latin typeface="Albertus MT" pitchFamily="34" charset="0"/>
              </a:rPr>
              <a:t>make an educated guess on </a:t>
            </a:r>
            <a:r>
              <a:rPr lang="en-US" sz="2600" dirty="0" smtClean="0">
                <a:latin typeface="Albertus MT" pitchFamily="34" charset="0"/>
              </a:rPr>
              <a:t>what </a:t>
            </a:r>
            <a:r>
              <a:rPr lang="en-US" sz="2600" dirty="0">
                <a:latin typeface="Albertus MT" pitchFamily="34" charset="0"/>
              </a:rPr>
              <a:t>you think the outcome of the </a:t>
            </a:r>
            <a:r>
              <a:rPr lang="en-US" sz="2600" dirty="0" smtClean="0">
                <a:latin typeface="Albertus MT" pitchFamily="34" charset="0"/>
              </a:rPr>
              <a:t>experiment</a:t>
            </a:r>
            <a:r>
              <a:rPr lang="en-US" sz="2600" dirty="0">
                <a:latin typeface="Albertus MT" pitchFamily="34" charset="0"/>
              </a:rPr>
              <a:t>, or the answer to your </a:t>
            </a:r>
            <a:r>
              <a:rPr lang="en-US" sz="2600" dirty="0" smtClean="0">
                <a:latin typeface="Albertus MT" pitchFamily="34" charset="0"/>
              </a:rPr>
              <a:t>question </a:t>
            </a:r>
            <a:r>
              <a:rPr lang="en-US" sz="2600" dirty="0">
                <a:latin typeface="Albertus MT" pitchFamily="34" charset="0"/>
              </a:rPr>
              <a:t>will be.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1.3 Scientific </a:t>
            </a:r>
            <a:r>
              <a:rPr lang="en-US" sz="3200" dirty="0" smtClean="0"/>
              <a:t>Methods…Cont’d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29000"/>
            <a:ext cx="2209800" cy="328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6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9831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FF0000"/>
                </a:solidFill>
              </a:rPr>
              <a:t>4. </a:t>
            </a:r>
            <a:r>
              <a:rPr lang="en-US" sz="2400" dirty="0" smtClean="0">
                <a:solidFill>
                  <a:srgbClr val="FF0000"/>
                </a:solidFill>
                <a:latin typeface="Albertus MT" pitchFamily="34" charset="0"/>
              </a:rPr>
              <a:t>Experiment- </a:t>
            </a:r>
            <a:r>
              <a:rPr lang="en-US" sz="2400" dirty="0">
                <a:latin typeface="Albertus MT" pitchFamily="34" charset="0"/>
              </a:rPr>
              <a:t>You figure out a way to </a:t>
            </a:r>
            <a:r>
              <a:rPr lang="en-US" sz="2400" dirty="0" smtClean="0">
                <a:latin typeface="Albertus MT" pitchFamily="34" charset="0"/>
              </a:rPr>
              <a:t>test whether </a:t>
            </a:r>
            <a:r>
              <a:rPr lang="en-US" sz="2400" dirty="0">
                <a:latin typeface="Albertus MT" pitchFamily="34" charset="0"/>
              </a:rPr>
              <a:t>the </a:t>
            </a:r>
            <a:r>
              <a:rPr lang="en-US" sz="2400" b="1" dirty="0">
                <a:latin typeface="Albertus MT" pitchFamily="34" charset="0"/>
              </a:rPr>
              <a:t>hypothesis is correct</a:t>
            </a:r>
            <a:r>
              <a:rPr lang="en-US" sz="2400" dirty="0">
                <a:latin typeface="Albertus MT" pitchFamily="34" charset="0"/>
              </a:rPr>
              <a:t>. </a:t>
            </a:r>
            <a:r>
              <a:rPr lang="en-US" sz="2400" dirty="0" smtClean="0">
                <a:latin typeface="Albertus MT" pitchFamily="34" charset="0"/>
              </a:rPr>
              <a:t>The outcome </a:t>
            </a:r>
            <a:r>
              <a:rPr lang="en-US" sz="2400" dirty="0">
                <a:latin typeface="Albertus MT" pitchFamily="34" charset="0"/>
              </a:rPr>
              <a:t>must be measurable. </a:t>
            </a:r>
            <a:r>
              <a:rPr lang="en-US" sz="2400" b="1" dirty="0">
                <a:latin typeface="Albertus MT" pitchFamily="34" charset="0"/>
              </a:rPr>
              <a:t>Record </a:t>
            </a:r>
            <a:r>
              <a:rPr lang="en-US" sz="2400" dirty="0" smtClean="0">
                <a:latin typeface="Albertus MT" pitchFamily="34" charset="0"/>
              </a:rPr>
              <a:t>and </a:t>
            </a:r>
            <a:r>
              <a:rPr lang="en-US" sz="2400" b="1" dirty="0" smtClean="0">
                <a:latin typeface="Albertus MT" pitchFamily="34" charset="0"/>
              </a:rPr>
              <a:t>analyze</a:t>
            </a:r>
            <a:r>
              <a:rPr lang="en-US" sz="2400" dirty="0" smtClean="0">
                <a:latin typeface="Albertus MT" pitchFamily="34" charset="0"/>
              </a:rPr>
              <a:t> </a:t>
            </a:r>
            <a:r>
              <a:rPr lang="en-US" sz="2400" dirty="0">
                <a:latin typeface="Albertus MT" pitchFamily="34" charset="0"/>
              </a:rPr>
              <a:t>data.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1.3 Scientific </a:t>
            </a:r>
            <a:r>
              <a:rPr lang="en-US" sz="3200" dirty="0" smtClean="0"/>
              <a:t>Methods…Cont’d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1" y="3276600"/>
            <a:ext cx="2438400" cy="30781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8999"/>
            <a:ext cx="1866900" cy="2811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750" y="3428998"/>
            <a:ext cx="2121799" cy="291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067800" cy="3962400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solidFill>
                  <a:srgbClr val="FF0000"/>
                </a:solidFill>
                <a:latin typeface="Albertus MT" pitchFamily="34" charset="0"/>
              </a:rPr>
              <a:t>5.Results/Conclusion</a:t>
            </a:r>
            <a:r>
              <a:rPr lang="en-US" sz="2400" dirty="0" smtClean="0">
                <a:latin typeface="Albertus MT" pitchFamily="34" charset="0"/>
              </a:rPr>
              <a:t>. You </a:t>
            </a:r>
            <a:r>
              <a:rPr lang="en-US" sz="2400" dirty="0">
                <a:latin typeface="Albertus MT" pitchFamily="34" charset="0"/>
              </a:rPr>
              <a:t>will record the results of your </a:t>
            </a:r>
            <a:r>
              <a:rPr lang="en-US" sz="2400" dirty="0" smtClean="0">
                <a:latin typeface="Albertus MT" pitchFamily="34" charset="0"/>
              </a:rPr>
              <a:t>experiment</a:t>
            </a:r>
            <a:r>
              <a:rPr lang="en-US" sz="2400" dirty="0">
                <a:latin typeface="Albertus MT" pitchFamily="34" charset="0"/>
              </a:rPr>
              <a:t>, and repeat the experiment </a:t>
            </a:r>
            <a:r>
              <a:rPr lang="en-US" sz="2400" dirty="0" smtClean="0">
                <a:latin typeface="Albertus MT" pitchFamily="34" charset="0"/>
              </a:rPr>
              <a:t>if </a:t>
            </a:r>
            <a:r>
              <a:rPr lang="en-US" sz="2400" dirty="0">
                <a:latin typeface="Albertus MT" pitchFamily="34" charset="0"/>
              </a:rPr>
              <a:t>need be. You will state if your </a:t>
            </a:r>
            <a:r>
              <a:rPr lang="en-US" sz="2400" b="1" dirty="0" smtClean="0">
                <a:latin typeface="Albertus MT" pitchFamily="34" charset="0"/>
              </a:rPr>
              <a:t>hypothesis </a:t>
            </a:r>
            <a:r>
              <a:rPr lang="en-US" sz="2400" b="1" dirty="0">
                <a:latin typeface="Albertus MT" pitchFamily="34" charset="0"/>
              </a:rPr>
              <a:t>was accepted or not </a:t>
            </a:r>
            <a:r>
              <a:rPr lang="en-US" sz="2400" dirty="0">
                <a:latin typeface="Albertus MT" pitchFamily="34" charset="0"/>
              </a:rPr>
              <a:t>and try to explain your results</a:t>
            </a:r>
            <a:r>
              <a:rPr lang="en-US" sz="2400" dirty="0" smtClean="0">
                <a:latin typeface="Albertus MT" pitchFamily="34" charset="0"/>
              </a:rPr>
              <a:t>.</a:t>
            </a:r>
            <a:r>
              <a:rPr lang="en-US" sz="2400" b="1" i="1" dirty="0">
                <a:latin typeface="Albertus MT" pitchFamily="34" charset="0"/>
              </a:rPr>
              <a:t> </a:t>
            </a:r>
            <a:endParaRPr lang="en-US" sz="2400" b="1" i="1" dirty="0" smtClean="0">
              <a:latin typeface="Albertus MT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i="1" dirty="0" smtClean="0">
                <a:solidFill>
                  <a:srgbClr val="FF0000"/>
                </a:solidFill>
                <a:latin typeface="Albertus MT" pitchFamily="34" charset="0"/>
              </a:rPr>
              <a:t>Rejected </a:t>
            </a:r>
            <a:r>
              <a:rPr lang="en-US" sz="2400" b="1" i="1" dirty="0">
                <a:solidFill>
                  <a:srgbClr val="FF0000"/>
                </a:solidFill>
                <a:latin typeface="Albertus MT" pitchFamily="34" charset="0"/>
              </a:rPr>
              <a:t>Hypothesis </a:t>
            </a:r>
            <a:r>
              <a:rPr lang="en-US" sz="2400" i="1" dirty="0">
                <a:latin typeface="Albertus MT" pitchFamily="34" charset="0"/>
              </a:rPr>
              <a:t>- An explanation that has been ruled out through experimentation. </a:t>
            </a:r>
          </a:p>
          <a:p>
            <a:pPr algn="just">
              <a:lnSpc>
                <a:spcPct val="150000"/>
              </a:lnSpc>
            </a:pPr>
            <a:r>
              <a:rPr lang="en-US" sz="2400" b="1" i="1" dirty="0">
                <a:latin typeface="Albertus MT" pitchFamily="34" charset="0"/>
              </a:rPr>
              <a:t>Accepted Hypothesis </a:t>
            </a:r>
            <a:r>
              <a:rPr lang="en-US" sz="2400" i="1" dirty="0">
                <a:latin typeface="Albertus MT" pitchFamily="34" charset="0"/>
              </a:rPr>
              <a:t>- An explanation that has not been ruled out through excessive experimentation and makes verifiable predictions that are true.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900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925" y="4800600"/>
            <a:ext cx="2590800" cy="1905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1.3 Scientific </a:t>
            </a:r>
            <a:r>
              <a:rPr lang="en-US" sz="3200" dirty="0" smtClean="0"/>
              <a:t>Methods…Cont’d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48006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85800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1.3 Scientific Methods…Cont’d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534400" cy="57912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Summary of the scientific method 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Step 1: </a:t>
            </a:r>
            <a:r>
              <a:rPr lang="en-US" sz="2400" dirty="0"/>
              <a:t>Observe behavior or other phenomena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Step 2: </a:t>
            </a:r>
            <a:r>
              <a:rPr lang="en-US" sz="2400" dirty="0"/>
              <a:t>Form a tentative answer or explanation (a </a:t>
            </a:r>
            <a:r>
              <a:rPr lang="en-US" sz="2400" dirty="0" smtClean="0"/>
              <a:t>hypothesis/guess </a:t>
            </a:r>
            <a:r>
              <a:rPr lang="en-US" sz="2400" dirty="0"/>
              <a:t>a reason)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Step 3: </a:t>
            </a:r>
            <a:r>
              <a:rPr lang="en-US" sz="2400" dirty="0"/>
              <a:t>Use your hypothesis to generate a testable prediction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Step 4: </a:t>
            </a:r>
            <a:r>
              <a:rPr lang="en-US" sz="2400" dirty="0"/>
              <a:t>Make systematic, planned observations (data collection)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Step 5: </a:t>
            </a:r>
            <a:r>
              <a:rPr lang="en-US" sz="2400" dirty="0"/>
              <a:t>Results and Discussion Use the observations to evaluate (support, refute, or refine) the original hypothesis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Step 6: </a:t>
            </a:r>
            <a:r>
              <a:rPr lang="en-US" sz="2400" dirty="0"/>
              <a:t>Conclusion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Step 7: </a:t>
            </a:r>
            <a:r>
              <a:rPr lang="en-US" sz="2400" dirty="0"/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18202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048000" cy="411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Exercise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6858000" cy="3810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b="1" dirty="0" smtClean="0"/>
              <a:t>Q1. Which </a:t>
            </a:r>
            <a:r>
              <a:rPr lang="en-US" sz="4200" b="1" dirty="0"/>
              <a:t>step in the Scientific Method is given here?</a:t>
            </a:r>
          </a:p>
          <a:p>
            <a:pPr marL="514350" indent="-514350">
              <a:lnSpc>
                <a:spcPct val="170000"/>
              </a:lnSpc>
              <a:buAutoNum type="arabicPeriod"/>
            </a:pPr>
            <a:r>
              <a:rPr lang="en-US" dirty="0" smtClean="0"/>
              <a:t>If </a:t>
            </a:r>
            <a:r>
              <a:rPr lang="en-US" dirty="0"/>
              <a:t>I water and feed the plants, then they will grow to be </a:t>
            </a:r>
            <a:r>
              <a:rPr lang="en-US" dirty="0" smtClean="0"/>
              <a:t>tall </a:t>
            </a:r>
            <a:r>
              <a:rPr lang="en-US" dirty="0"/>
              <a:t>and healthy</a:t>
            </a:r>
            <a:r>
              <a:rPr lang="en-US" dirty="0" smtClean="0"/>
              <a:t>.</a:t>
            </a:r>
          </a:p>
          <a:p>
            <a:pPr marL="514350" indent="-514350">
              <a:lnSpc>
                <a:spcPct val="170000"/>
              </a:lnSpc>
              <a:buAutoNum type="arabicPeriod"/>
            </a:pPr>
            <a:r>
              <a:rPr lang="en-US" dirty="0"/>
              <a:t> My hypothesis is accepted. When I watered and fed </a:t>
            </a:r>
            <a:r>
              <a:rPr lang="en-US" dirty="0" smtClean="0"/>
              <a:t>the </a:t>
            </a:r>
            <a:r>
              <a:rPr lang="en-US" dirty="0"/>
              <a:t>plants daily, they grew</a:t>
            </a:r>
            <a:r>
              <a:rPr lang="en-US" dirty="0" smtClean="0"/>
              <a:t>. </a:t>
            </a:r>
          </a:p>
          <a:p>
            <a:pPr marL="514350" indent="-514350">
              <a:lnSpc>
                <a:spcPct val="170000"/>
              </a:lnSpc>
              <a:buAutoNum type="arabicPeriod"/>
            </a:pPr>
            <a:r>
              <a:rPr lang="en-US" dirty="0"/>
              <a:t>Today while walking home, I noticed that the plants in </a:t>
            </a:r>
            <a:r>
              <a:rPr lang="en-US" dirty="0" smtClean="0"/>
              <a:t>my </a:t>
            </a:r>
            <a:r>
              <a:rPr lang="en-US" dirty="0"/>
              <a:t>front yard were starting to die</a:t>
            </a:r>
            <a:r>
              <a:rPr lang="en-US" dirty="0" smtClean="0"/>
              <a:t>.</a:t>
            </a:r>
          </a:p>
          <a:p>
            <a:pPr marL="514350" indent="-514350">
              <a:lnSpc>
                <a:spcPct val="170000"/>
              </a:lnSpc>
              <a:buAutoNum type="arabicPeriod"/>
            </a:pPr>
            <a:r>
              <a:rPr lang="en-US" dirty="0"/>
              <a:t>Why is it that some plants are growing, and other </a:t>
            </a:r>
            <a:r>
              <a:rPr lang="en-US" dirty="0" smtClean="0"/>
              <a:t> plants </a:t>
            </a:r>
            <a:r>
              <a:rPr lang="en-US" dirty="0"/>
              <a:t>are dying? What affects the growth of plants</a:t>
            </a:r>
            <a:r>
              <a:rPr lang="en-US" dirty="0" smtClean="0"/>
              <a:t>?</a:t>
            </a:r>
          </a:p>
          <a:p>
            <a:pPr marL="514350" indent="-514350">
              <a:lnSpc>
                <a:spcPct val="170000"/>
              </a:lnSpc>
              <a:buAutoNum type="arabicPeriod"/>
            </a:pPr>
            <a:r>
              <a:rPr lang="en-US" dirty="0"/>
              <a:t>To answer my questions, I watered and fed the </a:t>
            </a:r>
            <a:r>
              <a:rPr lang="en-US" dirty="0" smtClean="0"/>
              <a:t>plants daily </a:t>
            </a:r>
            <a:r>
              <a:rPr lang="en-US" dirty="0"/>
              <a:t>and recorded my findings.</a:t>
            </a:r>
            <a:endParaRPr lang="en-US" dirty="0" smtClean="0"/>
          </a:p>
          <a:p>
            <a:pPr marL="514350" indent="-514350">
              <a:lnSpc>
                <a:spcPct val="170000"/>
              </a:lnSpc>
              <a:buAutoNum type="arabicPeriod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4417882"/>
            <a:ext cx="2081426" cy="2403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63955"/>
            <a:ext cx="2867025" cy="22272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62176" y="990600"/>
            <a:ext cx="144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1. hypothesis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84918" y="1380480"/>
            <a:ext cx="2237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2. Results/Conclusion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62176" y="1898293"/>
            <a:ext cx="1552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3. observation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74065" y="2564588"/>
            <a:ext cx="2284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4. Problem/Questions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05600" y="3345082"/>
            <a:ext cx="1830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 An </a:t>
            </a:r>
            <a:r>
              <a:rPr lang="en-US" b="1" dirty="0">
                <a:solidFill>
                  <a:srgbClr val="FF0000"/>
                </a:solidFill>
              </a:rPr>
              <a:t>experiment</a:t>
            </a:r>
          </a:p>
        </p:txBody>
      </p:sp>
    </p:spTree>
    <p:extLst>
      <p:ext uri="{BB962C8B-B14F-4D97-AF65-F5344CB8AC3E}">
        <p14:creationId xmlns:p14="http://schemas.microsoft.com/office/powerpoint/2010/main" val="175166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Chapter Two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6513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1988</TotalTime>
  <Words>1240</Words>
  <Application>Microsoft Office PowerPoint</Application>
  <PresentationFormat>On-screen Show (4:3)</PresentationFormat>
  <Paragraphs>132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Albertus Extra Bold</vt:lpstr>
      <vt:lpstr>Albertus Medium</vt:lpstr>
      <vt:lpstr>Albertus MT</vt:lpstr>
      <vt:lpstr>Albertus MT Lt</vt:lpstr>
      <vt:lpstr>Algerian</vt:lpstr>
      <vt:lpstr>Apple Chancery</vt:lpstr>
      <vt:lpstr>Arial</vt:lpstr>
      <vt:lpstr>Brush Script MT</vt:lpstr>
      <vt:lpstr>Calibri</vt:lpstr>
      <vt:lpstr>Times New Roman</vt:lpstr>
      <vt:lpstr>Wingdings</vt:lpstr>
      <vt:lpstr>Office Theme</vt:lpstr>
      <vt:lpstr>PowerPoint Presentation</vt:lpstr>
      <vt:lpstr>Chapter 1: Introduction</vt:lpstr>
      <vt:lpstr>The Meaning and Scope of Biology</vt:lpstr>
      <vt:lpstr>1.1. The Meaning and Scope of Biology</vt:lpstr>
      <vt:lpstr>Scope of Biology </vt:lpstr>
      <vt:lpstr>1.2. The 0rigin and Nature of Life</vt:lpstr>
      <vt:lpstr>1.2 The origin and nature….Cont’d</vt:lpstr>
      <vt:lpstr>1.2 The origin and nature of life</vt:lpstr>
      <vt:lpstr>1.2 The origin and nature….Cont’d</vt:lpstr>
      <vt:lpstr>1.2 The origin and nature….Cont’d</vt:lpstr>
      <vt:lpstr>1.2 The origin and nature….Cont’d</vt:lpstr>
      <vt:lpstr>Nature and Characteristics of Life</vt:lpstr>
      <vt:lpstr>Nature and characteristics…Cont’d</vt:lpstr>
      <vt:lpstr>1.3.  Scientific Methods</vt:lpstr>
      <vt:lpstr>1.3 Scientific Methods…Cont’d</vt:lpstr>
      <vt:lpstr>1.3 Scientific Methods…Cont’d</vt:lpstr>
      <vt:lpstr>1.3 Scientific Methods…Cont’d</vt:lpstr>
      <vt:lpstr>1.3 Scientific Methods…Cont’d</vt:lpstr>
      <vt:lpstr>1.3 Scientific Methods…Cont’d</vt:lpstr>
      <vt:lpstr>1.3 Scientific Methods…Cont’d</vt:lpstr>
      <vt:lpstr>Exercise </vt:lpstr>
      <vt:lpstr>Chapter Two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(Biol. 1012)</dc:title>
  <dc:creator>user</dc:creator>
  <cp:lastModifiedBy>User</cp:lastModifiedBy>
  <cp:revision>91</cp:revision>
  <dcterms:created xsi:type="dcterms:W3CDTF">2020-02-07T11:56:11Z</dcterms:created>
  <dcterms:modified xsi:type="dcterms:W3CDTF">2025-10-17T12:46:04Z</dcterms:modified>
</cp:coreProperties>
</file>